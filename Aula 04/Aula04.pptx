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20"/>
  </p:notesMasterIdLst>
  <p:sldIdLst>
    <p:sldId id="256" r:id="rId2"/>
    <p:sldId id="265" r:id="rId3"/>
    <p:sldId id="266" r:id="rId4"/>
    <p:sldId id="267" r:id="rId5"/>
    <p:sldId id="270" r:id="rId6"/>
    <p:sldId id="271" r:id="rId7"/>
    <p:sldId id="268" r:id="rId8"/>
    <p:sldId id="269" r:id="rId9"/>
    <p:sldId id="272" r:id="rId10"/>
    <p:sldId id="273" r:id="rId11"/>
    <p:sldId id="274" r:id="rId12"/>
    <p:sldId id="276" r:id="rId13"/>
    <p:sldId id="277" r:id="rId14"/>
    <p:sldId id="279" r:id="rId15"/>
    <p:sldId id="280" r:id="rId16"/>
    <p:sldId id="281" r:id="rId17"/>
    <p:sldId id="282" r:id="rId18"/>
    <p:sldId id="28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39211"/>
    <a:srgbClr val="00758F"/>
    <a:srgbClr val="79B6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58C34-DDBE-4D4C-B1CA-6D410FA79D41}" type="datetimeFigureOut">
              <a:rPr lang="pt-BR" smtClean="0"/>
              <a:t>09/07/2025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EB441-A100-43D9-A6B9-E80D5CFBAF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6542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BEB441-A100-43D9-A6B9-E80D5CFBAF1E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380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BEB441-A100-43D9-A6B9-E80D5CFBAF1E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1608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BEB441-A100-43D9-A6B9-E80D5CFBAF1E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3357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BEB441-A100-43D9-A6B9-E80D5CFBAF1E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3171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BEB441-A100-43D9-A6B9-E80D5CFBAF1E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4460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BEB441-A100-43D9-A6B9-E80D5CFBAF1E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4555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BEB441-A100-43D9-A6B9-E80D5CFBAF1E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596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7/9/2025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7/9/2025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7/9/2025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7/9/2025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7/9/2025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7/9/2025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7/9/2025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7/9/2025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7/9/2025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7/9/2025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7/9/2025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7/9/2025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20E8B-B665-4276-9EE8-B82B29DF1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1331920"/>
            <a:ext cx="9418320" cy="3063240"/>
          </a:xfrm>
        </p:spPr>
        <p:txBody>
          <a:bodyPr>
            <a:normAutofit fontScale="90000"/>
          </a:bodyPr>
          <a:lstStyle/>
          <a:p>
            <a:br>
              <a:rPr lang="pt-BR" dirty="0"/>
            </a:br>
            <a:r>
              <a:rPr lang="pt-BR" dirty="0">
                <a:solidFill>
                  <a:srgbClr val="00758F"/>
                </a:solidFill>
              </a:rPr>
              <a:t>Bem-Vindos novamente! 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r>
              <a:rPr lang="pt-BR" dirty="0">
                <a:solidFill>
                  <a:srgbClr val="00758F"/>
                </a:solidFill>
              </a:rPr>
              <a:t>My</a:t>
            </a:r>
            <a:r>
              <a:rPr lang="pt-BR" dirty="0">
                <a:solidFill>
                  <a:srgbClr val="F39211"/>
                </a:solidFill>
              </a:rPr>
              <a:t>SQL</a:t>
            </a:r>
            <a:r>
              <a:rPr lang="pt-BR" dirty="0"/>
              <a:t>: Aula 03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E03497-30AD-4754-A43A-72A8D0158E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Professor: Ruan Machado</a:t>
            </a:r>
          </a:p>
          <a:p>
            <a:r>
              <a:rPr lang="pt-BR" sz="2000" dirty="0"/>
              <a:t>Desenvolvedor Python – RPA, Experiência com Bancos de Dados Relacionais.</a:t>
            </a:r>
          </a:p>
        </p:txBody>
      </p:sp>
      <p:pic>
        <p:nvPicPr>
          <p:cNvPr id="1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14C8504F-8DD4-4170-A866-8452D0C10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953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763819"/>
            <a:ext cx="9692640" cy="936973"/>
          </a:xfrm>
        </p:spPr>
        <p:txBody>
          <a:bodyPr>
            <a:noAutofit/>
          </a:bodyPr>
          <a:lstStyle/>
          <a:p>
            <a:r>
              <a:rPr lang="pt-BR" sz="4000" b="1" dirty="0">
                <a:solidFill>
                  <a:srgbClr val="00758F"/>
                </a:solidFill>
              </a:rPr>
              <a:t>O que vamos aprender hoje?</a:t>
            </a:r>
            <a:br>
              <a:rPr lang="pt-BR" sz="4000" b="1" dirty="0">
                <a:solidFill>
                  <a:srgbClr val="00758F"/>
                </a:solidFill>
              </a:rPr>
            </a:br>
            <a:r>
              <a:rPr lang="pt-BR" sz="4000" b="1" dirty="0">
                <a:solidFill>
                  <a:srgbClr val="F39211"/>
                </a:solidFill>
              </a:rPr>
              <a:t>Serão os seguintes tópicos:</a:t>
            </a:r>
            <a:endParaRPr lang="pt-BR" sz="40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5" y="1842085"/>
            <a:ext cx="9270376" cy="4435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2000" b="1" dirty="0"/>
              <a:t>Procedures e </a:t>
            </a:r>
            <a:r>
              <a:rPr lang="pt-BR" sz="2000" b="1" dirty="0" err="1"/>
              <a:t>Functions</a:t>
            </a:r>
            <a:r>
              <a:rPr lang="pt-BR" sz="2000" b="1" dirty="0"/>
              <a:t>: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2000" dirty="0"/>
              <a:t>•	Deixando o banco processar com </a:t>
            </a:r>
            <a:r>
              <a:rPr lang="pt-BR" sz="2000" dirty="0" err="1"/>
              <a:t>Stored</a:t>
            </a:r>
            <a:r>
              <a:rPr lang="pt-BR" sz="2000" dirty="0"/>
              <a:t> Procedures;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2000" dirty="0"/>
              <a:t>•	Processando e retornando com </a:t>
            </a:r>
            <a:r>
              <a:rPr lang="pt-BR" sz="2000" dirty="0" err="1"/>
              <a:t>functions</a:t>
            </a:r>
            <a:r>
              <a:rPr lang="pt-BR" sz="2000" dirty="0"/>
              <a:t>;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2000" dirty="0"/>
              <a:t>•	Tabela dual;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2000" dirty="0"/>
              <a:t>•	Automatizando o processo através de </a:t>
            </a:r>
            <a:r>
              <a:rPr lang="pt-BR" sz="2000" dirty="0" err="1"/>
              <a:t>event</a:t>
            </a:r>
            <a:r>
              <a:rPr lang="pt-BR" sz="2000" dirty="0"/>
              <a:t> </a:t>
            </a:r>
            <a:r>
              <a:rPr lang="pt-BR" sz="2000" dirty="0" err="1"/>
              <a:t>scheduler</a:t>
            </a:r>
            <a:r>
              <a:rPr lang="pt-BR" sz="2000" dirty="0"/>
              <a:t>;</a:t>
            </a:r>
          </a:p>
          <a:p>
            <a:r>
              <a:rPr lang="pt-BR" sz="2000" dirty="0"/>
              <a:t>________________________________________</a:t>
            </a:r>
          </a:p>
          <a:p>
            <a:r>
              <a:rPr lang="pt-BR" sz="2000" b="1" dirty="0"/>
              <a:t>Criando Triggers (Gatilhos):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2000" dirty="0"/>
              <a:t>•	Triggers nas rotinas;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2000" dirty="0"/>
              <a:t>•	Triggers </a:t>
            </a:r>
            <a:r>
              <a:rPr lang="pt-BR" sz="2000" dirty="0" err="1"/>
              <a:t>before</a:t>
            </a:r>
            <a:r>
              <a:rPr lang="pt-BR" sz="2000" dirty="0"/>
              <a:t> </a:t>
            </a:r>
            <a:r>
              <a:rPr lang="pt-BR" sz="2000" dirty="0" err="1"/>
              <a:t>insert</a:t>
            </a:r>
            <a:r>
              <a:rPr lang="pt-BR" sz="2000" dirty="0"/>
              <a:t> e </a:t>
            </a:r>
            <a:r>
              <a:rPr lang="pt-BR" sz="2000" dirty="0" err="1"/>
              <a:t>before</a:t>
            </a:r>
            <a:r>
              <a:rPr lang="pt-BR" sz="2000" dirty="0"/>
              <a:t> </a:t>
            </a:r>
            <a:r>
              <a:rPr lang="pt-BR" sz="2000" dirty="0" err="1"/>
              <a:t>update</a:t>
            </a:r>
            <a:r>
              <a:rPr lang="pt-BR" sz="2000" dirty="0"/>
              <a:t>;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2000" dirty="0"/>
              <a:t>•	Triggers </a:t>
            </a:r>
            <a:r>
              <a:rPr lang="pt-BR" sz="2000" dirty="0" err="1"/>
              <a:t>after</a:t>
            </a:r>
            <a:r>
              <a:rPr lang="pt-BR" sz="2000" dirty="0"/>
              <a:t> </a:t>
            </a:r>
            <a:r>
              <a:rPr lang="pt-BR" sz="2000" dirty="0" err="1"/>
              <a:t>insert</a:t>
            </a:r>
            <a:r>
              <a:rPr lang="pt-BR" sz="2000" dirty="0"/>
              <a:t> e </a:t>
            </a:r>
            <a:r>
              <a:rPr lang="pt-BR" sz="2000" dirty="0" err="1"/>
              <a:t>after</a:t>
            </a:r>
            <a:r>
              <a:rPr lang="pt-BR" sz="2000" dirty="0"/>
              <a:t> </a:t>
            </a:r>
            <a:r>
              <a:rPr lang="pt-BR" sz="2000" dirty="0" err="1"/>
              <a:t>update</a:t>
            </a:r>
            <a:r>
              <a:rPr lang="pt-BR" sz="2000" dirty="0"/>
              <a:t>;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2000" dirty="0"/>
              <a:t>•	Triggers </a:t>
            </a:r>
            <a:r>
              <a:rPr lang="pt-BR" sz="2000" dirty="0" err="1"/>
              <a:t>before</a:t>
            </a:r>
            <a:r>
              <a:rPr lang="pt-BR" sz="2000" dirty="0"/>
              <a:t> delete e </a:t>
            </a:r>
            <a:r>
              <a:rPr lang="pt-BR" sz="2000" dirty="0" err="1"/>
              <a:t>after</a:t>
            </a:r>
            <a:r>
              <a:rPr lang="pt-BR" sz="2000" dirty="0"/>
              <a:t> delete;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2000" dirty="0"/>
              <a:t>•	Status das triggers.</a:t>
            </a:r>
          </a:p>
        </p:txBody>
      </p:sp>
    </p:spTree>
    <p:extLst>
      <p:ext uri="{BB962C8B-B14F-4D97-AF65-F5344CB8AC3E}">
        <p14:creationId xmlns:p14="http://schemas.microsoft.com/office/powerpoint/2010/main" val="2345492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097210"/>
            <a:ext cx="9692640" cy="936973"/>
          </a:xfrm>
        </p:spPr>
        <p:txBody>
          <a:bodyPr>
            <a:noAutofit/>
          </a:bodyPr>
          <a:lstStyle/>
          <a:p>
            <a:r>
              <a:rPr lang="pt-BR" sz="3500" b="1" dirty="0">
                <a:solidFill>
                  <a:srgbClr val="00758F"/>
                </a:solidFill>
              </a:rPr>
              <a:t>Procedures e </a:t>
            </a:r>
            <a:r>
              <a:rPr lang="pt-BR" sz="3500" b="1" dirty="0" err="1">
                <a:solidFill>
                  <a:srgbClr val="00758F"/>
                </a:solidFill>
              </a:rPr>
              <a:t>Functions</a:t>
            </a:r>
            <a:r>
              <a:rPr lang="pt-BR" sz="3500" b="1" dirty="0">
                <a:solidFill>
                  <a:srgbClr val="00758F"/>
                </a:solidFill>
              </a:rPr>
              <a:t>: </a:t>
            </a:r>
            <a:br>
              <a:rPr lang="pt-BR" sz="3500" b="1" dirty="0">
                <a:solidFill>
                  <a:srgbClr val="00758F"/>
                </a:solidFill>
              </a:rPr>
            </a:br>
            <a:r>
              <a:rPr lang="pt-BR" sz="3500" b="1" dirty="0">
                <a:solidFill>
                  <a:srgbClr val="F39211"/>
                </a:solidFill>
              </a:rPr>
              <a:t>1.0 Deixando o banco processar com </a:t>
            </a:r>
            <a:r>
              <a:rPr lang="pt-BR" sz="3500" b="1" dirty="0" err="1">
                <a:solidFill>
                  <a:srgbClr val="F39211"/>
                </a:solidFill>
              </a:rPr>
              <a:t>Stored</a:t>
            </a:r>
            <a:r>
              <a:rPr lang="pt-BR" sz="3500" b="1" dirty="0">
                <a:solidFill>
                  <a:srgbClr val="F39211"/>
                </a:solidFill>
              </a:rPr>
              <a:t> Procedures</a:t>
            </a:r>
            <a:endParaRPr lang="pt-BR" sz="35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5" y="2275221"/>
            <a:ext cx="94359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Uma </a:t>
            </a:r>
            <a:r>
              <a:rPr lang="pt-BR" b="1" dirty="0" err="1"/>
              <a:t>Function</a:t>
            </a:r>
            <a:r>
              <a:rPr lang="pt-BR" dirty="0"/>
              <a:t> em MySQL é um bloco de código armazenado no banco que </a:t>
            </a:r>
            <a:r>
              <a:rPr lang="pt-BR" b="1" dirty="0"/>
              <a:t>sempre retorna um valor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Diferente da PROCEDURE, que executa comandos, </a:t>
            </a:r>
            <a:r>
              <a:rPr lang="pt-BR" b="1" dirty="0"/>
              <a:t>a FUNCTION é usada para cálculo, conversão ou retorno de informação direta.</a:t>
            </a:r>
            <a:br>
              <a:rPr lang="pt-BR" dirty="0"/>
            </a:br>
            <a:r>
              <a:rPr lang="pt-BR" dirty="0"/>
              <a:t>Você pode utilizá-la em consultas como se fosse uma função nativa (ROUND, UPPER, </a:t>
            </a:r>
            <a:r>
              <a:rPr lang="pt-BR" dirty="0" err="1"/>
              <a:t>etc</a:t>
            </a:r>
            <a:r>
              <a:rPr lang="pt-BR" dirty="0"/>
              <a:t>).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989F42A5-1695-4158-83CA-D2E3D4964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286992"/>
              </p:ext>
            </p:extLst>
          </p:nvPr>
        </p:nvGraphicFramePr>
        <p:xfrm>
          <a:off x="338845" y="4426842"/>
          <a:ext cx="9206208" cy="21657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68736">
                  <a:extLst>
                    <a:ext uri="{9D8B030D-6E8A-4147-A177-3AD203B41FA5}">
                      <a16:colId xmlns:a16="http://schemas.microsoft.com/office/drawing/2014/main" val="71535609"/>
                    </a:ext>
                  </a:extLst>
                </a:gridCol>
                <a:gridCol w="3068736">
                  <a:extLst>
                    <a:ext uri="{9D8B030D-6E8A-4147-A177-3AD203B41FA5}">
                      <a16:colId xmlns:a16="http://schemas.microsoft.com/office/drawing/2014/main" val="75587083"/>
                    </a:ext>
                  </a:extLst>
                </a:gridCol>
                <a:gridCol w="3068736">
                  <a:extLst>
                    <a:ext uri="{9D8B030D-6E8A-4147-A177-3AD203B41FA5}">
                      <a16:colId xmlns:a16="http://schemas.microsoft.com/office/drawing/2014/main" val="1088686668"/>
                    </a:ext>
                  </a:extLst>
                </a:gridCol>
              </a:tblGrid>
              <a:tr h="3221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Característica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PROCEDURE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bg1"/>
                          </a:solidFill>
                          <a:effectLst/>
                        </a:rPr>
                        <a:t>FUNCTION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801223"/>
                  </a:ext>
                </a:extLst>
              </a:tr>
              <a:tr h="4679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Retorno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Nenhum ou mais resultados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Sempre 1 único valor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961231"/>
                  </a:ext>
                </a:extLst>
              </a:tr>
              <a:tr h="32214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Uso em SELECT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bg1"/>
                          </a:solidFill>
                          <a:effectLst/>
                        </a:rPr>
                        <a:t>Não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bg1"/>
                          </a:solidFill>
                          <a:effectLst/>
                        </a:rPr>
                        <a:t>Sim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980099"/>
                  </a:ext>
                </a:extLst>
              </a:tr>
              <a:tr h="4992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Chamado com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CALL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bg1"/>
                          </a:solidFill>
                          <a:effectLst/>
                        </a:rPr>
                        <a:t>Em queries (SELECT </a:t>
                      </a:r>
                      <a:r>
                        <a:rPr lang="pt-BR" sz="1800" dirty="0" err="1">
                          <a:solidFill>
                            <a:schemeClr val="bg1"/>
                          </a:solidFill>
                          <a:effectLst/>
                        </a:rPr>
                        <a:t>funcao</a:t>
                      </a:r>
                      <a:r>
                        <a:rPr lang="pt-BR" sz="1800" dirty="0">
                          <a:solidFill>
                            <a:schemeClr val="bg1"/>
                          </a:solidFill>
                          <a:effectLst/>
                        </a:rPr>
                        <a:t>())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126856"/>
                  </a:ext>
                </a:extLst>
              </a:tr>
              <a:tr h="4679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Ideal para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Ações, lógica de negócio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bg1"/>
                          </a:solidFill>
                          <a:effectLst/>
                        </a:rPr>
                        <a:t>Cálculos e transformações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75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2752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4" y="2233190"/>
            <a:ext cx="9435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Exemplo 1: Calcular valor com imposto (10%)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1565D71-4698-47E1-9961-9927D041720E}"/>
              </a:ext>
            </a:extLst>
          </p:cNvPr>
          <p:cNvSpPr/>
          <p:nvPr/>
        </p:nvSpPr>
        <p:spPr>
          <a:xfrm>
            <a:off x="338845" y="2661426"/>
            <a:ext cx="943594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DELIMITER $$</a:t>
            </a:r>
            <a:endParaRPr lang="pt-BR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pt-BR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CREATE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FUNCTION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valor_com_imposto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valor </a:t>
            </a:r>
            <a:r>
              <a:rPr lang="pt-BR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DECIMAL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pt-BR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10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,</a:t>
            </a:r>
            <a:r>
              <a:rPr lang="pt-BR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2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))</a:t>
            </a:r>
            <a:endParaRPr lang="pt-BR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RETURNS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DECIMAL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pt-BR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10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,</a:t>
            </a:r>
            <a:r>
              <a:rPr lang="pt-BR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2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endParaRPr lang="pt-BR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DETERMINISTIC</a:t>
            </a:r>
            <a:endParaRPr lang="pt-BR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BEGIN</a:t>
            </a:r>
            <a:endParaRPr lang="pt-BR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valor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*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1.10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pt-BR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END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$$</a:t>
            </a:r>
            <a:endParaRPr lang="pt-BR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pt-BR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DELIMITER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pt-BR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pt-BR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-- Usando:</a:t>
            </a:r>
            <a:endParaRPr lang="pt-BR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SELECT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valor_total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,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valor_com_imposto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valor_total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AS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com_imposto</a:t>
            </a:r>
            <a:endParaRPr lang="pt-BR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FROM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vendas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pt-BR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ADCAFD-1E17-46CD-AF45-5B119E26D6C4}"/>
              </a:ext>
            </a:extLst>
          </p:cNvPr>
          <p:cNvSpPr txBox="1">
            <a:spLocks/>
          </p:cNvSpPr>
          <p:nvPr/>
        </p:nvSpPr>
        <p:spPr>
          <a:xfrm>
            <a:off x="338845" y="1097210"/>
            <a:ext cx="9692640" cy="9369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500" b="1" dirty="0">
                <a:solidFill>
                  <a:srgbClr val="00758F"/>
                </a:solidFill>
              </a:rPr>
              <a:t>Procedures e </a:t>
            </a:r>
            <a:r>
              <a:rPr lang="pt-BR" sz="3500" b="1" dirty="0" err="1">
                <a:solidFill>
                  <a:srgbClr val="00758F"/>
                </a:solidFill>
              </a:rPr>
              <a:t>Functions</a:t>
            </a:r>
            <a:r>
              <a:rPr lang="pt-BR" sz="3500" b="1" dirty="0">
                <a:solidFill>
                  <a:srgbClr val="00758F"/>
                </a:solidFill>
              </a:rPr>
              <a:t>: </a:t>
            </a:r>
            <a:br>
              <a:rPr lang="pt-BR" sz="3500" b="1" dirty="0">
                <a:solidFill>
                  <a:srgbClr val="00758F"/>
                </a:solidFill>
              </a:rPr>
            </a:br>
            <a:r>
              <a:rPr lang="pt-BR" sz="3500" b="1" dirty="0">
                <a:solidFill>
                  <a:srgbClr val="F39211"/>
                </a:solidFill>
              </a:rPr>
              <a:t>1.1 Deixando o banco processar com </a:t>
            </a:r>
            <a:r>
              <a:rPr lang="pt-BR" sz="3500" b="1" dirty="0" err="1">
                <a:solidFill>
                  <a:srgbClr val="F39211"/>
                </a:solidFill>
              </a:rPr>
              <a:t>Stored</a:t>
            </a:r>
            <a:r>
              <a:rPr lang="pt-BR" sz="3500" b="1" dirty="0">
                <a:solidFill>
                  <a:srgbClr val="F39211"/>
                </a:solidFill>
              </a:rPr>
              <a:t> Procedures</a:t>
            </a:r>
            <a:endParaRPr lang="pt-BR" sz="3500" dirty="0">
              <a:solidFill>
                <a:srgbClr val="F392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181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49ADCAFD-1E17-46CD-AF45-5B119E26D6C4}"/>
              </a:ext>
            </a:extLst>
          </p:cNvPr>
          <p:cNvSpPr txBox="1">
            <a:spLocks/>
          </p:cNvSpPr>
          <p:nvPr/>
        </p:nvSpPr>
        <p:spPr>
          <a:xfrm>
            <a:off x="338845" y="1097210"/>
            <a:ext cx="9692640" cy="9369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500" b="1" dirty="0">
                <a:solidFill>
                  <a:srgbClr val="00758F"/>
                </a:solidFill>
              </a:rPr>
              <a:t>Procedures e </a:t>
            </a:r>
            <a:r>
              <a:rPr lang="pt-BR" sz="3500" b="1" dirty="0" err="1">
                <a:solidFill>
                  <a:srgbClr val="00758F"/>
                </a:solidFill>
              </a:rPr>
              <a:t>Functions</a:t>
            </a:r>
            <a:r>
              <a:rPr lang="pt-BR" sz="3500" b="1" dirty="0">
                <a:solidFill>
                  <a:srgbClr val="00758F"/>
                </a:solidFill>
              </a:rPr>
              <a:t>: </a:t>
            </a:r>
            <a:br>
              <a:rPr lang="pt-BR" sz="3500" b="1" dirty="0">
                <a:solidFill>
                  <a:srgbClr val="00758F"/>
                </a:solidFill>
              </a:rPr>
            </a:br>
            <a:r>
              <a:rPr lang="pt-BR" sz="3500" b="1" dirty="0">
                <a:solidFill>
                  <a:srgbClr val="F39211"/>
                </a:solidFill>
              </a:rPr>
              <a:t>1.2 Deixando o banco processar com </a:t>
            </a:r>
            <a:r>
              <a:rPr lang="pt-BR" sz="3500" b="1" dirty="0" err="1">
                <a:solidFill>
                  <a:srgbClr val="F39211"/>
                </a:solidFill>
              </a:rPr>
              <a:t>Stored</a:t>
            </a:r>
            <a:r>
              <a:rPr lang="pt-BR" sz="3500" b="1" dirty="0">
                <a:solidFill>
                  <a:srgbClr val="F39211"/>
                </a:solidFill>
              </a:rPr>
              <a:t> Procedures</a:t>
            </a:r>
            <a:endParaRPr lang="pt-BR" sz="3500" dirty="0">
              <a:solidFill>
                <a:srgbClr val="F39211"/>
              </a:solidFill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5D24ACC6-122D-4B95-B803-C7BE649B8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846" y="2203228"/>
            <a:ext cx="9435948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DELIMITER $$</a:t>
            </a:r>
            <a:b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Por padrão, o MySQL interpreta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‘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;’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como final de comando. Mas ao criar funções ou procedures, usamos múltiplas linhas com vários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‘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;’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 internos.</a:t>
            </a: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Para que serve: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Alteramos o delimitador temporariamente para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$$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 (ou outro símbolo) para que o MySQL saiba que o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bloco só termina no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END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$$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Quando voltar: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No final, usamos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DELIMITER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‘;’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 para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restaurar o delimitador padrão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CREATE FUNCTION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valor_com_imposto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(...)</a:t>
            </a:r>
            <a:b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Comando que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cria uma função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 chamada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valor_com_imposto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.</a:t>
            </a: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Uso: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Essa função poderá ser usada em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c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onsultas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  <a:ea typeface="Times New Roman" panose="02020603050405020304" pitchFamily="18" charset="0"/>
              </a:rPr>
              <a:t>WHERE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  <a:ea typeface="Times New Roman" panose="02020603050405020304" pitchFamily="18" charset="0"/>
              </a:rPr>
              <a:t>SELECT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, etc., como qualquer função nativa do MySQL.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6387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49ADCAFD-1E17-46CD-AF45-5B119E26D6C4}"/>
              </a:ext>
            </a:extLst>
          </p:cNvPr>
          <p:cNvSpPr txBox="1">
            <a:spLocks/>
          </p:cNvSpPr>
          <p:nvPr/>
        </p:nvSpPr>
        <p:spPr>
          <a:xfrm>
            <a:off x="338845" y="1097210"/>
            <a:ext cx="9692640" cy="9369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500" b="1" dirty="0">
                <a:solidFill>
                  <a:srgbClr val="00758F"/>
                </a:solidFill>
              </a:rPr>
              <a:t>Procedures e </a:t>
            </a:r>
            <a:r>
              <a:rPr lang="pt-BR" sz="3500" b="1" dirty="0" err="1">
                <a:solidFill>
                  <a:srgbClr val="00758F"/>
                </a:solidFill>
              </a:rPr>
              <a:t>Functions</a:t>
            </a:r>
            <a:r>
              <a:rPr lang="pt-BR" sz="3500" b="1" dirty="0">
                <a:solidFill>
                  <a:srgbClr val="00758F"/>
                </a:solidFill>
              </a:rPr>
              <a:t>: </a:t>
            </a:r>
            <a:br>
              <a:rPr lang="pt-BR" sz="3500" b="1" dirty="0">
                <a:solidFill>
                  <a:srgbClr val="00758F"/>
                </a:solidFill>
              </a:rPr>
            </a:br>
            <a:r>
              <a:rPr lang="pt-BR" sz="3500" b="1" dirty="0">
                <a:solidFill>
                  <a:srgbClr val="F39211"/>
                </a:solidFill>
              </a:rPr>
              <a:t>1.3 Deixando o banco processar com </a:t>
            </a:r>
            <a:r>
              <a:rPr lang="pt-BR" sz="3500" b="1" dirty="0" err="1">
                <a:solidFill>
                  <a:srgbClr val="F39211"/>
                </a:solidFill>
              </a:rPr>
              <a:t>Stored</a:t>
            </a:r>
            <a:r>
              <a:rPr lang="pt-BR" sz="3500" b="1" dirty="0">
                <a:solidFill>
                  <a:srgbClr val="F39211"/>
                </a:solidFill>
              </a:rPr>
              <a:t> Procedures</a:t>
            </a:r>
            <a:endParaRPr lang="pt-BR" sz="3500" dirty="0">
              <a:solidFill>
                <a:srgbClr val="F3921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812593-BB56-4DEE-BBBA-CB5AD3BC6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845" y="2034183"/>
            <a:ext cx="926009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RETURNS DECIMAL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F3921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10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F3921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2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kumimoji="0" lang="pt-BR" altLang="pt-B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O que é: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</a:b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Declara qual é o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tipo de dado retornado pela função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.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</a:b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Neste caso, um número decimal com 2 casas.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endParaRPr kumimoji="0" lang="pt-BR" altLang="pt-B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DETERMINISTIC</a:t>
            </a:r>
            <a:b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Informa ao MySQL que essa função sempre retorna o mesmo resultado para o mesmo input.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</a:b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Exemplo: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valor_com_imposto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(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F3921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100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)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 sempre vai retornar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F3921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110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.</a:t>
            </a:r>
            <a:endParaRPr kumimoji="0" lang="pt-BR" altLang="pt-B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Existe também: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</a:b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NOT DETERMINISTIC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 quando a fun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onstantia" panose="02030602050306030303" pitchFamily="18" charset="0"/>
              </a:rPr>
              <a:t>çã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o depende de algo externo (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ex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: data/hora atual).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endParaRPr kumimoji="0" lang="pt-BR" altLang="pt-B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BEGIN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 ...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END</a:t>
            </a:r>
            <a:b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Delimita o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bloco de instruções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 que compõem a função.</a:t>
            </a:r>
            <a:endParaRPr kumimoji="0" lang="pt-BR" altLang="pt-B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Você pode ter: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</a:b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Várias instruções SQL dentro, como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IF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,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SET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,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SELECT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, etc.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520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4" y="2233190"/>
            <a:ext cx="943594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Exercícios/Exemplo 1: </a:t>
            </a:r>
          </a:p>
          <a:p>
            <a:r>
              <a:rPr lang="pt-BR" sz="2000" dirty="0"/>
              <a:t>Crie uma função </a:t>
            </a:r>
            <a:r>
              <a:rPr lang="pt-BR" sz="2000" b="1" dirty="0" err="1"/>
              <a:t>calcular_desconto</a:t>
            </a:r>
            <a:r>
              <a:rPr lang="pt-BR" sz="2000" b="1" dirty="0"/>
              <a:t> </a:t>
            </a:r>
            <a:r>
              <a:rPr lang="pt-BR" sz="2000" dirty="0"/>
              <a:t>que recebe um valor e retorna com 15% de desconto.</a:t>
            </a:r>
            <a:br>
              <a:rPr lang="pt-BR" dirty="0"/>
            </a:br>
            <a:endParaRPr lang="pt-BR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ADCAFD-1E17-46CD-AF45-5B119E26D6C4}"/>
              </a:ext>
            </a:extLst>
          </p:cNvPr>
          <p:cNvSpPr txBox="1">
            <a:spLocks/>
          </p:cNvSpPr>
          <p:nvPr/>
        </p:nvSpPr>
        <p:spPr>
          <a:xfrm>
            <a:off x="338845" y="1097210"/>
            <a:ext cx="9692640" cy="9369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500" b="1" dirty="0">
                <a:solidFill>
                  <a:srgbClr val="00758F"/>
                </a:solidFill>
              </a:rPr>
              <a:t>Procedures e </a:t>
            </a:r>
            <a:r>
              <a:rPr lang="pt-BR" sz="3500" b="1" dirty="0" err="1">
                <a:solidFill>
                  <a:srgbClr val="00758F"/>
                </a:solidFill>
              </a:rPr>
              <a:t>Functions</a:t>
            </a:r>
            <a:r>
              <a:rPr lang="pt-BR" sz="3500" b="1" dirty="0">
                <a:solidFill>
                  <a:srgbClr val="00758F"/>
                </a:solidFill>
              </a:rPr>
              <a:t>: </a:t>
            </a:r>
            <a:br>
              <a:rPr lang="pt-BR" sz="3500" b="1" dirty="0">
                <a:solidFill>
                  <a:srgbClr val="00758F"/>
                </a:solidFill>
              </a:rPr>
            </a:br>
            <a:r>
              <a:rPr lang="pt-BR" sz="3500" b="1" dirty="0">
                <a:solidFill>
                  <a:srgbClr val="F39211"/>
                </a:solidFill>
              </a:rPr>
              <a:t>1.4 Deixando o banco processar com </a:t>
            </a:r>
            <a:r>
              <a:rPr lang="pt-BR" sz="3500" b="1" dirty="0" err="1">
                <a:solidFill>
                  <a:srgbClr val="F39211"/>
                </a:solidFill>
              </a:rPr>
              <a:t>Stored</a:t>
            </a:r>
            <a:r>
              <a:rPr lang="pt-BR" sz="3500" b="1" dirty="0">
                <a:solidFill>
                  <a:srgbClr val="F39211"/>
                </a:solidFill>
              </a:rPr>
              <a:t> Procedures</a:t>
            </a:r>
            <a:endParaRPr lang="pt-BR" sz="3500" dirty="0">
              <a:solidFill>
                <a:srgbClr val="F39211"/>
              </a:solidFill>
            </a:endParaRPr>
          </a:p>
        </p:txBody>
      </p:sp>
      <p:sp>
        <p:nvSpPr>
          <p:cNvPr id="7" name="Caixa de Texto 3">
            <a:extLst>
              <a:ext uri="{FF2B5EF4-FFF2-40B4-BE49-F238E27FC236}">
                <a16:creationId xmlns:a16="http://schemas.microsoft.com/office/drawing/2014/main" id="{10EBE81F-DF67-410A-9BCD-5F147D466E9D}"/>
              </a:ext>
            </a:extLst>
          </p:cNvPr>
          <p:cNvSpPr txBox="1"/>
          <p:nvPr/>
        </p:nvSpPr>
        <p:spPr>
          <a:xfrm>
            <a:off x="338844" y="3304674"/>
            <a:ext cx="8323893" cy="3385974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pt-BR" sz="17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DELIMITER $$</a:t>
            </a:r>
            <a:endParaRPr lang="pt-BR" sz="17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17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pt-BR" sz="17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17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CREATE</a:t>
            </a:r>
            <a:r>
              <a:rPr lang="pt-BR" sz="17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FUNCTION</a:t>
            </a:r>
            <a:r>
              <a:rPr lang="pt-BR" sz="17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sz="17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calcular_desconto</a:t>
            </a:r>
            <a:r>
              <a:rPr lang="pt-BR" sz="17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pt-BR" sz="17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valor </a:t>
            </a:r>
            <a:r>
              <a:rPr lang="pt-BR" sz="1700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DECIMAL</a:t>
            </a:r>
            <a:r>
              <a:rPr lang="pt-BR" sz="17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pt-BR" sz="1700" dirty="0">
                <a:solidFill>
                  <a:srgbClr val="FF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10</a:t>
            </a:r>
            <a:r>
              <a:rPr lang="pt-BR" sz="17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</a:t>
            </a:r>
            <a:r>
              <a:rPr lang="pt-BR" sz="1700" dirty="0">
                <a:solidFill>
                  <a:srgbClr val="FF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2</a:t>
            </a:r>
            <a:r>
              <a:rPr lang="pt-BR" sz="17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))</a:t>
            </a:r>
            <a:endParaRPr lang="pt-BR" sz="17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17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RETURNS</a:t>
            </a:r>
            <a:r>
              <a:rPr lang="pt-BR" sz="17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sz="1700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DECIMAL</a:t>
            </a:r>
            <a:r>
              <a:rPr lang="pt-BR" sz="17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pt-BR" sz="1700" dirty="0">
                <a:solidFill>
                  <a:srgbClr val="FF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10</a:t>
            </a:r>
            <a:r>
              <a:rPr lang="pt-BR" sz="17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</a:t>
            </a:r>
            <a:r>
              <a:rPr lang="pt-BR" sz="1700" dirty="0">
                <a:solidFill>
                  <a:srgbClr val="FF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2</a:t>
            </a:r>
            <a:r>
              <a:rPr lang="pt-BR" sz="17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endParaRPr lang="pt-BR" sz="17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17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DETERMINISTIC</a:t>
            </a:r>
            <a:endParaRPr lang="pt-BR" sz="17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17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BEGIN</a:t>
            </a:r>
            <a:endParaRPr lang="pt-BR" sz="17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17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pt-BR" sz="17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RETURN</a:t>
            </a:r>
            <a:r>
              <a:rPr lang="pt-BR" sz="17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valor </a:t>
            </a:r>
            <a:r>
              <a:rPr lang="pt-BR" sz="17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*</a:t>
            </a:r>
            <a:r>
              <a:rPr lang="pt-BR" sz="17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sz="1700" dirty="0">
                <a:solidFill>
                  <a:srgbClr val="FF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0.85</a:t>
            </a:r>
            <a:r>
              <a:rPr lang="pt-BR" sz="17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pt-BR" sz="17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17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END</a:t>
            </a:r>
            <a:r>
              <a:rPr lang="pt-BR" sz="17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$$</a:t>
            </a:r>
            <a:endParaRPr lang="pt-BR" sz="17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17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pt-BR" sz="17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17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DELIMITER </a:t>
            </a:r>
            <a:r>
              <a:rPr lang="pt-BR" sz="17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pt-BR" sz="17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17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pt-BR" sz="17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17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SELECT</a:t>
            </a:r>
            <a:r>
              <a:rPr lang="pt-BR" sz="17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sz="17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valor_total</a:t>
            </a:r>
            <a:r>
              <a:rPr lang="pt-BR" sz="17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</a:t>
            </a:r>
            <a:r>
              <a:rPr lang="pt-BR" sz="17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sz="17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calcular_desconto</a:t>
            </a:r>
            <a:r>
              <a:rPr lang="pt-BR" sz="17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pt-BR" sz="17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valor_total</a:t>
            </a:r>
            <a:r>
              <a:rPr lang="pt-BR" sz="17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r>
              <a:rPr lang="pt-BR" sz="17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FROM</a:t>
            </a:r>
            <a:r>
              <a:rPr lang="pt-BR" sz="17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vendas</a:t>
            </a:r>
            <a:r>
              <a:rPr lang="pt-BR" sz="17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pt-BR" sz="17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067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3" y="2233190"/>
            <a:ext cx="969263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/>
              <a:t>Exercício 2: </a:t>
            </a:r>
            <a:br>
              <a:rPr lang="pt-BR" sz="2200" dirty="0"/>
            </a:br>
            <a:r>
              <a:rPr lang="pt-BR" sz="2200" dirty="0"/>
              <a:t>Crie uma função </a:t>
            </a:r>
            <a:r>
              <a:rPr lang="pt-BR" sz="2200" b="1" dirty="0" err="1"/>
              <a:t>nome_completo_cliente</a:t>
            </a:r>
            <a:r>
              <a:rPr lang="pt-BR" sz="2200" b="1" dirty="0"/>
              <a:t> </a:t>
            </a:r>
            <a:r>
              <a:rPr lang="pt-BR" sz="2200" dirty="0"/>
              <a:t>que concatene </a:t>
            </a:r>
            <a:r>
              <a:rPr lang="pt-BR" sz="2200" b="1" dirty="0"/>
              <a:t>nome</a:t>
            </a:r>
            <a:r>
              <a:rPr lang="pt-BR" sz="2200" dirty="0"/>
              <a:t> + </a:t>
            </a:r>
            <a:r>
              <a:rPr lang="pt-BR" sz="2200" b="1" dirty="0"/>
              <a:t>cidade</a:t>
            </a:r>
            <a:r>
              <a:rPr lang="pt-BR" sz="2200" dirty="0"/>
              <a:t> + </a:t>
            </a:r>
            <a:r>
              <a:rPr lang="pt-BR" sz="2200" b="1" dirty="0"/>
              <a:t>estado</a:t>
            </a:r>
            <a:r>
              <a:rPr lang="pt-BR" sz="2200" dirty="0"/>
              <a:t>.</a:t>
            </a:r>
          </a:p>
          <a:p>
            <a:endParaRPr lang="pt-BR" sz="2200" dirty="0"/>
          </a:p>
          <a:p>
            <a:r>
              <a:rPr lang="pt-BR" sz="2200" b="1" dirty="0"/>
              <a:t>Exercício 3 (desafio):</a:t>
            </a:r>
            <a:br>
              <a:rPr lang="pt-BR" sz="2200" dirty="0"/>
            </a:br>
            <a:r>
              <a:rPr lang="pt-BR" sz="2200" dirty="0"/>
              <a:t>Crie uma função </a:t>
            </a:r>
            <a:r>
              <a:rPr lang="pt-BR" sz="2200" b="1" dirty="0" err="1"/>
              <a:t>estoque_valor_total</a:t>
            </a:r>
            <a:r>
              <a:rPr lang="pt-BR" sz="2200" b="1" dirty="0"/>
              <a:t> </a:t>
            </a:r>
            <a:r>
              <a:rPr lang="pt-BR" sz="2200" dirty="0"/>
              <a:t>que receba </a:t>
            </a:r>
            <a:r>
              <a:rPr lang="pt-BR" sz="2200" b="1" dirty="0" err="1"/>
              <a:t>preco_unitario</a:t>
            </a:r>
            <a:r>
              <a:rPr lang="pt-BR" sz="2200" b="1" dirty="0"/>
              <a:t> </a:t>
            </a:r>
            <a:r>
              <a:rPr lang="pt-BR" sz="2200" dirty="0"/>
              <a:t>e estoque e </a:t>
            </a:r>
            <a:r>
              <a:rPr lang="pt-BR" sz="2200" b="1" dirty="0"/>
              <a:t>retorne</a:t>
            </a:r>
            <a:r>
              <a:rPr lang="pt-BR" sz="2200" dirty="0"/>
              <a:t> o valor total em estoque </a:t>
            </a:r>
            <a:r>
              <a:rPr lang="pt-BR" sz="2200" b="1" dirty="0"/>
              <a:t>arredondado com 2 casas</a:t>
            </a:r>
            <a:r>
              <a:rPr lang="pt-BR" sz="2200" dirty="0"/>
              <a:t>.</a:t>
            </a:r>
            <a:br>
              <a:rPr lang="pt-BR" sz="2200" dirty="0"/>
            </a:br>
            <a:endParaRPr lang="pt-BR" sz="2200" dirty="0"/>
          </a:p>
          <a:p>
            <a:endParaRPr lang="pt-BR" sz="2200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ADCAFD-1E17-46CD-AF45-5B119E26D6C4}"/>
              </a:ext>
            </a:extLst>
          </p:cNvPr>
          <p:cNvSpPr txBox="1">
            <a:spLocks/>
          </p:cNvSpPr>
          <p:nvPr/>
        </p:nvSpPr>
        <p:spPr>
          <a:xfrm>
            <a:off x="338845" y="1097210"/>
            <a:ext cx="9692640" cy="9369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500" b="1" dirty="0">
                <a:solidFill>
                  <a:srgbClr val="00758F"/>
                </a:solidFill>
              </a:rPr>
              <a:t>Procedures e </a:t>
            </a:r>
            <a:r>
              <a:rPr lang="pt-BR" sz="3500" b="1" dirty="0" err="1">
                <a:solidFill>
                  <a:srgbClr val="00758F"/>
                </a:solidFill>
              </a:rPr>
              <a:t>Functions</a:t>
            </a:r>
            <a:r>
              <a:rPr lang="pt-BR" sz="3500" b="1" dirty="0">
                <a:solidFill>
                  <a:srgbClr val="00758F"/>
                </a:solidFill>
              </a:rPr>
              <a:t>: </a:t>
            </a:r>
            <a:br>
              <a:rPr lang="pt-BR" sz="3500" b="1" dirty="0">
                <a:solidFill>
                  <a:srgbClr val="00758F"/>
                </a:solidFill>
              </a:rPr>
            </a:br>
            <a:r>
              <a:rPr lang="pt-BR" sz="3500" b="1" dirty="0">
                <a:solidFill>
                  <a:srgbClr val="F39211"/>
                </a:solidFill>
              </a:rPr>
              <a:t>1.5 Deixando o banco processar com </a:t>
            </a:r>
            <a:r>
              <a:rPr lang="pt-BR" sz="3500" b="1" dirty="0" err="1">
                <a:solidFill>
                  <a:srgbClr val="F39211"/>
                </a:solidFill>
              </a:rPr>
              <a:t>Stored</a:t>
            </a:r>
            <a:r>
              <a:rPr lang="pt-BR" sz="3500" b="1" dirty="0">
                <a:solidFill>
                  <a:srgbClr val="F39211"/>
                </a:solidFill>
              </a:rPr>
              <a:t> Procedures</a:t>
            </a:r>
            <a:endParaRPr lang="pt-BR" sz="3500" dirty="0">
              <a:solidFill>
                <a:srgbClr val="F392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081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4" y="1344373"/>
            <a:ext cx="9435948" cy="8740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/>
              <a:t>A tabela DUAL é uma </a:t>
            </a:r>
            <a:r>
              <a:rPr lang="pt-BR" sz="2200" b="1" dirty="0"/>
              <a:t>tabela especial interna</a:t>
            </a:r>
            <a:r>
              <a:rPr lang="pt-BR" sz="2200" dirty="0"/>
              <a:t> usada quando você quer </a:t>
            </a:r>
            <a:r>
              <a:rPr lang="pt-BR" sz="2200" b="1" dirty="0"/>
              <a:t>executar algo no banco sem consultar uma tabela real</a:t>
            </a:r>
            <a:r>
              <a:rPr lang="pt-BR" sz="2200" dirty="0"/>
              <a:t>. </a:t>
            </a:r>
          </a:p>
          <a:p>
            <a:r>
              <a:rPr lang="pt-BR" sz="2200" dirty="0"/>
              <a:t>Ou seja “DUAL” é uma tabela fictícia com apenas uma linha e uma coluna. Ela serve como apoio quando você quer testar comandos sem usar uma tabela real."</a:t>
            </a:r>
          </a:p>
          <a:p>
            <a:endParaRPr lang="pt-BR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Quando usar?</a:t>
            </a:r>
            <a:br>
              <a:rPr lang="pt-BR" altLang="pt-BR" sz="2800" dirty="0"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- Para testar expressões matemáticas (</a:t>
            </a:r>
            <a:r>
              <a:rPr lang="pt-BR" altLang="pt-BR" sz="2200" dirty="0">
                <a:ea typeface="Times New Roman" panose="02020603050405020304" pitchFamily="18" charset="0"/>
                <a:cs typeface="Courier New" panose="02070309020205020404" pitchFamily="49" charset="0"/>
              </a:rPr>
              <a:t>2 + 2</a:t>
            </a:r>
            <a:r>
              <a:rPr lang="pt-BR" altLang="pt-BR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pt-BR" altLang="pt-BR" sz="2200" dirty="0"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- Para testar funções que você criou (</a:t>
            </a:r>
            <a:r>
              <a:rPr lang="pt-BR" altLang="pt-BR" sz="2200" dirty="0">
                <a:solidFill>
                  <a:srgbClr val="0000FF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SELECT</a:t>
            </a:r>
            <a:r>
              <a:rPr lang="pt-BR" altLang="pt-BR" sz="2200" dirty="0"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pt-BR" altLang="pt-BR" sz="2200" dirty="0" err="1">
                <a:ea typeface="Times New Roman" panose="02020603050405020304" pitchFamily="18" charset="0"/>
                <a:cs typeface="Courier New" panose="02070309020205020404" pitchFamily="49" charset="0"/>
              </a:rPr>
              <a:t>nome_funcao</a:t>
            </a:r>
            <a:r>
              <a:rPr lang="pt-BR" altLang="pt-BR" sz="2200" dirty="0">
                <a:ea typeface="Times New Roman" panose="02020603050405020304" pitchFamily="18" charset="0"/>
                <a:cs typeface="Courier New" panose="02070309020205020404" pitchFamily="49" charset="0"/>
              </a:rPr>
              <a:t>(...)</a:t>
            </a:r>
            <a:r>
              <a:rPr lang="pt-BR" altLang="pt-BR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pt-BR" altLang="pt-BR" sz="2200" dirty="0"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- Para ver valores calculados direto no </a:t>
            </a:r>
            <a:r>
              <a:rPr lang="pt-BR" altLang="pt-BR" sz="2200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pt-BR" altLang="pt-BR" sz="2200" dirty="0"/>
              <a:t> </a:t>
            </a:r>
            <a:br>
              <a:rPr lang="pt-BR" altLang="pt-BR" sz="2200" dirty="0"/>
            </a:br>
            <a:br>
              <a:rPr lang="pt-BR" altLang="pt-BR" sz="2200" dirty="0"/>
            </a:br>
            <a:r>
              <a:rPr lang="pt-BR" altLang="pt-BR" sz="2000" dirty="0">
                <a:ea typeface="Times New Roman" panose="02020603050405020304" pitchFamily="18" charset="0"/>
              </a:rPr>
              <a:t>1. Testar um cálculo simples</a:t>
            </a:r>
            <a:br>
              <a:rPr lang="pt-BR" altLang="pt-BR" sz="2000" dirty="0">
                <a:ea typeface="Times New Roman" panose="02020603050405020304" pitchFamily="18" charset="0"/>
              </a:rPr>
            </a:br>
            <a:r>
              <a:rPr lang="pt-BR" altLang="pt-BR" sz="2000" b="1" dirty="0">
                <a:solidFill>
                  <a:srgbClr val="0000FF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SELECT</a:t>
            </a:r>
            <a:r>
              <a:rPr lang="pt-BR" altLang="pt-BR" sz="2000" dirty="0">
                <a:solidFill>
                  <a:srgbClr val="000000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pt-BR" altLang="pt-BR" sz="2000" dirty="0">
                <a:solidFill>
                  <a:srgbClr val="FF8000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100</a:t>
            </a:r>
            <a:r>
              <a:rPr lang="pt-BR" altLang="pt-BR" sz="2000" dirty="0">
                <a:solidFill>
                  <a:srgbClr val="000000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pt-BR" altLang="pt-BR" sz="2000" b="1" dirty="0">
                <a:solidFill>
                  <a:srgbClr val="000080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lang="pt-BR" altLang="pt-BR" sz="2000" dirty="0">
                <a:solidFill>
                  <a:srgbClr val="000000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pt-BR" altLang="pt-BR" sz="2000" dirty="0">
                <a:solidFill>
                  <a:srgbClr val="FF8000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2.5</a:t>
            </a:r>
            <a:r>
              <a:rPr lang="pt-BR" altLang="pt-BR" sz="2000" b="1" dirty="0">
                <a:solidFill>
                  <a:srgbClr val="000080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br>
              <a:rPr lang="pt-BR" altLang="pt-BR" sz="2000" b="1" dirty="0">
                <a:solidFill>
                  <a:srgbClr val="000080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</a:br>
            <a:br>
              <a:rPr lang="pt-BR" altLang="pt-BR" sz="2000" b="1" dirty="0">
                <a:solidFill>
                  <a:srgbClr val="000080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pt-BR" altLang="pt-BR" sz="2000" dirty="0">
                <a:ea typeface="Times New Roman" panose="02020603050405020304" pitchFamily="18" charset="0"/>
              </a:rPr>
              <a:t>Em MySQL, você </a:t>
            </a:r>
            <a:r>
              <a:rPr lang="pt-BR" altLang="pt-BR" sz="2000" b="1" dirty="0">
                <a:ea typeface="Times New Roman" panose="02020603050405020304" pitchFamily="18" charset="0"/>
              </a:rPr>
              <a:t>não precisa da </a:t>
            </a:r>
            <a:r>
              <a:rPr lang="pt-BR" altLang="pt-BR" sz="2000" b="1" dirty="0">
                <a:solidFill>
                  <a:srgbClr val="0000FF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DUAL</a:t>
            </a:r>
            <a:r>
              <a:rPr lang="pt-BR" altLang="pt-BR" sz="2000" dirty="0">
                <a:ea typeface="Times New Roman" panose="02020603050405020304" pitchFamily="18" charset="0"/>
              </a:rPr>
              <a:t>, mas pode escrever assim também:</a:t>
            </a:r>
            <a:endParaRPr lang="pt-BR" altLang="pt-BR" sz="20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000" b="1" dirty="0">
                <a:solidFill>
                  <a:srgbClr val="0000FF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SELECT</a:t>
            </a:r>
            <a:r>
              <a:rPr lang="pt-BR" altLang="pt-BR" sz="2000" dirty="0">
                <a:solidFill>
                  <a:srgbClr val="000000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pt-BR" altLang="pt-BR" sz="2000" dirty="0">
                <a:solidFill>
                  <a:srgbClr val="FF8000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100</a:t>
            </a:r>
            <a:r>
              <a:rPr lang="pt-BR" altLang="pt-BR" sz="2000" dirty="0">
                <a:solidFill>
                  <a:srgbClr val="000000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pt-BR" altLang="pt-BR" sz="2000" b="1" dirty="0">
                <a:solidFill>
                  <a:srgbClr val="000080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lang="pt-BR" altLang="pt-BR" sz="2000" dirty="0">
                <a:solidFill>
                  <a:srgbClr val="000000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pt-BR" altLang="pt-BR" sz="2000" dirty="0">
                <a:solidFill>
                  <a:srgbClr val="FF8000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2.5</a:t>
            </a:r>
            <a:r>
              <a:rPr lang="pt-BR" altLang="pt-BR" sz="2000" dirty="0">
                <a:solidFill>
                  <a:srgbClr val="000000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pt-BR" altLang="pt-BR" sz="2000" b="1" dirty="0">
                <a:solidFill>
                  <a:srgbClr val="0000FF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FROM</a:t>
            </a:r>
            <a:r>
              <a:rPr lang="pt-BR" altLang="pt-BR" sz="2000" dirty="0">
                <a:solidFill>
                  <a:srgbClr val="000000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 DUAL</a:t>
            </a:r>
            <a:r>
              <a:rPr lang="pt-BR" altLang="pt-BR" sz="2000" b="1" dirty="0">
                <a:solidFill>
                  <a:srgbClr val="000080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lang="pt-BR" altLang="pt-BR" sz="2000" dirty="0"/>
          </a:p>
          <a:p>
            <a:endParaRPr lang="pt-BR" altLang="pt-BR" sz="2200" dirty="0"/>
          </a:p>
          <a:p>
            <a:endParaRPr lang="pt-BR" altLang="pt-BR" sz="2200" dirty="0"/>
          </a:p>
          <a:p>
            <a:endParaRPr lang="pt-BR" altLang="pt-BR" sz="2200" dirty="0"/>
          </a:p>
          <a:p>
            <a:endParaRPr lang="pt-BR" altLang="pt-BR" sz="2200" dirty="0"/>
          </a:p>
          <a:p>
            <a:endParaRPr lang="pt-BR" altLang="pt-BR" sz="2200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ADCAFD-1E17-46CD-AF45-5B119E26D6C4}"/>
              </a:ext>
            </a:extLst>
          </p:cNvPr>
          <p:cNvSpPr txBox="1">
            <a:spLocks/>
          </p:cNvSpPr>
          <p:nvPr/>
        </p:nvSpPr>
        <p:spPr>
          <a:xfrm>
            <a:off x="338844" y="407400"/>
            <a:ext cx="9692640" cy="9369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500" b="1" dirty="0">
                <a:solidFill>
                  <a:srgbClr val="00758F"/>
                </a:solidFill>
              </a:rPr>
              <a:t>Procedures e </a:t>
            </a:r>
            <a:r>
              <a:rPr lang="pt-BR" sz="3500" b="1" dirty="0" err="1">
                <a:solidFill>
                  <a:srgbClr val="00758F"/>
                </a:solidFill>
              </a:rPr>
              <a:t>Functions</a:t>
            </a:r>
            <a:r>
              <a:rPr lang="pt-BR" sz="3500" b="1" dirty="0">
                <a:solidFill>
                  <a:srgbClr val="00758F"/>
                </a:solidFill>
              </a:rPr>
              <a:t>: </a:t>
            </a:r>
            <a:br>
              <a:rPr lang="pt-BR" sz="3500" b="1" dirty="0">
                <a:solidFill>
                  <a:srgbClr val="00758F"/>
                </a:solidFill>
              </a:rPr>
            </a:br>
            <a:r>
              <a:rPr lang="pt-BR" sz="3500" b="1" dirty="0">
                <a:solidFill>
                  <a:srgbClr val="F39211"/>
                </a:solidFill>
              </a:rPr>
              <a:t>1.0 Tabela Dual</a:t>
            </a:r>
            <a:endParaRPr lang="pt-BR" sz="3500" dirty="0">
              <a:solidFill>
                <a:srgbClr val="F392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179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816" y="5721591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4" y="1344373"/>
            <a:ext cx="9435948" cy="7879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pt-BR" sz="2200" dirty="0">
                <a:ea typeface="Times New Roman" panose="02020603050405020304" pitchFamily="18" charset="0"/>
              </a:rPr>
              <a:t>2. Usar funções do sistema</a:t>
            </a:r>
            <a:br>
              <a:rPr lang="pt-BR" sz="2200" dirty="0">
                <a:ea typeface="Times New Roman" panose="02020603050405020304" pitchFamily="18" charset="0"/>
              </a:rPr>
            </a:br>
            <a:r>
              <a:rPr lang="pt-BR" sz="2200" b="1" dirty="0">
                <a:solidFill>
                  <a:srgbClr val="0000FF"/>
                </a:solidFill>
                <a:ea typeface="Times New Roman" panose="02020603050405020304" pitchFamily="18" charset="0"/>
              </a:rPr>
              <a:t>SELECT</a:t>
            </a:r>
            <a:r>
              <a:rPr lang="pt-BR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NOW</a:t>
            </a:r>
            <a:r>
              <a:rPr lang="pt-BR" sz="2200" b="1" dirty="0">
                <a:solidFill>
                  <a:srgbClr val="000080"/>
                </a:solidFill>
                <a:ea typeface="Times New Roman" panose="02020603050405020304" pitchFamily="18" charset="0"/>
              </a:rPr>
              <a:t>();</a:t>
            </a:r>
            <a:r>
              <a:rPr lang="pt-BR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             </a:t>
            </a:r>
            <a:r>
              <a:rPr lang="pt-BR" sz="2200" dirty="0">
                <a:solidFill>
                  <a:srgbClr val="008000"/>
                </a:solidFill>
                <a:ea typeface="Times New Roman" panose="02020603050405020304" pitchFamily="18" charset="0"/>
              </a:rPr>
              <a:t>-- Data e hora atual</a:t>
            </a:r>
            <a:endParaRPr lang="pt-BR" sz="2200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2200" b="1" dirty="0">
                <a:solidFill>
                  <a:srgbClr val="0000FF"/>
                </a:solidFill>
                <a:ea typeface="Times New Roman" panose="02020603050405020304" pitchFamily="18" charset="0"/>
              </a:rPr>
              <a:t>SELECT</a:t>
            </a:r>
            <a:r>
              <a:rPr lang="pt-BR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UUID</a:t>
            </a:r>
            <a:r>
              <a:rPr lang="pt-BR" sz="2200" b="1" dirty="0">
                <a:solidFill>
                  <a:srgbClr val="000080"/>
                </a:solidFill>
                <a:ea typeface="Times New Roman" panose="02020603050405020304" pitchFamily="18" charset="0"/>
              </a:rPr>
              <a:t>();</a:t>
            </a:r>
            <a:r>
              <a:rPr lang="pt-BR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            </a:t>
            </a:r>
            <a:r>
              <a:rPr lang="pt-BR" sz="2200" dirty="0">
                <a:solidFill>
                  <a:srgbClr val="008000"/>
                </a:solidFill>
                <a:ea typeface="Times New Roman" panose="02020603050405020304" pitchFamily="18" charset="0"/>
              </a:rPr>
              <a:t>-- Gera um ID único</a:t>
            </a:r>
            <a:endParaRPr lang="pt-BR" sz="2200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2200" b="1" dirty="0">
                <a:solidFill>
                  <a:srgbClr val="0000FF"/>
                </a:solidFill>
                <a:ea typeface="Times New Roman" panose="02020603050405020304" pitchFamily="18" charset="0"/>
              </a:rPr>
              <a:t>SELECT</a:t>
            </a:r>
            <a:r>
              <a:rPr lang="pt-BR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pt-BR" sz="2200" b="1" dirty="0">
                <a:solidFill>
                  <a:srgbClr val="0000FF"/>
                </a:solidFill>
                <a:ea typeface="Times New Roman" panose="02020603050405020304" pitchFamily="18" charset="0"/>
              </a:rPr>
              <a:t>CURRENT_DATE</a:t>
            </a:r>
            <a:r>
              <a:rPr lang="pt-BR" sz="2200" b="1" dirty="0">
                <a:solidFill>
                  <a:srgbClr val="000080"/>
                </a:solidFill>
                <a:ea typeface="Times New Roman" panose="02020603050405020304" pitchFamily="18" charset="0"/>
              </a:rPr>
              <a:t>();</a:t>
            </a:r>
            <a:r>
              <a:rPr lang="pt-BR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    </a:t>
            </a:r>
            <a:r>
              <a:rPr lang="pt-BR" sz="2200" dirty="0">
                <a:solidFill>
                  <a:srgbClr val="008000"/>
                </a:solidFill>
                <a:ea typeface="Times New Roman" panose="02020603050405020304" pitchFamily="18" charset="0"/>
              </a:rPr>
              <a:t>-- Somente a data</a:t>
            </a:r>
            <a:endParaRPr lang="pt-BR" sz="2200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2200" dirty="0">
                <a:ea typeface="Times New Roman" panose="02020603050405020304" pitchFamily="18" charset="0"/>
              </a:rPr>
              <a:t> </a:t>
            </a:r>
          </a:p>
          <a:p>
            <a:pPr>
              <a:spcAft>
                <a:spcPts val="0"/>
              </a:spcAft>
            </a:pPr>
            <a:r>
              <a:rPr lang="pt-BR" sz="2200" dirty="0">
                <a:ea typeface="Times New Roman" panose="02020603050405020304" pitchFamily="18" charset="0"/>
              </a:rPr>
              <a:t>3. Testar uma </a:t>
            </a:r>
            <a:r>
              <a:rPr lang="pt-BR" sz="2200" b="1" dirty="0">
                <a:ea typeface="Times New Roman" panose="02020603050405020304" pitchFamily="18" charset="0"/>
              </a:rPr>
              <a:t>função</a:t>
            </a:r>
            <a:r>
              <a:rPr lang="pt-BR" sz="2200" dirty="0">
                <a:ea typeface="Times New Roman" panose="02020603050405020304" pitchFamily="18" charset="0"/>
              </a:rPr>
              <a:t> que você criou</a:t>
            </a:r>
            <a:br>
              <a:rPr lang="pt-BR" sz="2200" dirty="0">
                <a:ea typeface="Times New Roman" panose="02020603050405020304" pitchFamily="18" charset="0"/>
              </a:rPr>
            </a:br>
            <a:r>
              <a:rPr lang="pt-BR" sz="2200" b="1" dirty="0">
                <a:solidFill>
                  <a:srgbClr val="0000FF"/>
                </a:solidFill>
                <a:ea typeface="Times New Roman" panose="02020603050405020304" pitchFamily="18" charset="0"/>
              </a:rPr>
              <a:t>SELECT</a:t>
            </a:r>
            <a:r>
              <a:rPr lang="pt-BR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valor_com_imposto</a:t>
            </a:r>
            <a:r>
              <a:rPr lang="pt-BR" sz="2200" b="1" dirty="0">
                <a:solidFill>
                  <a:srgbClr val="000080"/>
                </a:solidFill>
                <a:ea typeface="Times New Roman" panose="02020603050405020304" pitchFamily="18" charset="0"/>
              </a:rPr>
              <a:t>(</a:t>
            </a:r>
            <a:r>
              <a:rPr lang="pt-BR" sz="2200" dirty="0">
                <a:solidFill>
                  <a:srgbClr val="FF8000"/>
                </a:solidFill>
                <a:ea typeface="Times New Roman" panose="02020603050405020304" pitchFamily="18" charset="0"/>
              </a:rPr>
              <a:t>200.00</a:t>
            </a:r>
            <a:r>
              <a:rPr lang="pt-BR" sz="2200" b="1" dirty="0">
                <a:solidFill>
                  <a:srgbClr val="000080"/>
                </a:solidFill>
                <a:ea typeface="Times New Roman" panose="02020603050405020304" pitchFamily="18" charset="0"/>
              </a:rPr>
              <a:t>)</a:t>
            </a:r>
            <a:r>
              <a:rPr lang="pt-BR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pt-BR" sz="2200" b="1" dirty="0">
                <a:solidFill>
                  <a:srgbClr val="0000FF"/>
                </a:solidFill>
                <a:ea typeface="Times New Roman" panose="02020603050405020304" pitchFamily="18" charset="0"/>
              </a:rPr>
              <a:t>AS</a:t>
            </a:r>
            <a:r>
              <a:rPr lang="pt-BR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valor_final</a:t>
            </a:r>
            <a:r>
              <a:rPr lang="pt-BR" sz="2200" b="1" dirty="0">
                <a:solidFill>
                  <a:srgbClr val="000080"/>
                </a:solidFill>
                <a:ea typeface="Times New Roman" panose="02020603050405020304" pitchFamily="18" charset="0"/>
              </a:rPr>
              <a:t>;</a:t>
            </a:r>
            <a:br>
              <a:rPr lang="pt-BR" sz="2200" b="1" dirty="0">
                <a:solidFill>
                  <a:srgbClr val="000080"/>
                </a:solidFill>
                <a:ea typeface="Times New Roman" panose="02020603050405020304" pitchFamily="18" charset="0"/>
              </a:rPr>
            </a:br>
            <a:r>
              <a:rPr lang="pt-BR" sz="2200" dirty="0">
                <a:ea typeface="Times New Roman" panose="02020603050405020304" pitchFamily="18" charset="0"/>
              </a:rPr>
              <a:t>Ou, se quiser usar </a:t>
            </a:r>
            <a:r>
              <a:rPr lang="pt-BR" sz="2200" dirty="0">
                <a:solidFill>
                  <a:srgbClr val="0000FF"/>
                </a:solidFill>
                <a:ea typeface="Times New Roman" panose="02020603050405020304" pitchFamily="18" charset="0"/>
              </a:rPr>
              <a:t>DUAL</a:t>
            </a:r>
            <a:r>
              <a:rPr lang="pt-BR" sz="2200" dirty="0">
                <a:ea typeface="Times New Roman" panose="02020603050405020304" pitchFamily="18" charset="0"/>
              </a:rPr>
              <a:t> </a:t>
            </a:r>
            <a:r>
              <a:rPr lang="pt-BR" sz="2200" b="1" dirty="0">
                <a:ea typeface="Times New Roman" panose="02020603050405020304" pitchFamily="18" charset="0"/>
              </a:rPr>
              <a:t>explicitamente</a:t>
            </a:r>
            <a:r>
              <a:rPr lang="pt-BR" sz="2200" dirty="0">
                <a:ea typeface="Times New Roman" panose="02020603050405020304" pitchFamily="18" charset="0"/>
              </a:rPr>
              <a:t>:</a:t>
            </a:r>
            <a:br>
              <a:rPr lang="pt-BR" sz="2200" dirty="0">
                <a:ea typeface="Times New Roman" panose="02020603050405020304" pitchFamily="18" charset="0"/>
              </a:rPr>
            </a:br>
            <a:r>
              <a:rPr lang="pt-BR" sz="2200" b="1" dirty="0">
                <a:solidFill>
                  <a:srgbClr val="0000FF"/>
                </a:solidFill>
                <a:ea typeface="Times New Roman" panose="02020603050405020304" pitchFamily="18" charset="0"/>
              </a:rPr>
              <a:t>SELECT</a:t>
            </a:r>
            <a:r>
              <a:rPr lang="pt-BR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valor_com_imposto</a:t>
            </a:r>
            <a:r>
              <a:rPr lang="pt-BR" sz="2200" b="1" dirty="0">
                <a:solidFill>
                  <a:srgbClr val="000080"/>
                </a:solidFill>
                <a:ea typeface="Times New Roman" panose="02020603050405020304" pitchFamily="18" charset="0"/>
              </a:rPr>
              <a:t>(</a:t>
            </a:r>
            <a:r>
              <a:rPr lang="pt-BR" sz="2200" dirty="0">
                <a:solidFill>
                  <a:srgbClr val="FF8000"/>
                </a:solidFill>
                <a:ea typeface="Times New Roman" panose="02020603050405020304" pitchFamily="18" charset="0"/>
              </a:rPr>
              <a:t>200.00</a:t>
            </a:r>
            <a:r>
              <a:rPr lang="pt-BR" sz="2200" b="1" dirty="0">
                <a:solidFill>
                  <a:srgbClr val="000080"/>
                </a:solidFill>
                <a:ea typeface="Times New Roman" panose="02020603050405020304" pitchFamily="18" charset="0"/>
              </a:rPr>
              <a:t>)</a:t>
            </a:r>
            <a:r>
              <a:rPr lang="pt-BR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pt-BR" sz="2200" b="1" dirty="0">
                <a:solidFill>
                  <a:srgbClr val="0000FF"/>
                </a:solidFill>
                <a:ea typeface="Times New Roman" panose="02020603050405020304" pitchFamily="18" charset="0"/>
              </a:rPr>
              <a:t>AS</a:t>
            </a:r>
            <a:r>
              <a:rPr lang="pt-BR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valor_final</a:t>
            </a:r>
            <a:r>
              <a:rPr lang="pt-BR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pt-BR" sz="2200" b="1" dirty="0">
                <a:solidFill>
                  <a:srgbClr val="0000FF"/>
                </a:solidFill>
                <a:ea typeface="Times New Roman" panose="02020603050405020304" pitchFamily="18" charset="0"/>
              </a:rPr>
              <a:t>FROM</a:t>
            </a:r>
            <a:r>
              <a:rPr lang="pt-BR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DUAL</a:t>
            </a:r>
            <a:r>
              <a:rPr lang="pt-BR" sz="2200" b="1" dirty="0">
                <a:solidFill>
                  <a:srgbClr val="000080"/>
                </a:solidFill>
                <a:ea typeface="Times New Roman" panose="02020603050405020304" pitchFamily="18" charset="0"/>
              </a:rPr>
              <a:t>;</a:t>
            </a:r>
          </a:p>
          <a:p>
            <a:pPr>
              <a:spcAft>
                <a:spcPts val="0"/>
              </a:spcAft>
            </a:pPr>
            <a:endParaRPr lang="pt-BR" sz="2200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2200" dirty="0">
                <a:ea typeface="Times New Roman" panose="02020603050405020304" pitchFamily="18" charset="0"/>
              </a:rPr>
              <a:t>4. Usar DUAL para simular uma variável</a:t>
            </a:r>
            <a:br>
              <a:rPr lang="pt-BR" sz="2200" dirty="0">
                <a:ea typeface="Times New Roman" panose="02020603050405020304" pitchFamily="18" charset="0"/>
              </a:rPr>
            </a:br>
            <a:r>
              <a:rPr lang="pt-BR" sz="2200" b="1" dirty="0">
                <a:solidFill>
                  <a:srgbClr val="0000FF"/>
                </a:solidFill>
                <a:ea typeface="Times New Roman" panose="02020603050405020304" pitchFamily="18" charset="0"/>
              </a:rPr>
              <a:t>SELECT</a:t>
            </a:r>
            <a:r>
              <a:rPr lang="pt-BR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pt-BR" sz="2200" dirty="0">
                <a:solidFill>
                  <a:srgbClr val="808080"/>
                </a:solidFill>
                <a:ea typeface="Times New Roman" panose="02020603050405020304" pitchFamily="18" charset="0"/>
              </a:rPr>
              <a:t>'Ruan'</a:t>
            </a:r>
            <a:r>
              <a:rPr lang="pt-BR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pt-BR" sz="2200" b="1" dirty="0">
                <a:solidFill>
                  <a:srgbClr val="0000FF"/>
                </a:solidFill>
                <a:ea typeface="Times New Roman" panose="02020603050405020304" pitchFamily="18" charset="0"/>
              </a:rPr>
              <a:t>AS</a:t>
            </a:r>
            <a:r>
              <a:rPr lang="pt-BR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instrutor</a:t>
            </a:r>
            <a:r>
              <a:rPr lang="pt-BR" sz="2200" b="1" dirty="0">
                <a:solidFill>
                  <a:srgbClr val="000080"/>
                </a:solidFill>
                <a:ea typeface="Times New Roman" panose="02020603050405020304" pitchFamily="18" charset="0"/>
              </a:rPr>
              <a:t>,</a:t>
            </a:r>
            <a:r>
              <a:rPr lang="pt-BR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pt-BR" sz="2200" dirty="0">
                <a:solidFill>
                  <a:srgbClr val="FF8000"/>
                </a:solidFill>
                <a:ea typeface="Times New Roman" panose="02020603050405020304" pitchFamily="18" charset="0"/>
              </a:rPr>
              <a:t>2025</a:t>
            </a:r>
            <a:r>
              <a:rPr lang="pt-BR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pt-BR" sz="2200" b="1" dirty="0">
                <a:solidFill>
                  <a:srgbClr val="0000FF"/>
                </a:solidFill>
                <a:ea typeface="Times New Roman" panose="02020603050405020304" pitchFamily="18" charset="0"/>
              </a:rPr>
              <a:t>AS</a:t>
            </a:r>
            <a:r>
              <a:rPr lang="pt-BR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ano </a:t>
            </a:r>
            <a:r>
              <a:rPr lang="pt-BR" sz="2200" b="1" dirty="0">
                <a:solidFill>
                  <a:srgbClr val="0000FF"/>
                </a:solidFill>
                <a:ea typeface="Times New Roman" panose="02020603050405020304" pitchFamily="18" charset="0"/>
              </a:rPr>
              <a:t>FROM</a:t>
            </a:r>
            <a:r>
              <a:rPr lang="pt-BR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DUAL</a:t>
            </a:r>
            <a:r>
              <a:rPr lang="pt-BR" sz="2200" b="1" dirty="0">
                <a:solidFill>
                  <a:srgbClr val="000080"/>
                </a:solidFill>
                <a:ea typeface="Times New Roman" panose="02020603050405020304" pitchFamily="18" charset="0"/>
              </a:rPr>
              <a:t>;</a:t>
            </a:r>
            <a:endParaRPr lang="pt-BR" sz="2200" dirty="0">
              <a:ea typeface="Times New Roman" panose="02020603050405020304" pitchFamily="18" charset="0"/>
            </a:endParaRPr>
          </a:p>
          <a:p>
            <a:endParaRPr lang="pt-BR" altLang="pt-BR" sz="2200" dirty="0"/>
          </a:p>
          <a:p>
            <a:endParaRPr lang="pt-BR" altLang="pt-BR" sz="2200" dirty="0"/>
          </a:p>
          <a:p>
            <a:endParaRPr lang="pt-BR" altLang="pt-BR" sz="2200" dirty="0"/>
          </a:p>
          <a:p>
            <a:endParaRPr lang="pt-BR" altLang="pt-BR" sz="2200" dirty="0"/>
          </a:p>
          <a:p>
            <a:endParaRPr lang="pt-BR" altLang="pt-BR" sz="2200" dirty="0"/>
          </a:p>
          <a:p>
            <a:endParaRPr lang="pt-BR" sz="2200" dirty="0"/>
          </a:p>
          <a:p>
            <a:endParaRPr lang="pt-BR" sz="2200" dirty="0"/>
          </a:p>
          <a:p>
            <a:endParaRPr lang="pt-BR" sz="2200" dirty="0"/>
          </a:p>
          <a:p>
            <a:endParaRPr lang="pt-BR" sz="2200" dirty="0"/>
          </a:p>
          <a:p>
            <a:endParaRPr lang="pt-BR" sz="2200" dirty="0"/>
          </a:p>
          <a:p>
            <a:endParaRPr lang="pt-BR" sz="2200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ADCAFD-1E17-46CD-AF45-5B119E26D6C4}"/>
              </a:ext>
            </a:extLst>
          </p:cNvPr>
          <p:cNvSpPr txBox="1">
            <a:spLocks/>
          </p:cNvSpPr>
          <p:nvPr/>
        </p:nvSpPr>
        <p:spPr>
          <a:xfrm>
            <a:off x="338844" y="407400"/>
            <a:ext cx="9692640" cy="9369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500" b="1" dirty="0">
                <a:solidFill>
                  <a:srgbClr val="00758F"/>
                </a:solidFill>
              </a:rPr>
              <a:t>Procedures e </a:t>
            </a:r>
            <a:r>
              <a:rPr lang="pt-BR" sz="3500" b="1" dirty="0" err="1">
                <a:solidFill>
                  <a:srgbClr val="00758F"/>
                </a:solidFill>
              </a:rPr>
              <a:t>Functions</a:t>
            </a:r>
            <a:r>
              <a:rPr lang="pt-BR" sz="3500" b="1" dirty="0">
                <a:solidFill>
                  <a:srgbClr val="00758F"/>
                </a:solidFill>
              </a:rPr>
              <a:t>: </a:t>
            </a:r>
            <a:br>
              <a:rPr lang="pt-BR" sz="3500" b="1" dirty="0">
                <a:solidFill>
                  <a:srgbClr val="00758F"/>
                </a:solidFill>
              </a:rPr>
            </a:br>
            <a:r>
              <a:rPr lang="pt-BR" sz="3500" b="1" dirty="0">
                <a:solidFill>
                  <a:srgbClr val="F39211"/>
                </a:solidFill>
              </a:rPr>
              <a:t>1.1 Tabela Dual</a:t>
            </a:r>
            <a:endParaRPr lang="pt-BR" sz="3500" dirty="0">
              <a:solidFill>
                <a:srgbClr val="F39211"/>
              </a:solidFill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923C8424-B7F7-403B-9EA3-9EC2AB3AB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251969"/>
              </p:ext>
            </p:extLst>
          </p:nvPr>
        </p:nvGraphicFramePr>
        <p:xfrm>
          <a:off x="338844" y="5516422"/>
          <a:ext cx="8594724" cy="9341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97362">
                  <a:extLst>
                    <a:ext uri="{9D8B030D-6E8A-4147-A177-3AD203B41FA5}">
                      <a16:colId xmlns:a16="http://schemas.microsoft.com/office/drawing/2014/main" val="3249266851"/>
                    </a:ext>
                  </a:extLst>
                </a:gridCol>
                <a:gridCol w="4297362">
                  <a:extLst>
                    <a:ext uri="{9D8B030D-6E8A-4147-A177-3AD203B41FA5}">
                      <a16:colId xmlns:a16="http://schemas.microsoft.com/office/drawing/2014/main" val="2330956320"/>
                    </a:ext>
                  </a:extLst>
                </a:gridCol>
              </a:tblGrid>
              <a:tr h="46708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instrutor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bg1"/>
                          </a:solidFill>
                          <a:effectLst/>
                        </a:rPr>
                        <a:t>ano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955308"/>
                  </a:ext>
                </a:extLst>
              </a:tr>
              <a:tr h="46708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Ruan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bg1"/>
                          </a:solidFill>
                          <a:effectLst/>
                        </a:rPr>
                        <a:t>2025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616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2901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816" y="5721591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4" y="1344373"/>
            <a:ext cx="9435948" cy="347787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pt-BR" altLang="pt-BR" sz="2200" dirty="0"/>
          </a:p>
          <a:p>
            <a:endParaRPr lang="pt-BR" altLang="pt-BR" sz="2200" dirty="0"/>
          </a:p>
          <a:p>
            <a:endParaRPr lang="pt-BR" altLang="pt-BR" sz="2200" dirty="0"/>
          </a:p>
          <a:p>
            <a:endParaRPr lang="pt-BR" altLang="pt-BR" sz="2200" dirty="0"/>
          </a:p>
          <a:p>
            <a:endParaRPr lang="pt-BR" sz="2200" dirty="0"/>
          </a:p>
          <a:p>
            <a:endParaRPr lang="pt-BR" sz="2200" dirty="0"/>
          </a:p>
          <a:p>
            <a:endParaRPr lang="pt-BR" sz="2200" dirty="0"/>
          </a:p>
          <a:p>
            <a:endParaRPr lang="pt-BR" sz="2200" dirty="0"/>
          </a:p>
          <a:p>
            <a:endParaRPr lang="pt-BR" sz="2200" dirty="0"/>
          </a:p>
          <a:p>
            <a:endParaRPr lang="pt-BR" sz="2200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ADCAFD-1E17-46CD-AF45-5B119E26D6C4}"/>
              </a:ext>
            </a:extLst>
          </p:cNvPr>
          <p:cNvSpPr txBox="1">
            <a:spLocks/>
          </p:cNvSpPr>
          <p:nvPr/>
        </p:nvSpPr>
        <p:spPr>
          <a:xfrm>
            <a:off x="338844" y="407400"/>
            <a:ext cx="9692640" cy="9369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500" b="1" dirty="0">
                <a:solidFill>
                  <a:srgbClr val="00758F"/>
                </a:solidFill>
              </a:rPr>
              <a:t>Procedures e </a:t>
            </a:r>
            <a:r>
              <a:rPr lang="pt-BR" sz="3500" b="1" dirty="0" err="1">
                <a:solidFill>
                  <a:srgbClr val="00758F"/>
                </a:solidFill>
              </a:rPr>
              <a:t>Functions</a:t>
            </a:r>
            <a:r>
              <a:rPr lang="pt-BR" sz="3500" b="1" dirty="0">
                <a:solidFill>
                  <a:srgbClr val="00758F"/>
                </a:solidFill>
              </a:rPr>
              <a:t>: </a:t>
            </a:r>
            <a:br>
              <a:rPr lang="pt-BR" sz="3500" b="1" dirty="0">
                <a:solidFill>
                  <a:srgbClr val="00758F"/>
                </a:solidFill>
              </a:rPr>
            </a:br>
            <a:r>
              <a:rPr lang="pt-BR" sz="3500" b="1" dirty="0">
                <a:solidFill>
                  <a:srgbClr val="F39211"/>
                </a:solidFill>
              </a:rPr>
              <a:t>1.2 Tabela Dual - Exercícios</a:t>
            </a:r>
            <a:endParaRPr lang="pt-BR" sz="3500" dirty="0">
              <a:solidFill>
                <a:srgbClr val="F39211"/>
              </a:solidFill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B7BF7D56-CDE0-4A82-AE57-AF96141FE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844" y="1513649"/>
            <a:ext cx="9235462" cy="313932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Exercício 1:</a:t>
            </a:r>
            <a:b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</a:b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Mostre o resultado de 120 + 80 usando 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SELECT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 direto.</a:t>
            </a:r>
            <a:b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</a:br>
            <a:b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</a:b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Exercício 2:</a:t>
            </a:r>
            <a:endParaRPr kumimoji="0" lang="pt-BR" altLang="pt-BR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Use a DUAL para retornar o nome da sua cidade e o ano atual.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</a:b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Exercício 3:</a:t>
            </a:r>
            <a:endParaRPr kumimoji="0" lang="pt-BR" altLang="pt-BR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Teste sua função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calcular_desconto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  <a:ea typeface="Times New Roman" panose="02020603050405020304" pitchFamily="18" charset="0"/>
              </a:rPr>
              <a:t> com o valor 300 e exiba o resultado usando DUAL.</a:t>
            </a: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10038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816" y="5721591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4" y="1344373"/>
            <a:ext cx="9435948" cy="347787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pt-BR" altLang="pt-BR" sz="2200" dirty="0"/>
          </a:p>
          <a:p>
            <a:endParaRPr lang="pt-BR" altLang="pt-BR" sz="2200" dirty="0"/>
          </a:p>
          <a:p>
            <a:endParaRPr lang="pt-BR" altLang="pt-BR" sz="2200" dirty="0"/>
          </a:p>
          <a:p>
            <a:endParaRPr lang="pt-BR" altLang="pt-BR" sz="2200" dirty="0"/>
          </a:p>
          <a:p>
            <a:endParaRPr lang="pt-BR" sz="2200" dirty="0"/>
          </a:p>
          <a:p>
            <a:endParaRPr lang="pt-BR" sz="2200" dirty="0"/>
          </a:p>
          <a:p>
            <a:endParaRPr lang="pt-BR" sz="2200" dirty="0"/>
          </a:p>
          <a:p>
            <a:endParaRPr lang="pt-BR" sz="2200" dirty="0"/>
          </a:p>
          <a:p>
            <a:endParaRPr lang="pt-BR" sz="2200" dirty="0"/>
          </a:p>
          <a:p>
            <a:endParaRPr lang="pt-BR" sz="2200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ADCAFD-1E17-46CD-AF45-5B119E26D6C4}"/>
              </a:ext>
            </a:extLst>
          </p:cNvPr>
          <p:cNvSpPr txBox="1">
            <a:spLocks/>
          </p:cNvSpPr>
          <p:nvPr/>
        </p:nvSpPr>
        <p:spPr>
          <a:xfrm>
            <a:off x="338844" y="407400"/>
            <a:ext cx="9692640" cy="9369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500" b="1" dirty="0">
                <a:solidFill>
                  <a:srgbClr val="00758F"/>
                </a:solidFill>
              </a:rPr>
              <a:t>Procedures e </a:t>
            </a:r>
            <a:r>
              <a:rPr lang="pt-BR" sz="3500" b="1" dirty="0" err="1">
                <a:solidFill>
                  <a:srgbClr val="00758F"/>
                </a:solidFill>
              </a:rPr>
              <a:t>Functions</a:t>
            </a:r>
            <a:r>
              <a:rPr lang="pt-BR" sz="3500" b="1" dirty="0">
                <a:solidFill>
                  <a:srgbClr val="00758F"/>
                </a:solidFill>
              </a:rPr>
              <a:t>: </a:t>
            </a:r>
            <a:br>
              <a:rPr lang="pt-BR" sz="3500" b="1" dirty="0">
                <a:solidFill>
                  <a:srgbClr val="00758F"/>
                </a:solidFill>
              </a:rPr>
            </a:br>
            <a:r>
              <a:rPr lang="pt-BR" sz="3500" b="1" dirty="0">
                <a:solidFill>
                  <a:srgbClr val="F39211"/>
                </a:solidFill>
              </a:rPr>
              <a:t>1.0 Automatizando Processos no Banco </a:t>
            </a:r>
            <a:endParaRPr lang="pt-BR" sz="3500" dirty="0">
              <a:solidFill>
                <a:srgbClr val="F39211"/>
              </a:solidFill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B7BF7D56-CDE0-4A82-AE57-AF96141FE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844" y="1334029"/>
            <a:ext cx="9235462" cy="53245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O </a:t>
            </a:r>
            <a:r>
              <a:rPr lang="pt-BR" sz="2000" b="1" dirty="0" err="1"/>
              <a:t>Event</a:t>
            </a:r>
            <a:r>
              <a:rPr lang="pt-BR" sz="2000" b="1" dirty="0"/>
              <a:t> </a:t>
            </a:r>
            <a:r>
              <a:rPr lang="pt-BR" sz="2000" b="1" dirty="0" err="1"/>
              <a:t>Scheduler</a:t>
            </a:r>
            <a:r>
              <a:rPr lang="pt-BR" sz="2000" dirty="0"/>
              <a:t> é um </a:t>
            </a:r>
            <a:r>
              <a:rPr lang="pt-BR" sz="2000" b="1" dirty="0" err="1"/>
              <a:t>agendador</a:t>
            </a:r>
            <a:r>
              <a:rPr lang="pt-BR" sz="2000" b="1" dirty="0"/>
              <a:t> interno do MySQL</a:t>
            </a:r>
            <a:r>
              <a:rPr lang="pt-BR" sz="2000" dirty="0"/>
              <a:t> que executa comandos SQL automaticamente em horários ou intervalos definidos.</a:t>
            </a:r>
          </a:p>
          <a:p>
            <a:r>
              <a:rPr lang="pt-BR" sz="2000" dirty="0"/>
              <a:t>É como um "</a:t>
            </a:r>
            <a:r>
              <a:rPr lang="pt-BR" sz="2000" b="1" dirty="0" err="1"/>
              <a:t>cron</a:t>
            </a:r>
            <a:r>
              <a:rPr lang="pt-BR" sz="2000" b="1" dirty="0"/>
              <a:t> </a:t>
            </a:r>
            <a:r>
              <a:rPr lang="pt-BR" sz="2000" b="1" dirty="0" err="1"/>
              <a:t>job</a:t>
            </a:r>
            <a:r>
              <a:rPr lang="pt-BR" sz="2000" dirty="0"/>
              <a:t>" nativo do banco.</a:t>
            </a:r>
          </a:p>
          <a:p>
            <a:endParaRPr lang="pt-BR" sz="2000" dirty="0"/>
          </a:p>
          <a:p>
            <a:r>
              <a:rPr lang="pt-BR" sz="2000" dirty="0"/>
              <a:t>Apenas para pontuar, um </a:t>
            </a:r>
            <a:r>
              <a:rPr lang="pt-BR" sz="2000" b="1" dirty="0" err="1"/>
              <a:t>cron</a:t>
            </a:r>
            <a:r>
              <a:rPr lang="pt-BR" sz="2000" b="1" dirty="0"/>
              <a:t> </a:t>
            </a:r>
            <a:r>
              <a:rPr lang="pt-BR" sz="2000" b="1" dirty="0" err="1"/>
              <a:t>job</a:t>
            </a:r>
            <a:r>
              <a:rPr lang="pt-BR" sz="2000" dirty="0"/>
              <a:t> é uma tarefa agendada que executa um comando ou script em intervalos regulares ou em datas específicas, geralmente em sistemas Unix/Linux. É uma ferramenta essencial para automatizar tarefas repetitivas, como backups, limpeza de arquivos temporários, envio de e-mails, entre outras</a:t>
            </a:r>
          </a:p>
          <a:p>
            <a:endParaRPr lang="pt-BR" sz="2000" dirty="0"/>
          </a:p>
          <a:p>
            <a:r>
              <a:rPr lang="pt-BR" sz="2000" b="1" dirty="0"/>
              <a:t>Para que serve?</a:t>
            </a:r>
            <a:endParaRPr lang="pt-BR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/>
              <a:t>Limpeza automática de dados antigos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/>
              <a:t>Atualização periódica de status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/>
              <a:t>Geração de backups lógicos (em tabelas auxiliares)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/>
              <a:t>Recalcular métricas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/>
              <a:t>Enviar logs para auditoria (via </a:t>
            </a:r>
            <a:r>
              <a:rPr lang="pt-BR" sz="2000" dirty="0" err="1"/>
              <a:t>insert</a:t>
            </a:r>
            <a:r>
              <a:rPr lang="pt-BR" sz="2000" dirty="0"/>
              <a:t>)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237152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816" y="5721591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4" y="1344373"/>
            <a:ext cx="9435948" cy="347787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pt-BR" altLang="pt-BR" sz="2200" dirty="0"/>
          </a:p>
          <a:p>
            <a:endParaRPr lang="pt-BR" altLang="pt-BR" sz="2200" dirty="0"/>
          </a:p>
          <a:p>
            <a:endParaRPr lang="pt-BR" altLang="pt-BR" sz="2200" dirty="0"/>
          </a:p>
          <a:p>
            <a:endParaRPr lang="pt-BR" altLang="pt-BR" sz="2200" dirty="0"/>
          </a:p>
          <a:p>
            <a:endParaRPr lang="pt-BR" sz="2200" dirty="0"/>
          </a:p>
          <a:p>
            <a:endParaRPr lang="pt-BR" sz="2200" dirty="0"/>
          </a:p>
          <a:p>
            <a:endParaRPr lang="pt-BR" sz="2200" dirty="0"/>
          </a:p>
          <a:p>
            <a:endParaRPr lang="pt-BR" sz="2200" dirty="0"/>
          </a:p>
          <a:p>
            <a:endParaRPr lang="pt-BR" sz="2200" dirty="0"/>
          </a:p>
          <a:p>
            <a:endParaRPr lang="pt-BR" sz="2200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ADCAFD-1E17-46CD-AF45-5B119E26D6C4}"/>
              </a:ext>
            </a:extLst>
          </p:cNvPr>
          <p:cNvSpPr txBox="1">
            <a:spLocks/>
          </p:cNvSpPr>
          <p:nvPr/>
        </p:nvSpPr>
        <p:spPr>
          <a:xfrm>
            <a:off x="338844" y="407400"/>
            <a:ext cx="9692640" cy="9369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500" b="1" dirty="0">
                <a:solidFill>
                  <a:srgbClr val="00758F"/>
                </a:solidFill>
              </a:rPr>
              <a:t>Procedures e </a:t>
            </a:r>
            <a:r>
              <a:rPr lang="pt-BR" sz="3500" b="1" dirty="0" err="1">
                <a:solidFill>
                  <a:srgbClr val="00758F"/>
                </a:solidFill>
              </a:rPr>
              <a:t>Functions</a:t>
            </a:r>
            <a:r>
              <a:rPr lang="pt-BR" sz="3500" b="1" dirty="0">
                <a:solidFill>
                  <a:srgbClr val="00758F"/>
                </a:solidFill>
              </a:rPr>
              <a:t>: </a:t>
            </a:r>
            <a:br>
              <a:rPr lang="pt-BR" sz="3500" b="1" dirty="0">
                <a:solidFill>
                  <a:srgbClr val="00758F"/>
                </a:solidFill>
              </a:rPr>
            </a:br>
            <a:r>
              <a:rPr lang="pt-BR" sz="3500" b="1" dirty="0">
                <a:solidFill>
                  <a:srgbClr val="F39211"/>
                </a:solidFill>
              </a:rPr>
              <a:t>1.1 Automatizando Processos no Banco </a:t>
            </a:r>
            <a:endParaRPr lang="pt-BR" sz="3500" dirty="0">
              <a:solidFill>
                <a:srgbClr val="F3921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81ADCDC-D534-4E76-8AFC-0A386B01E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844" y="1338932"/>
            <a:ext cx="9392972" cy="621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Como ativar o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Event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Scheduler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Você pode ativar de forma temporária: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</a:b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SET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GLOBAL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event_scheduler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ON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Ou permanente no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my.cnf</a:t>
            </a:r>
            <a:r>
              <a:rPr kumimoji="0" lang="pt-BR" altLang="pt-B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ou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my.ini</a:t>
            </a:r>
            <a:r>
              <a:rPr kumimoji="0" lang="pt-BR" altLang="pt-B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event_scheduler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b="1" dirty="0">
              <a:solidFill>
                <a:srgbClr val="0000FF"/>
              </a:solidFill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Sintaxe básica: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</a:br>
            <a:b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</a:br>
            <a:b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</a:br>
            <a:endParaRPr lang="pt-BR" altLang="pt-BR" b="1" dirty="0">
              <a:solidFill>
                <a:srgbClr val="0000FF"/>
              </a:solidFill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pt-BR" altLang="pt-BR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cs typeface="Courier New" panose="020703090202050204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b="1" dirty="0">
              <a:solidFill>
                <a:srgbClr val="0000FF"/>
              </a:solidFill>
              <a:cs typeface="Courier New" panose="020703090202050204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pt-BR" altLang="pt-BR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cs typeface="Courier New" panose="020703090202050204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b="1" dirty="0">
              <a:solidFill>
                <a:srgbClr val="0000FF"/>
              </a:solidFill>
              <a:cs typeface="Courier New" panose="020703090202050204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pt-BR" altLang="pt-BR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cs typeface="Courier New" panose="020703090202050204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b="1" dirty="0">
              <a:solidFill>
                <a:srgbClr val="0000FF"/>
              </a:solidFill>
              <a:cs typeface="Courier New" panose="020703090202050204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pt-BR" altLang="pt-BR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cs typeface="Courier New" panose="02070309020205020404" pitchFamily="49" charset="0"/>
            </a:endParaRPr>
          </a:p>
        </p:txBody>
      </p:sp>
      <p:sp>
        <p:nvSpPr>
          <p:cNvPr id="9" name="Caixa de Texto 13">
            <a:extLst>
              <a:ext uri="{FF2B5EF4-FFF2-40B4-BE49-F238E27FC236}">
                <a16:creationId xmlns:a16="http://schemas.microsoft.com/office/drawing/2014/main" id="{1E3DA304-5F07-42A0-9E57-7E20B3276C6F}"/>
              </a:ext>
            </a:extLst>
          </p:cNvPr>
          <p:cNvSpPr txBox="1"/>
          <p:nvPr/>
        </p:nvSpPr>
        <p:spPr>
          <a:xfrm>
            <a:off x="338844" y="4511099"/>
            <a:ext cx="6527177" cy="2147465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CREATE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EVENT </a:t>
            </a:r>
            <a:r>
              <a:rPr lang="pt-BR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nome_evento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ON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SCHEDULE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EVERY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FF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1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DAY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STARTS </a:t>
            </a: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CURRENT_TIMESTAMP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+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INTERVAL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FF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1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MINUTE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DO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pt-BR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-- Comando que será executado;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39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816" y="5721591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4" y="3982533"/>
            <a:ext cx="9435948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000" b="1" dirty="0"/>
              <a:t>Exemplo 2</a:t>
            </a:r>
            <a:r>
              <a:rPr lang="pt-BR" sz="2000" dirty="0"/>
              <a:t>: copiar vendas do dia para tabela de histórico</a:t>
            </a:r>
            <a:br>
              <a:rPr lang="pt-BR" sz="2000" dirty="0"/>
            </a:br>
            <a:endParaRPr lang="pt-BR" sz="2000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ADCAFD-1E17-46CD-AF45-5B119E26D6C4}"/>
              </a:ext>
            </a:extLst>
          </p:cNvPr>
          <p:cNvSpPr txBox="1">
            <a:spLocks/>
          </p:cNvSpPr>
          <p:nvPr/>
        </p:nvSpPr>
        <p:spPr>
          <a:xfrm>
            <a:off x="338844" y="407400"/>
            <a:ext cx="9692640" cy="9369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500" b="1" dirty="0">
                <a:solidFill>
                  <a:srgbClr val="00758F"/>
                </a:solidFill>
              </a:rPr>
              <a:t>Procedures e </a:t>
            </a:r>
            <a:r>
              <a:rPr lang="pt-BR" sz="3500" b="1" dirty="0" err="1">
                <a:solidFill>
                  <a:srgbClr val="00758F"/>
                </a:solidFill>
              </a:rPr>
              <a:t>Functions</a:t>
            </a:r>
            <a:r>
              <a:rPr lang="pt-BR" sz="3500" b="1" dirty="0">
                <a:solidFill>
                  <a:srgbClr val="00758F"/>
                </a:solidFill>
              </a:rPr>
              <a:t>: </a:t>
            </a:r>
            <a:br>
              <a:rPr lang="pt-BR" sz="3500" b="1" dirty="0">
                <a:solidFill>
                  <a:srgbClr val="00758F"/>
                </a:solidFill>
              </a:rPr>
            </a:br>
            <a:r>
              <a:rPr lang="pt-BR" sz="3500" b="1" dirty="0">
                <a:solidFill>
                  <a:srgbClr val="F39211"/>
                </a:solidFill>
              </a:rPr>
              <a:t>1.2 Automatizando Processos no Banco </a:t>
            </a:r>
            <a:endParaRPr lang="pt-BR" sz="3500" dirty="0">
              <a:solidFill>
                <a:srgbClr val="F3921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81ADCDC-D534-4E76-8AFC-0A386B01E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844" y="1440102"/>
            <a:ext cx="939297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2000" b="1" dirty="0"/>
              <a:t>Exemplo 1: </a:t>
            </a:r>
            <a:r>
              <a:rPr lang="pt-BR" sz="2000" dirty="0"/>
              <a:t>desativar clientes inativos há 1 ano</a:t>
            </a:r>
            <a:br>
              <a:rPr lang="pt-BR" sz="2000" b="1" dirty="0"/>
            </a:br>
            <a:endParaRPr lang="pt-BR" sz="2000" dirty="0"/>
          </a:p>
        </p:txBody>
      </p:sp>
      <p:sp>
        <p:nvSpPr>
          <p:cNvPr id="7" name="Caixa de Texto 13">
            <a:extLst>
              <a:ext uri="{FF2B5EF4-FFF2-40B4-BE49-F238E27FC236}">
                <a16:creationId xmlns:a16="http://schemas.microsoft.com/office/drawing/2014/main" id="{8FE3AA99-081E-45EF-BDFF-B31001576F6E}"/>
              </a:ext>
            </a:extLst>
          </p:cNvPr>
          <p:cNvSpPr txBox="1"/>
          <p:nvPr/>
        </p:nvSpPr>
        <p:spPr>
          <a:xfrm>
            <a:off x="454803" y="1927780"/>
            <a:ext cx="6266839" cy="1890241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CREATE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EVENT </a:t>
            </a:r>
            <a:r>
              <a:rPr lang="pt-BR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nome_evento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ON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SCHEDULE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EVERY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FF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1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DAY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STARTS </a:t>
            </a: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CURRENT_TIMESTAMP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+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INTERVAL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FF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1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MINUTE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DO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pt-BR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-- Comando que será executado;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  <p:sp>
        <p:nvSpPr>
          <p:cNvPr id="8" name="Caixa de Texto 12">
            <a:extLst>
              <a:ext uri="{FF2B5EF4-FFF2-40B4-BE49-F238E27FC236}">
                <a16:creationId xmlns:a16="http://schemas.microsoft.com/office/drawing/2014/main" id="{6507308E-DB36-4CE3-A453-0AE600F20587}"/>
              </a:ext>
            </a:extLst>
          </p:cNvPr>
          <p:cNvSpPr txBox="1"/>
          <p:nvPr/>
        </p:nvSpPr>
        <p:spPr>
          <a:xfrm>
            <a:off x="454803" y="4602390"/>
            <a:ext cx="8127723" cy="184821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CREATE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EVENT </a:t>
            </a:r>
            <a:r>
              <a:rPr lang="pt-BR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desativar_clientes_antigos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ON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SCHEDULE </a:t>
            </a: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EVERY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FF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1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DAY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DO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UPDATE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clientes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SET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ativo </a:t>
            </a:r>
            <a:r>
              <a:rPr lang="pt-BR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=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FF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0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WHERE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DATEDIFF</a:t>
            </a:r>
            <a:r>
              <a:rPr lang="pt-BR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CURDATE</a:t>
            </a:r>
            <a:r>
              <a:rPr lang="pt-BR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(),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data_ultimo_pedido</a:t>
            </a:r>
            <a:r>
              <a:rPr lang="pt-BR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&gt;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FF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365</a:t>
            </a:r>
            <a:r>
              <a:rPr lang="pt-BR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018538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816" y="5721591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2429ED1-240B-46E5-AD88-4BEA0C471481}"/>
              </a:ext>
            </a:extLst>
          </p:cNvPr>
          <p:cNvSpPr/>
          <p:nvPr/>
        </p:nvSpPr>
        <p:spPr>
          <a:xfrm>
            <a:off x="338843" y="2020852"/>
            <a:ext cx="9912061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pt-BR" sz="2000" dirty="0">
                <a:ea typeface="Times New Roman" panose="02020603050405020304" pitchFamily="18" charset="0"/>
              </a:rPr>
              <a:t>O </a:t>
            </a:r>
            <a:r>
              <a:rPr lang="pt-BR" sz="2000" dirty="0" err="1">
                <a:ea typeface="Times New Roman" panose="02020603050405020304" pitchFamily="18" charset="0"/>
              </a:rPr>
              <a:t>Event</a:t>
            </a:r>
            <a:r>
              <a:rPr lang="pt-BR" sz="2000" dirty="0">
                <a:ea typeface="Times New Roman" panose="02020603050405020304" pitchFamily="18" charset="0"/>
              </a:rPr>
              <a:t> </a:t>
            </a:r>
            <a:r>
              <a:rPr lang="pt-BR" sz="2000" dirty="0" err="1">
                <a:ea typeface="Times New Roman" panose="02020603050405020304" pitchFamily="18" charset="0"/>
              </a:rPr>
              <a:t>Scheduler</a:t>
            </a:r>
            <a:r>
              <a:rPr lang="pt-BR" sz="2000" dirty="0">
                <a:ea typeface="Times New Roman" panose="02020603050405020304" pitchFamily="18" charset="0"/>
              </a:rPr>
              <a:t> é como um </a:t>
            </a:r>
            <a:r>
              <a:rPr lang="pt-BR" sz="2000" b="1" dirty="0">
                <a:ea typeface="Times New Roman" panose="02020603050405020304" pitchFamily="18" charset="0"/>
              </a:rPr>
              <a:t>robô interno do banco</a:t>
            </a:r>
            <a:r>
              <a:rPr lang="pt-BR" sz="2000" dirty="0">
                <a:ea typeface="Times New Roman" panose="02020603050405020304" pitchFamily="18" charset="0"/>
              </a:rPr>
              <a:t>, que você programa para executar comandos sozinho em horários fixos.</a:t>
            </a:r>
          </a:p>
          <a:p>
            <a:pPr>
              <a:spcAft>
                <a:spcPts val="0"/>
              </a:spcAft>
            </a:pPr>
            <a:endParaRPr lang="pt-BR" sz="2000" dirty="0">
              <a:ea typeface="Times New Roman" panose="02020603050405020304" pitchFamily="18" charset="0"/>
            </a:endParaRPr>
          </a:p>
          <a:p>
            <a:r>
              <a:rPr lang="pt-BR" altLang="pt-BR" sz="20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Exercício 1:</a:t>
            </a:r>
            <a:br>
              <a:rPr lang="pt-BR" altLang="pt-BR" sz="2000" dirty="0"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Crie um evento chamado </a:t>
            </a:r>
            <a:r>
              <a:rPr lang="pt-BR" altLang="pt-BR" sz="2000" dirty="0" err="1">
                <a:ea typeface="Times New Roman" panose="02020603050405020304" pitchFamily="18" charset="0"/>
                <a:cs typeface="Courier New" panose="02070309020205020404" pitchFamily="49" charset="0"/>
              </a:rPr>
              <a:t>ajustar_estoque_zero</a:t>
            </a:r>
            <a:r>
              <a:rPr lang="pt-BR" altLang="pt-BR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 que zere o estoque dos produtos com status inativo (</a:t>
            </a:r>
            <a:r>
              <a:rPr lang="pt-BR" altLang="pt-BR" sz="2000" dirty="0">
                <a:ea typeface="Times New Roman" panose="02020603050405020304" pitchFamily="18" charset="0"/>
                <a:cs typeface="Courier New" panose="02070309020205020404" pitchFamily="49" charset="0"/>
              </a:rPr>
              <a:t>ativo = 0</a:t>
            </a:r>
            <a:r>
              <a:rPr lang="pt-BR" altLang="pt-BR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), a cada 12 horas.</a:t>
            </a:r>
            <a:endParaRPr lang="pt-BR" sz="2000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pt-BR" sz="2000" dirty="0">
              <a:ea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000" b="1" dirty="0">
                <a:ea typeface="Times New Roman" panose="02020603050405020304" pitchFamily="18" charset="0"/>
              </a:rPr>
              <a:t>Exercício 2:</a:t>
            </a:r>
            <a:br>
              <a:rPr lang="pt-BR" altLang="pt-BR" sz="2000" dirty="0">
                <a:ea typeface="Times New Roman" panose="02020603050405020304" pitchFamily="18" charset="0"/>
              </a:rPr>
            </a:br>
            <a:r>
              <a:rPr lang="pt-BR" altLang="pt-BR" sz="2000" dirty="0">
                <a:ea typeface="Times New Roman" panose="02020603050405020304" pitchFamily="18" charset="0"/>
              </a:rPr>
              <a:t>Crie um evento chamado </a:t>
            </a:r>
            <a:r>
              <a:rPr lang="pt-BR" altLang="pt-BR" sz="2000" dirty="0" err="1">
                <a:ea typeface="Times New Roman" panose="02020603050405020304" pitchFamily="18" charset="0"/>
              </a:rPr>
              <a:t>log_clientes_inativos</a:t>
            </a:r>
            <a:r>
              <a:rPr lang="pt-BR" altLang="pt-BR" sz="2000" dirty="0">
                <a:ea typeface="Times New Roman" panose="02020603050405020304" pitchFamily="18" charset="0"/>
              </a:rPr>
              <a:t> que insira na tabela </a:t>
            </a:r>
            <a:r>
              <a:rPr lang="pt-BR" altLang="pt-BR" sz="2000" dirty="0" err="1">
                <a:ea typeface="Times New Roman" panose="02020603050405020304" pitchFamily="18" charset="0"/>
              </a:rPr>
              <a:t>log_eventos</a:t>
            </a:r>
            <a:r>
              <a:rPr lang="pt-BR" altLang="pt-BR" sz="2000" dirty="0">
                <a:ea typeface="Times New Roman" panose="02020603050405020304" pitchFamily="18" charset="0"/>
              </a:rPr>
              <a:t> o total de clientes inativos a cada dia.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20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000" b="1" dirty="0">
                <a:ea typeface="Times New Roman" panose="02020603050405020304" pitchFamily="18" charset="0"/>
              </a:rPr>
              <a:t>Exercício 3:</a:t>
            </a:r>
            <a:br>
              <a:rPr lang="pt-BR" altLang="pt-BR" sz="2000" dirty="0">
                <a:ea typeface="Times New Roman" panose="02020603050405020304" pitchFamily="18" charset="0"/>
              </a:rPr>
            </a:br>
            <a:r>
              <a:rPr lang="pt-BR" altLang="pt-BR" sz="2000" dirty="0">
                <a:ea typeface="Times New Roman" panose="02020603050405020304" pitchFamily="18" charset="0"/>
              </a:rPr>
              <a:t>Crie um evento que rode todo dia às 23h e atualize o status de vendas para 'encerrada' se a data for anterior ao dia atual.</a:t>
            </a:r>
            <a:endParaRPr lang="pt-BR" altLang="pt-BR" sz="2000" dirty="0"/>
          </a:p>
          <a:p>
            <a:pPr>
              <a:spcAft>
                <a:spcPts val="0"/>
              </a:spcAft>
            </a:pPr>
            <a:endParaRPr lang="pt-BR" sz="2000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pt-BR" sz="2000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pt-BR" sz="2000" dirty="0">
              <a:ea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7A90DAE-DEC6-4588-8B28-32F31260B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0341FDA6-A225-4ECF-B2C1-170870E9DF2C}"/>
              </a:ext>
            </a:extLst>
          </p:cNvPr>
          <p:cNvSpPr txBox="1">
            <a:spLocks/>
          </p:cNvSpPr>
          <p:nvPr/>
        </p:nvSpPr>
        <p:spPr>
          <a:xfrm>
            <a:off x="338843" y="865542"/>
            <a:ext cx="9692640" cy="9369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500" b="1" dirty="0">
                <a:solidFill>
                  <a:srgbClr val="00758F"/>
                </a:solidFill>
              </a:rPr>
              <a:t>Procedures e </a:t>
            </a:r>
            <a:r>
              <a:rPr lang="pt-BR" sz="3500" b="1" dirty="0" err="1">
                <a:solidFill>
                  <a:srgbClr val="00758F"/>
                </a:solidFill>
              </a:rPr>
              <a:t>Functions</a:t>
            </a:r>
            <a:r>
              <a:rPr lang="pt-BR" sz="3500" b="1" dirty="0">
                <a:solidFill>
                  <a:srgbClr val="00758F"/>
                </a:solidFill>
              </a:rPr>
              <a:t>: </a:t>
            </a:r>
            <a:br>
              <a:rPr lang="pt-BR" sz="3500" b="1" dirty="0">
                <a:solidFill>
                  <a:srgbClr val="00758F"/>
                </a:solidFill>
              </a:rPr>
            </a:br>
            <a:r>
              <a:rPr lang="pt-BR" sz="3500" b="1" dirty="0">
                <a:solidFill>
                  <a:srgbClr val="F39211"/>
                </a:solidFill>
              </a:rPr>
              <a:t>1.3 Automatizando Processos no Banco –</a:t>
            </a:r>
          </a:p>
          <a:p>
            <a:r>
              <a:rPr lang="pt-BR" sz="3500" b="1" dirty="0">
                <a:solidFill>
                  <a:srgbClr val="F39211"/>
                </a:solidFill>
              </a:rPr>
              <a:t>Exercícios </a:t>
            </a:r>
            <a:endParaRPr lang="pt-BR" sz="3500" dirty="0">
              <a:solidFill>
                <a:srgbClr val="F392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106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816" y="5721591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2429ED1-240B-46E5-AD88-4BEA0C471481}"/>
              </a:ext>
            </a:extLst>
          </p:cNvPr>
          <p:cNvSpPr/>
          <p:nvPr/>
        </p:nvSpPr>
        <p:spPr>
          <a:xfrm>
            <a:off x="338844" y="1344373"/>
            <a:ext cx="9912061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b="1" dirty="0"/>
              <a:t>Importante:</a:t>
            </a:r>
            <a:endParaRPr lang="pt-BR" sz="2000" dirty="0"/>
          </a:p>
          <a:p>
            <a:pPr lvl="0"/>
            <a:r>
              <a:rPr lang="pt-BR" dirty="0" err="1"/>
              <a:t>Event</a:t>
            </a:r>
            <a:r>
              <a:rPr lang="pt-BR" dirty="0"/>
              <a:t> </a:t>
            </a:r>
            <a:r>
              <a:rPr lang="pt-BR" dirty="0" err="1"/>
              <a:t>Scheduler</a:t>
            </a:r>
            <a:r>
              <a:rPr lang="pt-BR" dirty="0"/>
              <a:t> precisa estar </a:t>
            </a:r>
            <a:r>
              <a:rPr lang="pt-BR" b="1" dirty="0"/>
              <a:t>ligado</a:t>
            </a:r>
            <a:r>
              <a:rPr lang="pt-BR" dirty="0"/>
              <a:t>.</a:t>
            </a:r>
          </a:p>
          <a:p>
            <a:pPr lvl="0"/>
            <a:r>
              <a:rPr lang="pt-BR" dirty="0"/>
              <a:t>Eventos são </a:t>
            </a:r>
            <a:r>
              <a:rPr lang="pt-BR" b="1" dirty="0"/>
              <a:t>associados ao banco</a:t>
            </a:r>
            <a:r>
              <a:rPr lang="pt-BR" dirty="0"/>
              <a:t>, mas o controle é global.</a:t>
            </a:r>
          </a:p>
          <a:p>
            <a:pPr lvl="0"/>
            <a:r>
              <a:rPr lang="pt-BR" dirty="0"/>
              <a:t>Você pode </a:t>
            </a:r>
            <a:r>
              <a:rPr lang="pt-BR" b="1" dirty="0"/>
              <a:t>pausar, alterar ou deletar eventos</a:t>
            </a:r>
            <a:r>
              <a:rPr lang="pt-BR" dirty="0"/>
              <a:t> com:</a:t>
            </a:r>
          </a:p>
          <a:p>
            <a:pPr lvl="0"/>
            <a:endParaRPr lang="pt-BR" dirty="0"/>
          </a:p>
          <a:p>
            <a:r>
              <a:rPr lang="pt-BR" sz="2000" dirty="0"/>
              <a:t>Exemplo:</a:t>
            </a:r>
            <a:br>
              <a:rPr lang="pt-BR" dirty="0"/>
            </a:br>
            <a:r>
              <a:rPr lang="pt-BR" b="1" dirty="0">
                <a:solidFill>
                  <a:srgbClr val="0000FF"/>
                </a:solidFill>
              </a:rPr>
              <a:t>ALTER</a:t>
            </a:r>
            <a:r>
              <a:rPr lang="pt-BR" dirty="0"/>
              <a:t> </a:t>
            </a:r>
            <a:r>
              <a:rPr lang="pt-BR" dirty="0">
                <a:solidFill>
                  <a:srgbClr val="0000FF"/>
                </a:solidFill>
              </a:rPr>
              <a:t>EVENT</a:t>
            </a:r>
            <a:r>
              <a:rPr lang="pt-BR" dirty="0"/>
              <a:t> </a:t>
            </a:r>
            <a:r>
              <a:rPr lang="pt-BR" dirty="0" err="1"/>
              <a:t>nome_evento</a:t>
            </a:r>
            <a:r>
              <a:rPr lang="pt-BR" dirty="0"/>
              <a:t> </a:t>
            </a:r>
            <a:r>
              <a:rPr lang="pt-BR" dirty="0">
                <a:solidFill>
                  <a:srgbClr val="0000FF"/>
                </a:solidFill>
              </a:rPr>
              <a:t>DISABLE</a:t>
            </a:r>
            <a:r>
              <a:rPr lang="pt-BR" b="1" dirty="0"/>
              <a:t>;</a:t>
            </a:r>
            <a:endParaRPr lang="pt-BR" dirty="0"/>
          </a:p>
          <a:p>
            <a:r>
              <a:rPr lang="pt-BR" b="1" dirty="0">
                <a:solidFill>
                  <a:srgbClr val="0000FF"/>
                </a:solidFill>
              </a:rPr>
              <a:t>DROP</a:t>
            </a:r>
            <a:r>
              <a:rPr lang="pt-BR" dirty="0"/>
              <a:t> </a:t>
            </a:r>
            <a:r>
              <a:rPr lang="pt-BR" dirty="0">
                <a:solidFill>
                  <a:srgbClr val="0000FF"/>
                </a:solidFill>
              </a:rPr>
              <a:t>EVENT</a:t>
            </a:r>
            <a:r>
              <a:rPr lang="pt-BR" dirty="0"/>
              <a:t> </a:t>
            </a:r>
            <a:r>
              <a:rPr lang="pt-BR" dirty="0" err="1"/>
              <a:t>nome_evento</a:t>
            </a:r>
            <a:r>
              <a:rPr lang="pt-BR" b="1" dirty="0"/>
              <a:t>;</a:t>
            </a:r>
            <a:endParaRPr lang="pt-BR" dirty="0"/>
          </a:p>
          <a:p>
            <a:br>
              <a:rPr lang="pt-BR" dirty="0"/>
            </a:br>
            <a:r>
              <a:rPr lang="pt-BR" dirty="0"/>
              <a:t>Agora, para não deixarmos os Eventos que criamos rodando a toa, vamos deletar todos eles!</a:t>
            </a:r>
          </a:p>
          <a:p>
            <a:br>
              <a:rPr lang="pt-BR" dirty="0"/>
            </a:br>
            <a:r>
              <a:rPr lang="pt-BR" sz="2000" b="1" dirty="0"/>
              <a:t>Eventos que criamos:</a:t>
            </a:r>
            <a:endParaRPr lang="pt-BR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 err="1"/>
              <a:t>desativar_clientes_antigos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 err="1"/>
              <a:t>historico_vendas_diarias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 err="1"/>
              <a:t>ajustar_estoque_zero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 err="1"/>
              <a:t>log_clientes_inativos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 err="1"/>
              <a:t>encerrar_vendas</a:t>
            </a:r>
            <a:endParaRPr lang="pt-BR" dirty="0"/>
          </a:p>
          <a:p>
            <a:pPr>
              <a:spcAft>
                <a:spcPts val="0"/>
              </a:spcAft>
            </a:pPr>
            <a:endParaRPr lang="pt-BR" sz="2000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pt-BR" sz="2000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pt-BR" sz="2000" dirty="0">
              <a:ea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7A90DAE-DEC6-4588-8B28-32F31260B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120D995-F306-43DD-B6BF-6EBB32C7A8AA}"/>
              </a:ext>
            </a:extLst>
          </p:cNvPr>
          <p:cNvSpPr txBox="1">
            <a:spLocks/>
          </p:cNvSpPr>
          <p:nvPr/>
        </p:nvSpPr>
        <p:spPr>
          <a:xfrm>
            <a:off x="338844" y="407400"/>
            <a:ext cx="9692640" cy="9369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500" b="1" dirty="0">
                <a:solidFill>
                  <a:srgbClr val="00758F"/>
                </a:solidFill>
              </a:rPr>
              <a:t>Procedures e </a:t>
            </a:r>
            <a:r>
              <a:rPr lang="pt-BR" sz="3500" b="1" dirty="0" err="1">
                <a:solidFill>
                  <a:srgbClr val="00758F"/>
                </a:solidFill>
              </a:rPr>
              <a:t>Functions</a:t>
            </a:r>
            <a:r>
              <a:rPr lang="pt-BR" sz="3500" b="1" dirty="0">
                <a:solidFill>
                  <a:srgbClr val="00758F"/>
                </a:solidFill>
              </a:rPr>
              <a:t>: </a:t>
            </a:r>
            <a:br>
              <a:rPr lang="pt-BR" sz="3500" b="1" dirty="0">
                <a:solidFill>
                  <a:srgbClr val="00758F"/>
                </a:solidFill>
              </a:rPr>
            </a:br>
            <a:r>
              <a:rPr lang="pt-BR" sz="3500" b="1" dirty="0">
                <a:solidFill>
                  <a:srgbClr val="F39211"/>
                </a:solidFill>
              </a:rPr>
              <a:t>1.4 Automatizando Processos no Banco </a:t>
            </a:r>
            <a:endParaRPr lang="pt-BR" sz="3500" dirty="0">
              <a:solidFill>
                <a:srgbClr val="F392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048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816" y="5721591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2429ED1-240B-46E5-AD88-4BEA0C471481}"/>
              </a:ext>
            </a:extLst>
          </p:cNvPr>
          <p:cNvSpPr/>
          <p:nvPr/>
        </p:nvSpPr>
        <p:spPr>
          <a:xfrm>
            <a:off x="338844" y="1445479"/>
            <a:ext cx="99120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000" b="1" dirty="0">
                <a:ea typeface="Times New Roman" panose="02020603050405020304" pitchFamily="18" charset="0"/>
              </a:rPr>
              <a:t>Query para excluir todos os eventos:</a:t>
            </a:r>
            <a:br>
              <a:rPr lang="pt-BR" altLang="pt-BR" sz="2000" b="1" dirty="0">
                <a:ea typeface="Times New Roman" panose="02020603050405020304" pitchFamily="18" charset="0"/>
              </a:rPr>
            </a:br>
            <a:br>
              <a:rPr lang="pt-BR" altLang="pt-BR" sz="2000" b="1" dirty="0">
                <a:ea typeface="Times New Roman" panose="02020603050405020304" pitchFamily="18" charset="0"/>
              </a:rPr>
            </a:br>
            <a:endParaRPr lang="pt-BR" altLang="pt-BR" sz="3200" b="1" dirty="0">
              <a:ea typeface="Times New Roman" panose="02020603050405020304" pitchFamily="18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120D995-F306-43DD-B6BF-6EBB32C7A8AA}"/>
              </a:ext>
            </a:extLst>
          </p:cNvPr>
          <p:cNvSpPr txBox="1">
            <a:spLocks/>
          </p:cNvSpPr>
          <p:nvPr/>
        </p:nvSpPr>
        <p:spPr>
          <a:xfrm>
            <a:off x="338844" y="407400"/>
            <a:ext cx="9692640" cy="9369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500" b="1" dirty="0">
                <a:solidFill>
                  <a:srgbClr val="00758F"/>
                </a:solidFill>
              </a:rPr>
              <a:t>Procedures e </a:t>
            </a:r>
            <a:r>
              <a:rPr lang="pt-BR" sz="3500" b="1" dirty="0" err="1">
                <a:solidFill>
                  <a:srgbClr val="00758F"/>
                </a:solidFill>
              </a:rPr>
              <a:t>Functions</a:t>
            </a:r>
            <a:r>
              <a:rPr lang="pt-BR" sz="3500" b="1" dirty="0">
                <a:solidFill>
                  <a:srgbClr val="00758F"/>
                </a:solidFill>
              </a:rPr>
              <a:t>: </a:t>
            </a:r>
            <a:br>
              <a:rPr lang="pt-BR" sz="3500" b="1" dirty="0">
                <a:solidFill>
                  <a:srgbClr val="00758F"/>
                </a:solidFill>
              </a:rPr>
            </a:br>
            <a:r>
              <a:rPr lang="pt-BR" sz="3500" b="1" dirty="0">
                <a:solidFill>
                  <a:srgbClr val="F39211"/>
                </a:solidFill>
              </a:rPr>
              <a:t>1.5 Automatizando Processos no Banco </a:t>
            </a:r>
            <a:endParaRPr lang="pt-BR" sz="3500" dirty="0">
              <a:solidFill>
                <a:srgbClr val="F3921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6992662-5BB9-48C9-861D-95D1D4BE1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Caixa de Texto 20">
            <a:extLst>
              <a:ext uri="{FF2B5EF4-FFF2-40B4-BE49-F238E27FC236}">
                <a16:creationId xmlns:a16="http://schemas.microsoft.com/office/drawing/2014/main" id="{BC0EF586-D758-421D-848B-661C42629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844" y="1880005"/>
            <a:ext cx="6463009" cy="467889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ALTER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EVENT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desativar_clientes_antigos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DISABLE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DROP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EVENT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desativar_clientes_antigos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ALTER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EVENT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historico_vendas_diarias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DISABLE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DROP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EVENT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historico_vendas_diarias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ALTER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EVENT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ajustar_estoque_zero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DISABLE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DROP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EVENT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ajustar_estoque_zero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ALTER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EVENT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log_clientes_inativos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DISABLE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DROP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EVENT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log_clientes_inativos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ALTER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EVENT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encerrar_vendas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DISABLE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DROP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EVENT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encerrar_vendas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527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816" y="5721591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2429ED1-240B-46E5-AD88-4BEA0C471481}"/>
              </a:ext>
            </a:extLst>
          </p:cNvPr>
          <p:cNvSpPr/>
          <p:nvPr/>
        </p:nvSpPr>
        <p:spPr>
          <a:xfrm>
            <a:off x="338844" y="1445479"/>
            <a:ext cx="99120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dirty="0"/>
              <a:t>Caso algum evento não exista, o MySQL </a:t>
            </a:r>
            <a:r>
              <a:rPr lang="pt-BR" b="1" dirty="0"/>
              <a:t>levantará</a:t>
            </a:r>
            <a:r>
              <a:rPr lang="pt-BR" dirty="0"/>
              <a:t> um </a:t>
            </a:r>
            <a:r>
              <a:rPr lang="pt-BR" b="1" dirty="0"/>
              <a:t>erro</a:t>
            </a:r>
            <a:r>
              <a:rPr lang="pt-BR" dirty="0"/>
              <a:t> avisando que estamos tentando deletar um Evento </a:t>
            </a:r>
            <a:r>
              <a:rPr lang="pt-BR" b="1" dirty="0"/>
              <a:t>inexistente</a:t>
            </a:r>
            <a:r>
              <a:rPr lang="pt-BR" dirty="0"/>
              <a:t>! E para contornar isso, podemos usar o </a:t>
            </a:r>
            <a:r>
              <a:rPr lang="pt-BR" b="1" dirty="0">
                <a:solidFill>
                  <a:srgbClr val="0000FF"/>
                </a:solidFill>
              </a:rPr>
              <a:t>IF</a:t>
            </a:r>
            <a:r>
              <a:rPr lang="pt-BR" dirty="0"/>
              <a:t> para validar antes de tenta excluir:</a:t>
            </a:r>
            <a:endParaRPr lang="pt-BR" altLang="pt-BR" sz="3200" b="1" dirty="0">
              <a:ea typeface="Times New Roman" panose="02020603050405020304" pitchFamily="18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120D995-F306-43DD-B6BF-6EBB32C7A8AA}"/>
              </a:ext>
            </a:extLst>
          </p:cNvPr>
          <p:cNvSpPr txBox="1">
            <a:spLocks/>
          </p:cNvSpPr>
          <p:nvPr/>
        </p:nvSpPr>
        <p:spPr>
          <a:xfrm>
            <a:off x="338844" y="407400"/>
            <a:ext cx="9692640" cy="9369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500" b="1" dirty="0">
                <a:solidFill>
                  <a:srgbClr val="00758F"/>
                </a:solidFill>
              </a:rPr>
              <a:t>Procedures e </a:t>
            </a:r>
            <a:r>
              <a:rPr lang="pt-BR" sz="3500" b="1" dirty="0" err="1">
                <a:solidFill>
                  <a:srgbClr val="00758F"/>
                </a:solidFill>
              </a:rPr>
              <a:t>Functions</a:t>
            </a:r>
            <a:r>
              <a:rPr lang="pt-BR" sz="3500" b="1" dirty="0">
                <a:solidFill>
                  <a:srgbClr val="00758F"/>
                </a:solidFill>
              </a:rPr>
              <a:t>: </a:t>
            </a:r>
            <a:br>
              <a:rPr lang="pt-BR" sz="3500" b="1" dirty="0">
                <a:solidFill>
                  <a:srgbClr val="00758F"/>
                </a:solidFill>
              </a:rPr>
            </a:br>
            <a:r>
              <a:rPr lang="pt-BR" sz="3500" b="1" dirty="0">
                <a:solidFill>
                  <a:srgbClr val="F39211"/>
                </a:solidFill>
              </a:rPr>
              <a:t>1.5 Automatizando Processos no Banco </a:t>
            </a:r>
            <a:endParaRPr lang="pt-BR" sz="3500" dirty="0">
              <a:solidFill>
                <a:srgbClr val="F3921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6992662-5BB9-48C9-861D-95D1D4BE1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7" name="Caixa de Texto 21">
            <a:extLst>
              <a:ext uri="{FF2B5EF4-FFF2-40B4-BE49-F238E27FC236}">
                <a16:creationId xmlns:a16="http://schemas.microsoft.com/office/drawing/2014/main" id="{C0D9EB0A-8D00-4200-AFD8-7B7166F86792}"/>
              </a:ext>
            </a:extLst>
          </p:cNvPr>
          <p:cNvSpPr txBox="1"/>
          <p:nvPr/>
        </p:nvSpPr>
        <p:spPr>
          <a:xfrm>
            <a:off x="338844" y="2483100"/>
            <a:ext cx="7040524" cy="2929421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pt-BR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-- Desativando e removendo eventos com segurança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DROP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EVENT </a:t>
            </a: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IF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EXISTS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desativar_clientes_antigos</a:t>
            </a:r>
            <a:r>
              <a:rPr lang="pt-BR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DROP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EVENT </a:t>
            </a: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IF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EXISTS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historico_vendas_diarias</a:t>
            </a:r>
            <a:r>
              <a:rPr lang="pt-BR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DROP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EVENT </a:t>
            </a: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IF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EXISTS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ajustar_estoque_zero</a:t>
            </a:r>
            <a:r>
              <a:rPr lang="pt-BR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DROP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EVENT </a:t>
            </a: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IF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EXISTS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log_clientes_inativos</a:t>
            </a:r>
            <a:r>
              <a:rPr lang="pt-BR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DROP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EVENT </a:t>
            </a: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IF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EXISTS</a:t>
            </a:r>
            <a:r>
              <a:rPr lang="pt-BR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encerrar_vendas</a:t>
            </a:r>
            <a:r>
              <a:rPr lang="pt-BR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pt-B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357044654"/>
      </p:ext>
    </p:extLst>
  </p:cSld>
  <p:clrMapOvr>
    <a:masterClrMapping/>
  </p:clrMapOvr>
</p:sld>
</file>

<file path=ppt/theme/theme1.xml><?xml version="1.0" encoding="utf-8"?>
<a:theme xmlns:a="http://schemas.openxmlformats.org/drawingml/2006/main" name="Exibir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TM03457515[[fn=Exibir]]</Template>
  <TotalTime>1371</TotalTime>
  <Words>734</Words>
  <Application>Microsoft Office PowerPoint</Application>
  <PresentationFormat>Widescreen</PresentationFormat>
  <Paragraphs>271</Paragraphs>
  <Slides>18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Century Schoolbook</vt:lpstr>
      <vt:lpstr>Constantia</vt:lpstr>
      <vt:lpstr>Courier New</vt:lpstr>
      <vt:lpstr>Times New Roman</vt:lpstr>
      <vt:lpstr>Wingdings 2</vt:lpstr>
      <vt:lpstr>Exibir</vt:lpstr>
      <vt:lpstr> Bem-Vindos novamente!    MySQL: Aula 03</vt:lpstr>
      <vt:lpstr>O que vamos aprender hoje? Serão os seguintes tópicos:</vt:lpstr>
      <vt:lpstr>Procedures e Functions:  1.0 Deixando o banco processar com Stored Procedures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Bem-Vindos!    MySQL: Aula 01</dc:title>
  <dc:creator>Ruan Machado</dc:creator>
  <cp:lastModifiedBy>Ruan Machado</cp:lastModifiedBy>
  <cp:revision>67</cp:revision>
  <dcterms:created xsi:type="dcterms:W3CDTF">2025-06-14T16:47:44Z</dcterms:created>
  <dcterms:modified xsi:type="dcterms:W3CDTF">2025-07-10T03:19:09Z</dcterms:modified>
</cp:coreProperties>
</file>