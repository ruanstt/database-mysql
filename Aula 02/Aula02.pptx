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5" r:id="rId3"/>
    <p:sldId id="267" r:id="rId4"/>
    <p:sldId id="268" r:id="rId5"/>
    <p:sldId id="269" r:id="rId6"/>
    <p:sldId id="266" r:id="rId7"/>
    <p:sldId id="270" r:id="rId8"/>
    <p:sldId id="272" r:id="rId9"/>
    <p:sldId id="271" r:id="rId10"/>
    <p:sldId id="273" r:id="rId11"/>
    <p:sldId id="274" r:id="rId12"/>
    <p:sldId id="275" r:id="rId13"/>
    <p:sldId id="276" r:id="rId14"/>
    <p:sldId id="278" r:id="rId15"/>
    <p:sldId id="279" r:id="rId16"/>
    <p:sldId id="280" r:id="rId17"/>
    <p:sldId id="281" r:id="rId18"/>
    <p:sldId id="282" r:id="rId19"/>
    <p:sldId id="28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211"/>
    <a:srgbClr val="00758F"/>
    <a:srgbClr val="0000FF"/>
    <a:srgbClr val="79B6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20E8B-B665-4276-9EE8-B82B29DF1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331920"/>
            <a:ext cx="9418320" cy="3063240"/>
          </a:xfrm>
        </p:spPr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dirty="0">
                <a:solidFill>
                  <a:srgbClr val="00758F"/>
                </a:solidFill>
              </a:rPr>
              <a:t>Bem-Vindos novamente!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>
                <a:solidFill>
                  <a:srgbClr val="00758F"/>
                </a:solidFill>
              </a:rPr>
              <a:t>My</a:t>
            </a:r>
            <a:r>
              <a:rPr lang="pt-BR" dirty="0">
                <a:solidFill>
                  <a:srgbClr val="F39211"/>
                </a:solidFill>
              </a:rPr>
              <a:t>SQL</a:t>
            </a:r>
            <a:r>
              <a:rPr lang="pt-BR" dirty="0"/>
              <a:t>: Aula 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E03497-30AD-4754-A43A-72A8D0158E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Professor: Ruan Machado</a:t>
            </a:r>
          </a:p>
          <a:p>
            <a:r>
              <a:rPr lang="pt-BR" sz="2000" dirty="0"/>
              <a:t>Desenvolvedor Python – RPA, Experiência com Bancos de Dados Relacionais.</a:t>
            </a:r>
          </a:p>
        </p:txBody>
      </p:sp>
      <p:pic>
        <p:nvPicPr>
          <p:cNvPr id="1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14C8504F-8DD4-4170-A866-8452D0C10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95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763819"/>
            <a:ext cx="9692640" cy="936973"/>
          </a:xfrm>
        </p:spPr>
        <p:txBody>
          <a:bodyPr>
            <a:no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O que vamos aprender hoje?</a:t>
            </a:r>
            <a:br>
              <a:rPr lang="pt-BR" sz="4000" b="1" dirty="0">
                <a:solidFill>
                  <a:srgbClr val="00758F"/>
                </a:solidFill>
              </a:rPr>
            </a:br>
            <a:r>
              <a:rPr lang="pt-BR" sz="4000" b="1" dirty="0">
                <a:solidFill>
                  <a:srgbClr val="F39211"/>
                </a:solidFill>
              </a:rPr>
              <a:t>Serão os seguintes tópicos:</a:t>
            </a:r>
            <a:endParaRPr lang="pt-BR" sz="40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5" y="1842085"/>
            <a:ext cx="927037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Criando Códigos:</a:t>
            </a:r>
          </a:p>
          <a:p>
            <a:r>
              <a:rPr lang="pt-BR" sz="2000" dirty="0"/>
              <a:t>•	O que são as configurações de colunas no </a:t>
            </a:r>
            <a:r>
              <a:rPr lang="pt-BR" sz="2000" dirty="0">
                <a:solidFill>
                  <a:srgbClr val="00758F"/>
                </a:solidFill>
              </a:rPr>
              <a:t>My</a:t>
            </a:r>
            <a:r>
              <a:rPr lang="pt-BR" sz="2000" dirty="0">
                <a:solidFill>
                  <a:srgbClr val="F39211"/>
                </a:solidFill>
              </a:rPr>
              <a:t>SQL</a:t>
            </a:r>
            <a:r>
              <a:rPr lang="pt-BR" sz="2000" dirty="0"/>
              <a:t>?</a:t>
            </a:r>
          </a:p>
          <a:p>
            <a:r>
              <a:rPr lang="pt-BR" sz="2000" dirty="0"/>
              <a:t>•	Criando as tabelas do Projeto;</a:t>
            </a:r>
          </a:p>
          <a:p>
            <a:r>
              <a:rPr lang="pt-BR" sz="2000" dirty="0"/>
              <a:t>•	Cuidando da integridade do Banco de Dados;</a:t>
            </a:r>
          </a:p>
          <a:p>
            <a:r>
              <a:rPr lang="pt-BR" sz="2000" dirty="0"/>
              <a:t>•	Alterando as tabelas;</a:t>
            </a:r>
          </a:p>
          <a:p>
            <a:r>
              <a:rPr lang="pt-BR" sz="2000" dirty="0"/>
              <a:t>•	Excluindo as tabelas.</a:t>
            </a:r>
          </a:p>
          <a:p>
            <a:r>
              <a:rPr lang="pt-BR" sz="2000" dirty="0"/>
              <a:t>________________________________________</a:t>
            </a:r>
          </a:p>
          <a:p>
            <a:r>
              <a:rPr lang="pt-BR" sz="2000" b="1" dirty="0"/>
              <a:t>Manipulando Registros:</a:t>
            </a:r>
          </a:p>
          <a:p>
            <a:r>
              <a:rPr lang="pt-BR" sz="2000" dirty="0"/>
              <a:t>•	Inserindo e Excluindo Registros;</a:t>
            </a:r>
          </a:p>
          <a:p>
            <a:r>
              <a:rPr lang="pt-BR" sz="2000" dirty="0"/>
              <a:t>•	Alterando Registros.</a:t>
            </a:r>
          </a:p>
          <a:p>
            <a:r>
              <a:rPr lang="pt-BR" sz="2000" dirty="0"/>
              <a:t>________________________________________</a:t>
            </a:r>
          </a:p>
          <a:p>
            <a:r>
              <a:rPr lang="pt-BR" sz="2000" b="1" dirty="0"/>
              <a:t>Exercícios sobre o assunto passado:</a:t>
            </a:r>
          </a:p>
          <a:p>
            <a:r>
              <a:rPr lang="pt-BR" sz="2000" dirty="0"/>
              <a:t>•	Exercícios de Criação, Alterar e Deletar Tabelas;</a:t>
            </a:r>
          </a:p>
          <a:p>
            <a:r>
              <a:rPr lang="pt-BR" sz="2000" dirty="0"/>
              <a:t>•	Exercícios de </a:t>
            </a:r>
            <a:r>
              <a:rPr lang="pt-BR" sz="2000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, </a:t>
            </a:r>
            <a:r>
              <a:rPr lang="pt-BR" sz="2000" dirty="0">
                <a:solidFill>
                  <a:srgbClr val="0000FF"/>
                </a:solidFill>
              </a:rPr>
              <a:t>INSERT</a:t>
            </a:r>
            <a:r>
              <a:rPr lang="pt-BR" sz="2000" dirty="0"/>
              <a:t> e </a:t>
            </a:r>
            <a:r>
              <a:rPr lang="pt-BR" sz="2000" dirty="0">
                <a:solidFill>
                  <a:srgbClr val="0000FF"/>
                </a:solidFill>
              </a:rPr>
              <a:t>UPDATE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549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763819"/>
            <a:ext cx="9692640" cy="93697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Criando Códigos:</a:t>
            </a:r>
            <a:br>
              <a:rPr lang="pt-BR" sz="3600" b="1" dirty="0"/>
            </a:br>
            <a:r>
              <a:rPr lang="pt-BR" sz="3600" b="1" dirty="0">
                <a:solidFill>
                  <a:srgbClr val="F39211"/>
                </a:solidFill>
              </a:rPr>
              <a:t>1.0 O que são as configurações de colunas no MySQL?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5" y="1842085"/>
            <a:ext cx="94359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1) </a:t>
            </a:r>
            <a:r>
              <a:rPr lang="pt-BR" b="1" dirty="0">
                <a:solidFill>
                  <a:srgbClr val="0000FF"/>
                </a:solidFill>
              </a:rPr>
              <a:t>PRIMARY</a:t>
            </a:r>
            <a:r>
              <a:rPr lang="pt-BR" b="1" dirty="0"/>
              <a:t> </a:t>
            </a:r>
            <a:r>
              <a:rPr lang="pt-BR" b="1" dirty="0">
                <a:solidFill>
                  <a:srgbClr val="0000FF"/>
                </a:solidFill>
              </a:rPr>
              <a:t>KEY</a:t>
            </a:r>
            <a:r>
              <a:rPr lang="pt-BR" b="1" dirty="0"/>
              <a:t> (Chave Primária)</a:t>
            </a:r>
            <a:endParaRPr lang="pt-BR" dirty="0"/>
          </a:p>
          <a:p>
            <a:r>
              <a:rPr lang="pt-BR" b="1" dirty="0"/>
              <a:t>Exemplo:</a:t>
            </a:r>
            <a:br>
              <a:rPr lang="pt-BR" dirty="0"/>
            </a:br>
            <a:r>
              <a:rPr lang="pt-BR" dirty="0"/>
              <a:t>Tabela de clientes → Cada cliente tem um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id_cliente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/>
              <a:t>único.</a:t>
            </a:r>
          </a:p>
          <a:p>
            <a:endParaRPr lang="pt-BR" dirty="0"/>
          </a:p>
          <a:p>
            <a:r>
              <a:rPr lang="pt-BR" b="1" dirty="0"/>
              <a:t>2) </a:t>
            </a:r>
            <a:r>
              <a:rPr lang="pt-BR" b="1" dirty="0">
                <a:solidFill>
                  <a:srgbClr val="0000FF"/>
                </a:solidFill>
              </a:rPr>
              <a:t>NOT</a:t>
            </a:r>
            <a:r>
              <a:rPr lang="pt-BR" b="1" dirty="0"/>
              <a:t> </a:t>
            </a:r>
            <a:r>
              <a:rPr lang="pt-BR" b="1" dirty="0">
                <a:solidFill>
                  <a:srgbClr val="0000FF"/>
                </a:solidFill>
              </a:rPr>
              <a:t>NULL</a:t>
            </a:r>
            <a:br>
              <a:rPr lang="pt-BR" dirty="0"/>
            </a:br>
            <a:r>
              <a:rPr lang="pt-BR" b="1" dirty="0"/>
              <a:t>Exemplo - O nome do cliente sempre precisa ser preenchido:</a:t>
            </a:r>
            <a:br>
              <a:rPr lang="pt-BR" dirty="0"/>
            </a:b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nome_cliente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>
                <a:solidFill>
                  <a:srgbClr val="0000FF"/>
                </a:solidFill>
              </a:rPr>
              <a:t>VARCHAR</a:t>
            </a:r>
            <a:r>
              <a:rPr lang="pt-BR" b="1" dirty="0"/>
              <a:t>(</a:t>
            </a:r>
            <a:r>
              <a:rPr lang="pt-BR" dirty="0">
                <a:solidFill>
                  <a:srgbClr val="F39211"/>
                </a:solidFill>
              </a:rPr>
              <a:t>100</a:t>
            </a:r>
            <a:r>
              <a:rPr lang="pt-BR" b="1" dirty="0"/>
              <a:t>)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NOT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NULL</a:t>
            </a:r>
          </a:p>
          <a:p>
            <a:endParaRPr lang="pt-BR" dirty="0"/>
          </a:p>
          <a:p>
            <a:r>
              <a:rPr lang="pt-BR" dirty="0"/>
              <a:t>Se você tentar inserir um valor </a:t>
            </a:r>
            <a:r>
              <a:rPr lang="pt-BR" b="1" dirty="0">
                <a:solidFill>
                  <a:srgbClr val="0000FF"/>
                </a:solidFill>
              </a:rPr>
              <a:t>NULL</a:t>
            </a:r>
            <a:r>
              <a:rPr lang="pt-BR" dirty="0"/>
              <a:t>:</a:t>
            </a:r>
            <a:br>
              <a:rPr lang="pt-BR" dirty="0"/>
            </a:br>
            <a:r>
              <a:rPr lang="pt-BR" b="1" dirty="0">
                <a:solidFill>
                  <a:srgbClr val="0000FF"/>
                </a:solidFill>
              </a:rPr>
              <a:t>INSERT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INTO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clientes</a:t>
            </a:r>
            <a:r>
              <a:rPr lang="pt-BR" dirty="0"/>
              <a:t> </a:t>
            </a:r>
            <a:r>
              <a:rPr lang="pt-BR" b="1" dirty="0"/>
              <a:t>(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nome_cliente</a:t>
            </a:r>
            <a:r>
              <a:rPr lang="pt-BR" b="1" dirty="0"/>
              <a:t>)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VALUES</a:t>
            </a:r>
            <a:r>
              <a:rPr lang="pt-BR" dirty="0"/>
              <a:t> </a:t>
            </a:r>
            <a:r>
              <a:rPr lang="pt-BR" b="1" dirty="0"/>
              <a:t>(</a:t>
            </a:r>
            <a:r>
              <a:rPr lang="pt-BR" b="1" dirty="0">
                <a:solidFill>
                  <a:srgbClr val="0000FF"/>
                </a:solidFill>
              </a:rPr>
              <a:t>NULL</a:t>
            </a:r>
            <a:r>
              <a:rPr lang="pt-BR" b="1" dirty="0"/>
              <a:t>);</a:t>
            </a:r>
          </a:p>
          <a:p>
            <a:r>
              <a:rPr lang="pt-BR" b="1" dirty="0"/>
              <a:t>Irá gerar um erro!</a:t>
            </a:r>
          </a:p>
          <a:p>
            <a:endParaRPr lang="pt-BR" dirty="0"/>
          </a:p>
          <a:p>
            <a:r>
              <a:rPr lang="pt-BR" b="1" dirty="0"/>
              <a:t>3) </a:t>
            </a:r>
            <a:r>
              <a:rPr lang="pt-BR" b="1" dirty="0">
                <a:solidFill>
                  <a:srgbClr val="0000FF"/>
                </a:solidFill>
              </a:rPr>
              <a:t>UNIQUE</a:t>
            </a:r>
            <a:endParaRPr lang="pt-BR" dirty="0">
              <a:solidFill>
                <a:srgbClr val="0000FF"/>
              </a:solidFill>
            </a:endParaRPr>
          </a:p>
          <a:p>
            <a:r>
              <a:rPr lang="pt-BR" b="1" dirty="0"/>
              <a:t>Exemplo - O CPF de cada cliente deve ser único:</a:t>
            </a:r>
            <a:br>
              <a:rPr lang="pt-BR" b="1" dirty="0"/>
            </a:b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cpf</a:t>
            </a:r>
            <a:r>
              <a:rPr lang="pt-BR" dirty="0"/>
              <a:t> </a:t>
            </a:r>
            <a:r>
              <a:rPr lang="pt-BR" dirty="0">
                <a:solidFill>
                  <a:srgbClr val="0000FF"/>
                </a:solidFill>
              </a:rPr>
              <a:t>CHAR</a:t>
            </a:r>
            <a:r>
              <a:rPr lang="pt-BR" b="1" dirty="0"/>
              <a:t>(</a:t>
            </a:r>
            <a:r>
              <a:rPr lang="pt-BR" dirty="0">
                <a:solidFill>
                  <a:srgbClr val="F39211"/>
                </a:solidFill>
              </a:rPr>
              <a:t>11</a:t>
            </a:r>
            <a:r>
              <a:rPr lang="pt-BR" b="1" dirty="0"/>
              <a:t>)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UNIQUE</a:t>
            </a:r>
            <a:endParaRPr lang="pt-B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52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763819"/>
            <a:ext cx="9692640" cy="93697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Criando Códigos:</a:t>
            </a:r>
            <a:br>
              <a:rPr lang="pt-BR" sz="3600" b="1" dirty="0"/>
            </a:br>
            <a:r>
              <a:rPr lang="pt-BR" sz="3600" b="1" dirty="0">
                <a:solidFill>
                  <a:srgbClr val="F39211"/>
                </a:solidFill>
              </a:rPr>
              <a:t>1.1 O que são as configurações de colunas no MySQL?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5" y="1842085"/>
            <a:ext cx="94359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4) </a:t>
            </a:r>
            <a:r>
              <a:rPr lang="pt-BR" b="1" dirty="0">
                <a:solidFill>
                  <a:srgbClr val="0000FF"/>
                </a:solidFill>
              </a:rPr>
              <a:t>DEFAULT</a:t>
            </a:r>
            <a:endParaRPr lang="pt-BR" dirty="0">
              <a:solidFill>
                <a:srgbClr val="0000FF"/>
              </a:solidFill>
            </a:endParaRPr>
          </a:p>
          <a:p>
            <a:r>
              <a:rPr lang="pt-BR" b="1" dirty="0"/>
              <a:t>Exemplo - O campo ativo, que por padrão começa como verdadeiro (1):</a:t>
            </a:r>
            <a:br>
              <a:rPr lang="pt-BR" dirty="0"/>
            </a:br>
            <a:r>
              <a:rPr lang="pt-BR" dirty="0"/>
              <a:t>ativo </a:t>
            </a:r>
            <a:r>
              <a:rPr lang="pt-BR" dirty="0">
                <a:solidFill>
                  <a:srgbClr val="0000FF"/>
                </a:solidFill>
              </a:rPr>
              <a:t>BOOLEAN</a:t>
            </a:r>
            <a:r>
              <a:rPr lang="pt-BR" dirty="0"/>
              <a:t> </a:t>
            </a:r>
            <a:r>
              <a:rPr lang="pt-BR" dirty="0">
                <a:solidFill>
                  <a:srgbClr val="0000FF"/>
                </a:solidFill>
              </a:rPr>
              <a:t>DEFAULT</a:t>
            </a:r>
            <a:r>
              <a:rPr lang="pt-BR" dirty="0"/>
              <a:t> </a:t>
            </a:r>
            <a:r>
              <a:rPr lang="pt-BR" dirty="0">
                <a:solidFill>
                  <a:srgbClr val="F39211"/>
                </a:solidFill>
              </a:rPr>
              <a:t>1</a:t>
            </a:r>
          </a:p>
          <a:p>
            <a:endParaRPr lang="pt-BR" dirty="0"/>
          </a:p>
          <a:p>
            <a:r>
              <a:rPr lang="pt-BR" b="1" dirty="0"/>
              <a:t>5) </a:t>
            </a:r>
            <a:r>
              <a:rPr lang="pt-BR" b="1" dirty="0">
                <a:solidFill>
                  <a:srgbClr val="0000FF"/>
                </a:solidFill>
              </a:rPr>
              <a:t>AUTO_INCREMENT</a:t>
            </a:r>
            <a:br>
              <a:rPr lang="pt-BR" b="1" dirty="0"/>
            </a:br>
            <a:r>
              <a:rPr lang="pt-BR" b="1" dirty="0"/>
              <a:t>Exemplo - Chave primária de cliente:</a:t>
            </a:r>
          </a:p>
          <a:p>
            <a:br>
              <a:rPr lang="pt-BR" dirty="0"/>
            </a:b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id_cliente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>
                <a:solidFill>
                  <a:srgbClr val="0000FF"/>
                </a:solidFill>
              </a:rPr>
              <a:t>INT AUTO_INCREMENT PRIMARY KEY</a:t>
            </a:r>
          </a:p>
          <a:p>
            <a:endParaRPr lang="pt-BR" dirty="0"/>
          </a:p>
          <a:p>
            <a:r>
              <a:rPr lang="pt-BR" b="1" dirty="0"/>
              <a:t>6) </a:t>
            </a:r>
            <a:r>
              <a:rPr lang="pt-BR" dirty="0">
                <a:solidFill>
                  <a:srgbClr val="0000FF"/>
                </a:solidFill>
              </a:rPr>
              <a:t>FOREIGN KEY </a:t>
            </a:r>
            <a:r>
              <a:rPr lang="pt-BR" b="1" dirty="0"/>
              <a:t>(Chave Estrangeira)</a:t>
            </a:r>
            <a:br>
              <a:rPr lang="pt-BR" dirty="0"/>
            </a:br>
            <a:r>
              <a:rPr lang="pt-BR" b="1" dirty="0"/>
              <a:t>Exemplo - Cada venda precisa ter um cliente válido:</a:t>
            </a:r>
          </a:p>
          <a:p>
            <a:br>
              <a:rPr lang="pt-BR" dirty="0"/>
            </a:br>
            <a:r>
              <a:rPr lang="pt-BR" dirty="0">
                <a:solidFill>
                  <a:srgbClr val="0000FF"/>
                </a:solidFill>
              </a:rPr>
              <a:t>FOREIGN KEY </a:t>
            </a:r>
            <a:r>
              <a:rPr lang="pt-BR" b="1" dirty="0"/>
              <a:t>(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id_cliente</a:t>
            </a:r>
            <a:r>
              <a:rPr lang="pt-BR" b="1" dirty="0"/>
              <a:t>)</a:t>
            </a:r>
            <a:r>
              <a:rPr lang="pt-BR" dirty="0"/>
              <a:t> </a:t>
            </a:r>
            <a:r>
              <a:rPr lang="pt-BR" dirty="0">
                <a:solidFill>
                  <a:srgbClr val="0000FF"/>
                </a:solidFill>
              </a:rPr>
              <a:t>REFERENCES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clientes</a:t>
            </a:r>
            <a:r>
              <a:rPr lang="pt-BR" b="1" dirty="0"/>
              <a:t>(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id_cliente</a:t>
            </a:r>
            <a:r>
              <a:rPr lang="pt-BR" b="1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615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763819"/>
            <a:ext cx="9692640" cy="93697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Criando Códigos:</a:t>
            </a:r>
            <a:br>
              <a:rPr lang="pt-BR" sz="3600" b="1" dirty="0"/>
            </a:br>
            <a:r>
              <a:rPr lang="pt-BR" sz="3600" b="1" dirty="0">
                <a:solidFill>
                  <a:srgbClr val="F39211"/>
                </a:solidFill>
              </a:rPr>
              <a:t>1.2 O que são as configurações de colunas no MySQL?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5" y="1842085"/>
            <a:ext cx="94359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7) </a:t>
            </a:r>
            <a:r>
              <a:rPr lang="pt-BR" b="1" dirty="0">
                <a:solidFill>
                  <a:srgbClr val="0000FF"/>
                </a:solidFill>
              </a:rPr>
              <a:t>ENUM</a:t>
            </a:r>
            <a:endParaRPr lang="pt-BR" dirty="0">
              <a:solidFill>
                <a:srgbClr val="0000FF"/>
              </a:solidFill>
            </a:endParaRPr>
          </a:p>
          <a:p>
            <a:r>
              <a:rPr lang="pt-BR" b="1" dirty="0"/>
              <a:t>Exemplo - Forma de pagamento:</a:t>
            </a:r>
            <a:br>
              <a:rPr lang="pt-BR" dirty="0"/>
            </a:b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forma_pagamento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>
                <a:solidFill>
                  <a:srgbClr val="0000FF"/>
                </a:solidFill>
              </a:rPr>
              <a:t>ENUM</a:t>
            </a:r>
            <a:r>
              <a:rPr lang="pt-BR" b="1" dirty="0"/>
              <a:t>(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'Dinheiro'</a:t>
            </a:r>
            <a:r>
              <a:rPr lang="pt-BR" b="1" dirty="0"/>
              <a:t>,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'Cartão'</a:t>
            </a:r>
            <a:r>
              <a:rPr lang="pt-BR" b="1" dirty="0"/>
              <a:t>,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'Boleto’</a:t>
            </a:r>
            <a:r>
              <a:rPr lang="pt-BR" b="1" dirty="0"/>
              <a:t>)</a:t>
            </a:r>
          </a:p>
          <a:p>
            <a:endParaRPr lang="pt-BR" dirty="0"/>
          </a:p>
          <a:p>
            <a:r>
              <a:rPr lang="pt-BR" b="1" dirty="0"/>
              <a:t>Se tentar inserir outro valor?</a:t>
            </a:r>
            <a:br>
              <a:rPr lang="pt-BR" dirty="0"/>
            </a:br>
            <a:r>
              <a:rPr lang="pt-BR" dirty="0"/>
              <a:t>Erro! Só pode um dos três.</a:t>
            </a:r>
          </a:p>
          <a:p>
            <a:endParaRPr lang="pt-BR" dirty="0"/>
          </a:p>
          <a:p>
            <a:r>
              <a:rPr lang="pt-BR" b="1" dirty="0"/>
              <a:t>8) </a:t>
            </a:r>
            <a:r>
              <a:rPr lang="pt-BR" b="1" dirty="0">
                <a:solidFill>
                  <a:srgbClr val="0000FF"/>
                </a:solidFill>
              </a:rPr>
              <a:t>BOOLEAN</a:t>
            </a:r>
            <a:br>
              <a:rPr lang="pt-BR" b="1" dirty="0"/>
            </a:br>
            <a:r>
              <a:rPr lang="pt-BR" b="1" dirty="0"/>
              <a:t>Exemplo:</a:t>
            </a:r>
            <a:br>
              <a:rPr lang="pt-BR" dirty="0"/>
            </a:b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ativo</a:t>
            </a:r>
            <a:r>
              <a:rPr lang="pt-BR" dirty="0"/>
              <a:t> </a:t>
            </a:r>
            <a:r>
              <a:rPr lang="pt-BR" dirty="0">
                <a:solidFill>
                  <a:srgbClr val="0000FF"/>
                </a:solidFill>
              </a:rPr>
              <a:t>BOOLEAN</a:t>
            </a:r>
            <a:r>
              <a:rPr lang="pt-BR" dirty="0"/>
              <a:t> </a:t>
            </a:r>
            <a:r>
              <a:rPr lang="pt-BR" dirty="0">
                <a:solidFill>
                  <a:srgbClr val="0000FF"/>
                </a:solidFill>
              </a:rPr>
              <a:t>DEFAULT</a:t>
            </a:r>
            <a:r>
              <a:rPr lang="pt-BR" dirty="0"/>
              <a:t> 1</a:t>
            </a:r>
          </a:p>
          <a:p>
            <a:endParaRPr lang="pt-BR" dirty="0"/>
          </a:p>
          <a:p>
            <a:r>
              <a:rPr lang="pt-BR" dirty="0"/>
              <a:t>O MySQL armazena internamente como 0 ou 1.</a:t>
            </a:r>
          </a:p>
        </p:txBody>
      </p:sp>
    </p:spTree>
    <p:extLst>
      <p:ext uri="{BB962C8B-B14F-4D97-AF65-F5344CB8AC3E}">
        <p14:creationId xmlns:p14="http://schemas.microsoft.com/office/powerpoint/2010/main" val="1832415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375231"/>
            <a:ext cx="9692640" cy="1325562"/>
          </a:xfrm>
        </p:spPr>
        <p:txBody>
          <a:bodyPr>
            <a:noAutofit/>
          </a:bodyPr>
          <a:lstStyle/>
          <a:p>
            <a:r>
              <a:rPr lang="pt-BR" sz="3400" b="1" dirty="0">
                <a:solidFill>
                  <a:srgbClr val="00758F"/>
                </a:solidFill>
              </a:rPr>
              <a:t>Criando Códigos:</a:t>
            </a:r>
            <a:br>
              <a:rPr lang="pt-BR" sz="3400" b="1" dirty="0"/>
            </a:br>
            <a:r>
              <a:rPr lang="pt-BR" sz="3400" b="1" dirty="0">
                <a:solidFill>
                  <a:srgbClr val="F39211"/>
                </a:solidFill>
              </a:rPr>
              <a:t>1.3</a:t>
            </a:r>
            <a:r>
              <a:rPr lang="pt-BR" sz="3400" b="1" dirty="0"/>
              <a:t> </a:t>
            </a:r>
            <a:r>
              <a:rPr lang="pt-BR" sz="3400" b="1" dirty="0">
                <a:solidFill>
                  <a:srgbClr val="F39211"/>
                </a:solidFill>
              </a:rPr>
              <a:t>O que são as configurações de colunas no MySQL?</a:t>
            </a:r>
            <a:endParaRPr lang="pt-BR" sz="34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BD890DD-706D-4111-A025-7350CEB54382}"/>
              </a:ext>
            </a:extLst>
          </p:cNvPr>
          <p:cNvGraphicFramePr>
            <a:graphicFrameLocks noGrp="1"/>
          </p:cNvGraphicFramePr>
          <p:nvPr/>
        </p:nvGraphicFramePr>
        <p:xfrm>
          <a:off x="338845" y="1700792"/>
          <a:ext cx="9435948" cy="49898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8987">
                  <a:extLst>
                    <a:ext uri="{9D8B030D-6E8A-4147-A177-3AD203B41FA5}">
                      <a16:colId xmlns:a16="http://schemas.microsoft.com/office/drawing/2014/main" val="2055311632"/>
                    </a:ext>
                  </a:extLst>
                </a:gridCol>
                <a:gridCol w="2358987">
                  <a:extLst>
                    <a:ext uri="{9D8B030D-6E8A-4147-A177-3AD203B41FA5}">
                      <a16:colId xmlns:a16="http://schemas.microsoft.com/office/drawing/2014/main" val="2851392407"/>
                    </a:ext>
                  </a:extLst>
                </a:gridCol>
                <a:gridCol w="2358987">
                  <a:extLst>
                    <a:ext uri="{9D8B030D-6E8A-4147-A177-3AD203B41FA5}">
                      <a16:colId xmlns:a16="http://schemas.microsoft.com/office/drawing/2014/main" val="2796327950"/>
                    </a:ext>
                  </a:extLst>
                </a:gridCol>
                <a:gridCol w="2358987">
                  <a:extLst>
                    <a:ext uri="{9D8B030D-6E8A-4147-A177-3AD203B41FA5}">
                      <a16:colId xmlns:a16="http://schemas.microsoft.com/office/drawing/2014/main" val="4259840516"/>
                    </a:ext>
                  </a:extLst>
                </a:gridCol>
              </a:tblGrid>
              <a:tr h="2825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500">
                          <a:effectLst/>
                        </a:rPr>
                        <a:t>Configuração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500">
                          <a:effectLst/>
                        </a:rPr>
                        <a:t>Nome Técnico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500">
                          <a:effectLst/>
                        </a:rPr>
                        <a:t>O que faz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500" dirty="0">
                          <a:effectLst/>
                        </a:rPr>
                        <a:t>Exemplo</a:t>
                      </a:r>
                      <a:endParaRPr lang="pt-BR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125647"/>
                  </a:ext>
                </a:extLst>
              </a:tr>
              <a:tr h="4506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Chave Primária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PRIMARY KEY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Identifica de forma única cada registro da tabela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 dirty="0" err="1">
                          <a:solidFill>
                            <a:schemeClr val="bg1"/>
                          </a:solidFill>
                          <a:effectLst/>
                        </a:rPr>
                        <a:t>id_cliente</a:t>
                      </a:r>
                      <a:r>
                        <a:rPr lang="pt-BR" sz="1200" b="0" dirty="0">
                          <a:solidFill>
                            <a:schemeClr val="bg1"/>
                          </a:solidFill>
                          <a:effectLst/>
                        </a:rPr>
                        <a:t> INT PRIMARY KEY</a:t>
                      </a:r>
                      <a:endParaRPr lang="pt-BR" sz="1200" b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277045"/>
                  </a:ext>
                </a:extLst>
              </a:tr>
              <a:tr h="4506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Não pode ser nulo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NOT NULL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Obriga que o campo sempre tenha um valor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nome_cliente VARCHAR(100) NOT NULL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336905"/>
                  </a:ext>
                </a:extLst>
              </a:tr>
              <a:tr h="6710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Valor único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UNIQUE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Garante que não existam dois registros com o mesmo valor nessa coluna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cpf CHAR(11) UNIQUE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41552"/>
                  </a:ext>
                </a:extLst>
              </a:tr>
              <a:tr h="4506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Valor padrão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DEFAULT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Define um valor automático caso o usuário não informe nada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bg1"/>
                          </a:solidFill>
                          <a:effectLst/>
                        </a:rPr>
                        <a:t>ativo BOOLEAN DEFAULT 1</a:t>
                      </a:r>
                      <a:endParaRPr lang="pt-BR" sz="1200" b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63441"/>
                  </a:ext>
                </a:extLst>
              </a:tr>
              <a:tr h="6710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Auto Incremento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AUTO_INCREMENT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Faz o MySQL gerar um valor automático (sequencial) a cada novo registro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id_cliente INT AUTO_INCREMENT PRIMARY KEY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85351"/>
                  </a:ext>
                </a:extLst>
              </a:tr>
              <a:tr h="6710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Chave Estrangeira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FOREIGN KEY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bg1"/>
                          </a:solidFill>
                          <a:effectLst/>
                        </a:rPr>
                        <a:t>Faz o campo depender de outra tabela, criando relação entre tabelas</a:t>
                      </a:r>
                      <a:endParaRPr lang="pt-BR" sz="1200" b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FOREIGN KEY (id_cliente) REFERENCES clientes(id_cliente)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60953"/>
                  </a:ext>
                </a:extLst>
              </a:tr>
              <a:tr h="6710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Enumeração de valores fixos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ENUM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Limita os valores possíveis de um campo a uma lista pré-definida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status ENUM('Pendente', 'Pago', 'Cancelado')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82577"/>
                  </a:ext>
                </a:extLst>
              </a:tr>
              <a:tr h="6710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bg1"/>
                          </a:solidFill>
                          <a:effectLst/>
                        </a:rPr>
                        <a:t>Valor Zero ou Um (booleano)</a:t>
                      </a:r>
                      <a:endParaRPr lang="pt-BR" sz="1200" b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BOOLEAN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>
                          <a:solidFill>
                            <a:schemeClr val="bg1"/>
                          </a:solidFill>
                          <a:effectLst/>
                        </a:rPr>
                        <a:t>Representa verdadeiro ou falso (internamente é um TINYINT(1))</a:t>
                      </a:r>
                      <a:endParaRPr lang="pt-BR" sz="1200" b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b="0" dirty="0">
                          <a:solidFill>
                            <a:schemeClr val="bg1"/>
                          </a:solidFill>
                          <a:effectLst/>
                        </a:rPr>
                        <a:t>ativo BOOLEAN</a:t>
                      </a:r>
                      <a:endParaRPr lang="pt-BR" sz="1200" b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961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007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763819"/>
            <a:ext cx="9692640" cy="93697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Criando Códigos:</a:t>
            </a:r>
            <a:br>
              <a:rPr lang="pt-BR" sz="3600" b="1" dirty="0"/>
            </a:br>
            <a:r>
              <a:rPr lang="pt-BR" sz="3600" b="1" dirty="0">
                <a:solidFill>
                  <a:srgbClr val="F39211"/>
                </a:solidFill>
              </a:rPr>
              <a:t>1.0 Criando as tabelas do Projeto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5" y="1842085"/>
            <a:ext cx="94359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Estamos desenvolvendo um sistema de ERP para a empresa </a:t>
            </a:r>
            <a:r>
              <a:rPr lang="pt-BR" b="1" dirty="0"/>
              <a:t>Barriga Verde Cursos</a:t>
            </a:r>
            <a:r>
              <a:rPr lang="pt-BR" dirty="0"/>
              <a:t>. As áreas do banco de dados serão: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Cadastro de Clientes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Cadastro de Produtos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Registro de Vendas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Detalhamento de Itens de cada Venda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Controle de Pagamentos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8310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30102"/>
            <a:ext cx="9692640" cy="81198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Criando Códigos:</a:t>
            </a:r>
            <a:br>
              <a:rPr lang="pt-BR" sz="3600" b="1" dirty="0"/>
            </a:br>
            <a:r>
              <a:rPr lang="pt-BR" sz="3600" b="1" dirty="0">
                <a:solidFill>
                  <a:srgbClr val="F39211"/>
                </a:solidFill>
              </a:rPr>
              <a:t>1.1 Criando as tabelas do Projeto</a:t>
            </a:r>
            <a:br>
              <a:rPr lang="pt-BR" sz="3600" b="1" dirty="0">
                <a:solidFill>
                  <a:srgbClr val="F39211"/>
                </a:solidFill>
              </a:rPr>
            </a:br>
            <a:endParaRPr lang="pt-BR" sz="3600" i="1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436093"/>
            <a:ext cx="10954797" cy="3911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500" b="1" dirty="0"/>
              <a:t>1 - Tabela: </a:t>
            </a:r>
            <a:r>
              <a:rPr lang="pt-BR" sz="2500" i="1" dirty="0"/>
              <a:t>clientes</a:t>
            </a:r>
            <a:endParaRPr lang="pt-BR" sz="2500" b="1" dirty="0">
              <a:solidFill>
                <a:srgbClr val="0000FF"/>
              </a:solidFill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clientes 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id_cliente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AUTO_INCREMENT </a:t>
            </a:r>
            <a:r>
              <a:rPr lang="pt-BR" sz="16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Cada cliente tem um ID único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nome_cliente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16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Nome obrigatório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cpf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pt-BR" sz="16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CPF único (não pode haver dois iguais)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cidade </a:t>
            </a:r>
            <a:r>
              <a:rPr lang="pt-BR" sz="16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						  </a:t>
            </a:r>
            <a:r>
              <a:rPr lang="pt-BR" sz="16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Tipo VARCHAR máx. 50 caracteres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estado </a:t>
            </a:r>
            <a:r>
              <a:rPr lang="pt-BR" sz="16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							  </a:t>
            </a:r>
            <a:r>
              <a:rPr lang="pt-BR" sz="16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Tipo CHAR máx. 2 caracteres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telefone </a:t>
            </a:r>
            <a:r>
              <a:rPr lang="pt-BR" sz="16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						  </a:t>
            </a:r>
            <a:r>
              <a:rPr lang="pt-BR" sz="16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Tipo VARCHAR máx. 15 caracteres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ativo </a:t>
            </a:r>
            <a:r>
              <a:rPr lang="pt-BR" sz="16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pt-BR" sz="16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Por padrão, o cliente está ativo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6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356181D-508E-4987-AD3D-4018055EC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885962"/>
              </p:ext>
            </p:extLst>
          </p:nvPr>
        </p:nvGraphicFramePr>
        <p:xfrm>
          <a:off x="338843" y="4539608"/>
          <a:ext cx="8594724" cy="21313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97362">
                  <a:extLst>
                    <a:ext uri="{9D8B030D-6E8A-4147-A177-3AD203B41FA5}">
                      <a16:colId xmlns:a16="http://schemas.microsoft.com/office/drawing/2014/main" val="124753961"/>
                    </a:ext>
                  </a:extLst>
                </a:gridCol>
                <a:gridCol w="4297362">
                  <a:extLst>
                    <a:ext uri="{9D8B030D-6E8A-4147-A177-3AD203B41FA5}">
                      <a16:colId xmlns:a16="http://schemas.microsoft.com/office/drawing/2014/main" val="795481632"/>
                    </a:ext>
                  </a:extLst>
                </a:gridCol>
              </a:tblGrid>
              <a:tr h="4850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dirty="0" err="1">
                          <a:solidFill>
                            <a:schemeClr val="bg1"/>
                          </a:solidFill>
                          <a:effectLst/>
                        </a:rPr>
                        <a:t>Constraint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Por quê?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0702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</a:rPr>
                        <a:t>PRIMARY KEY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</a:rPr>
                        <a:t>Garante unicidade de cada cliente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216089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NOT NULL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</a:rPr>
                        <a:t>Obriga que o nome seja preenchido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01544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UNIQUE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</a:rPr>
                        <a:t>Evita CPFs duplicados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703903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DEFAULT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</a:rPr>
                        <a:t>Define valor automático para o campo ativo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273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57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30102"/>
            <a:ext cx="9692640" cy="81198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Criando Códigos:</a:t>
            </a:r>
            <a:br>
              <a:rPr lang="pt-BR" sz="3600" b="1" dirty="0"/>
            </a:br>
            <a:r>
              <a:rPr lang="pt-BR" sz="3600" b="1" dirty="0">
                <a:solidFill>
                  <a:srgbClr val="F39211"/>
                </a:solidFill>
              </a:rPr>
              <a:t>1.2 Criando as tabelas do Projeto</a:t>
            </a:r>
            <a:br>
              <a:rPr lang="pt-BR" sz="3600" b="1" dirty="0">
                <a:solidFill>
                  <a:srgbClr val="F39211"/>
                </a:solidFill>
              </a:rPr>
            </a:br>
            <a:endParaRPr lang="pt-BR" sz="3600" i="1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436093"/>
            <a:ext cx="11002924" cy="347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500" b="1" dirty="0"/>
              <a:t>2 - Tabela: </a:t>
            </a:r>
            <a:r>
              <a:rPr lang="pt-BR" sz="2500" i="1" dirty="0"/>
              <a:t>produtos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produtos 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id_produto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AUTO_INCREMENT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7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ID único para cada produto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nome_produto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7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pt-BR" sz="17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Nome obrigatório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preco_unitario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7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-</a:t>
            </a:r>
            <a:r>
              <a:rPr lang="pt-BR" sz="17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Preço obrigatório e com 2 casas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estoque </a:t>
            </a:r>
            <a:r>
              <a:rPr lang="pt-BR" sz="17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pt-BR" sz="17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Não permitir estoque nulo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ativo </a:t>
            </a:r>
            <a:r>
              <a:rPr lang="pt-BR" sz="17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pt-BR" sz="17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Produto ativo por padrão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356181D-508E-4987-AD3D-4018055EC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736221"/>
              </p:ext>
            </p:extLst>
          </p:nvPr>
        </p:nvGraphicFramePr>
        <p:xfrm>
          <a:off x="338843" y="4511871"/>
          <a:ext cx="8594724" cy="17198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97362">
                  <a:extLst>
                    <a:ext uri="{9D8B030D-6E8A-4147-A177-3AD203B41FA5}">
                      <a16:colId xmlns:a16="http://schemas.microsoft.com/office/drawing/2014/main" val="124753961"/>
                    </a:ext>
                  </a:extLst>
                </a:gridCol>
                <a:gridCol w="4297362">
                  <a:extLst>
                    <a:ext uri="{9D8B030D-6E8A-4147-A177-3AD203B41FA5}">
                      <a16:colId xmlns:a16="http://schemas.microsoft.com/office/drawing/2014/main" val="795481632"/>
                    </a:ext>
                  </a:extLst>
                </a:gridCol>
              </a:tblGrid>
              <a:tr h="4850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 err="1"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Por quê?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0702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PRIMARY KEY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Identificar cada produto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216089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NOT NULL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Obrigatório nome, preço e estoque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01544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DEFAULT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Produto ativo por padrão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703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699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30102"/>
            <a:ext cx="9692640" cy="81198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Criando Códigos:</a:t>
            </a:r>
            <a:br>
              <a:rPr lang="pt-BR" sz="3600" b="1" dirty="0"/>
            </a:br>
            <a:r>
              <a:rPr lang="pt-BR" sz="3600" b="1" dirty="0">
                <a:solidFill>
                  <a:srgbClr val="F39211"/>
                </a:solidFill>
              </a:rPr>
              <a:t>1.3 Criando as tabelas do Projeto</a:t>
            </a:r>
            <a:br>
              <a:rPr lang="pt-BR" sz="3600" b="1" dirty="0">
                <a:solidFill>
                  <a:srgbClr val="F39211"/>
                </a:solidFill>
              </a:rPr>
            </a:br>
            <a:endParaRPr lang="pt-BR" sz="3600" i="1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436093"/>
            <a:ext cx="11002924" cy="380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500" b="1" dirty="0"/>
              <a:t>3 - Tabela: </a:t>
            </a:r>
            <a:r>
              <a:rPr lang="pt-BR" sz="2500" i="1" dirty="0"/>
              <a:t>vendas</a:t>
            </a:r>
            <a:r>
              <a:rPr lang="pt-BR" sz="2500" b="1" i="1" dirty="0"/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vendas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AUTO_INCREMENT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ID único da venda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id_cliente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Cliente obrigatório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data_venda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Data obrigatória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valor_total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Valor da venda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id_cliente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clientes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id_cliente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Ligação com tabela clientes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356181D-508E-4987-AD3D-4018055EC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723175"/>
              </p:ext>
            </p:extLst>
          </p:nvPr>
        </p:nvGraphicFramePr>
        <p:xfrm>
          <a:off x="338843" y="4511871"/>
          <a:ext cx="8594724" cy="17737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97362">
                  <a:extLst>
                    <a:ext uri="{9D8B030D-6E8A-4147-A177-3AD203B41FA5}">
                      <a16:colId xmlns:a16="http://schemas.microsoft.com/office/drawing/2014/main" val="124753961"/>
                    </a:ext>
                  </a:extLst>
                </a:gridCol>
                <a:gridCol w="4297362">
                  <a:extLst>
                    <a:ext uri="{9D8B030D-6E8A-4147-A177-3AD203B41FA5}">
                      <a16:colId xmlns:a16="http://schemas.microsoft.com/office/drawing/2014/main" val="795481632"/>
                    </a:ext>
                  </a:extLst>
                </a:gridCol>
              </a:tblGrid>
              <a:tr h="4850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Por quê?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0702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PRIMARY KEY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Cada venda tem um ID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216089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NOT NULL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Cliente, data e valor obrigatórios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01544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FOREIGN KEY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Garante que só seja possível cadastrar vendas de clientes existentes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703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757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30102"/>
            <a:ext cx="9692640" cy="81198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Criando Códigos:</a:t>
            </a:r>
            <a:br>
              <a:rPr lang="pt-BR" sz="3600" b="1" dirty="0"/>
            </a:br>
            <a:r>
              <a:rPr lang="pt-BR" sz="3600" b="1" dirty="0">
                <a:solidFill>
                  <a:srgbClr val="F39211"/>
                </a:solidFill>
              </a:rPr>
              <a:t>1.4 Criando as tabelas do Projeto</a:t>
            </a:r>
            <a:br>
              <a:rPr lang="pt-BR" sz="3600" b="1" dirty="0">
                <a:solidFill>
                  <a:srgbClr val="F39211"/>
                </a:solidFill>
              </a:rPr>
            </a:br>
            <a:endParaRPr lang="pt-BR" sz="3600" i="1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436093"/>
            <a:ext cx="11002924" cy="3121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500" b="1" dirty="0"/>
              <a:t>4 - Tabela: </a:t>
            </a:r>
            <a:r>
              <a:rPr lang="pt-BR" sz="2500" i="1" dirty="0" err="1"/>
              <a:t>itens_venda</a:t>
            </a:r>
            <a:r>
              <a:rPr lang="pt-BR" sz="2500" i="1" dirty="0"/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itens_venda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id_item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AUTO_INCREMENT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pt-BR" sz="17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ID único do item da venda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pt-BR" sz="17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Venda obrigatória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id_produto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pt-BR" sz="17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Produto obrigatório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quantidade </a:t>
            </a:r>
            <a:r>
              <a:rPr lang="pt-BR" sz="17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pt-BR" sz="17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Quantidade vendida obrigatória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preco_unitario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7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170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Preço unitário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vendas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id_produto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pt-BR" sz="17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produtos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7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id_produto</a:t>
            </a: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t-BR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356181D-508E-4987-AD3D-4018055EC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663938"/>
              </p:ext>
            </p:extLst>
          </p:nvPr>
        </p:nvGraphicFramePr>
        <p:xfrm>
          <a:off x="338844" y="4716432"/>
          <a:ext cx="8594724" cy="17737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97362">
                  <a:extLst>
                    <a:ext uri="{9D8B030D-6E8A-4147-A177-3AD203B41FA5}">
                      <a16:colId xmlns:a16="http://schemas.microsoft.com/office/drawing/2014/main" val="124753961"/>
                    </a:ext>
                  </a:extLst>
                </a:gridCol>
                <a:gridCol w="4297362">
                  <a:extLst>
                    <a:ext uri="{9D8B030D-6E8A-4147-A177-3AD203B41FA5}">
                      <a16:colId xmlns:a16="http://schemas.microsoft.com/office/drawing/2014/main" val="795481632"/>
                    </a:ext>
                  </a:extLst>
                </a:gridCol>
              </a:tblGrid>
              <a:tr h="4850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Por quê?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0702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PRIMARY KEY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Cada venda tem um ID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216089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NOT NULL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Cliente, data e valor obrigatórios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01544"/>
                  </a:ext>
                </a:extLst>
              </a:tr>
              <a:tr h="4144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FOREIGN KEY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Garante que só seja possível cadastrar vendas de clientes existentes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703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9877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30102"/>
            <a:ext cx="9692640" cy="81198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Criando Códigos:</a:t>
            </a:r>
            <a:br>
              <a:rPr lang="pt-BR" sz="3600" b="1" dirty="0"/>
            </a:br>
            <a:r>
              <a:rPr lang="pt-BR" sz="3600" b="1" dirty="0">
                <a:solidFill>
                  <a:srgbClr val="F39211"/>
                </a:solidFill>
              </a:rPr>
              <a:t>1.5 Criando as tabelas do Projeto</a:t>
            </a:r>
            <a:br>
              <a:rPr lang="pt-BR" sz="3600" b="1" dirty="0">
                <a:solidFill>
                  <a:srgbClr val="F39211"/>
                </a:solidFill>
              </a:rPr>
            </a:br>
            <a:endParaRPr lang="pt-BR" sz="3600" i="1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436093"/>
            <a:ext cx="11002924" cy="3195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500" dirty="0"/>
              <a:t>5 - Tabela: </a:t>
            </a:r>
            <a:r>
              <a:rPr lang="pt-BR" sz="2500" b="1" i="1" dirty="0"/>
              <a:t>pagamentos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pagamentos 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pt-BR" sz="17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5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id_pagamento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AUTO_INCREMENT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175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ID único do pagamento</a:t>
            </a:r>
            <a:endParaRPr lang="pt-BR" sz="17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5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pt-BR" sz="175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Venda obrigatória</a:t>
            </a:r>
            <a:endParaRPr lang="pt-BR" sz="17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5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data_pagamento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pt-BR" sz="175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Data obrigatória</a:t>
            </a:r>
            <a:endParaRPr lang="pt-BR" sz="17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5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valor_pago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75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5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pt-BR" sz="175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Valor pago obrigatório</a:t>
            </a:r>
            <a:endParaRPr lang="pt-BR" sz="17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5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forma_pagamento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dirty="0">
                <a:solidFill>
                  <a:srgbClr val="8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750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'Dinheiro'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'Cartão'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'Boleto'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dirty="0">
                <a:solidFill>
                  <a:srgbClr val="00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 Tipos pré-definidos</a:t>
            </a:r>
            <a:endParaRPr lang="pt-BR" sz="17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75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75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pt-BR" sz="17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vendas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75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17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5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t-BR" sz="17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356181D-508E-4987-AD3D-4018055EC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42905"/>
              </p:ext>
            </p:extLst>
          </p:nvPr>
        </p:nvGraphicFramePr>
        <p:xfrm>
          <a:off x="338843" y="4578487"/>
          <a:ext cx="8594724" cy="21882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97362">
                  <a:extLst>
                    <a:ext uri="{9D8B030D-6E8A-4147-A177-3AD203B41FA5}">
                      <a16:colId xmlns:a16="http://schemas.microsoft.com/office/drawing/2014/main" val="124753961"/>
                    </a:ext>
                  </a:extLst>
                </a:gridCol>
                <a:gridCol w="4297362">
                  <a:extLst>
                    <a:ext uri="{9D8B030D-6E8A-4147-A177-3AD203B41FA5}">
                      <a16:colId xmlns:a16="http://schemas.microsoft.com/office/drawing/2014/main" val="795481632"/>
                    </a:ext>
                  </a:extLst>
                </a:gridCol>
              </a:tblGrid>
              <a:tr h="4850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b="1" dirty="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Por quê?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0702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PRIMARY KEY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Cada pagamento tem um ID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216089"/>
                  </a:ext>
                </a:extLst>
              </a:tr>
              <a:tr h="411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NOT NULL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Venda, data, valor e forma de pagamento obrigatórios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01544"/>
                  </a:ext>
                </a:extLst>
              </a:tr>
              <a:tr h="4144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ENUM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Limita os tipos de pagamento aceitos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703903"/>
                  </a:ext>
                </a:extLst>
              </a:tr>
              <a:tr h="4144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FOREIGN KEY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  <a:latin typeface="Constantia" panose="020306020503060303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Garantir que o pagamento esteja vinculado a uma venda existente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140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35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20E8B-B665-4276-9EE8-B82B29DF1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331920"/>
            <a:ext cx="9418320" cy="3063240"/>
          </a:xfrm>
        </p:spPr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dirty="0">
                <a:solidFill>
                  <a:srgbClr val="00758F"/>
                </a:solidFill>
              </a:rPr>
              <a:t>Hora dos </a:t>
            </a:r>
            <a:r>
              <a:rPr lang="pt-BR" dirty="0">
                <a:solidFill>
                  <a:srgbClr val="F39211"/>
                </a:solidFill>
              </a:rPr>
              <a:t>Exercícios!</a:t>
            </a:r>
            <a:r>
              <a:rPr lang="pt-BR" dirty="0">
                <a:solidFill>
                  <a:srgbClr val="00758F"/>
                </a:solidFill>
              </a:rPr>
              <a:t> </a:t>
            </a:r>
            <a:br>
              <a:rPr lang="pt-BR" dirty="0"/>
            </a:br>
            <a:br>
              <a:rPr lang="pt-BR" dirty="0"/>
            </a:br>
            <a:r>
              <a:rPr lang="pt-BR" dirty="0">
                <a:solidFill>
                  <a:srgbClr val="00758F"/>
                </a:solidFill>
              </a:rPr>
              <a:t>My</a:t>
            </a:r>
            <a:r>
              <a:rPr lang="pt-BR" dirty="0">
                <a:solidFill>
                  <a:srgbClr val="F39211"/>
                </a:solidFill>
              </a:rPr>
              <a:t>SQL</a:t>
            </a:r>
            <a:r>
              <a:rPr lang="pt-BR" dirty="0"/>
              <a:t>: Aula 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E03497-30AD-4754-A43A-72A8D0158E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Exercícios de INSERT e SELECT.</a:t>
            </a:r>
          </a:p>
        </p:txBody>
      </p:sp>
      <p:pic>
        <p:nvPicPr>
          <p:cNvPr id="1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14C8504F-8DD4-4170-A866-8452D0C10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071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30102"/>
            <a:ext cx="9692640" cy="81198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Exercícios:</a:t>
            </a:r>
            <a:br>
              <a:rPr lang="pt-BR" sz="3600" b="1" dirty="0">
                <a:solidFill>
                  <a:srgbClr val="F39211"/>
                </a:solidFill>
              </a:rPr>
            </a:br>
            <a:r>
              <a:rPr lang="pt-BR" sz="3600" b="1" dirty="0">
                <a:solidFill>
                  <a:srgbClr val="F39211"/>
                </a:solidFill>
              </a:rPr>
              <a:t>DROP TABLE da aula passada</a:t>
            </a:r>
            <a:br>
              <a:rPr lang="pt-BR" sz="3600" b="1" dirty="0">
                <a:solidFill>
                  <a:srgbClr val="F39211"/>
                </a:solidFill>
              </a:rPr>
            </a:br>
            <a:endParaRPr lang="pt-BR" sz="3600" i="1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436093"/>
            <a:ext cx="11002924" cy="2860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pt-BR" sz="2200" dirty="0"/>
              <a:t>Use o seguinte comando para listar tabelas:</a:t>
            </a:r>
            <a:endParaRPr lang="pt-BR" sz="2200" dirty="0">
              <a:solidFill>
                <a:srgbClr val="0000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SHOW TABLES</a:t>
            </a:r>
            <a:r>
              <a:rPr lang="pt-BR" sz="22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200" dirty="0">
                <a:ea typeface="Calibri" panose="020F0502020204030204" pitchFamily="34" charset="0"/>
                <a:cs typeface="Arial" panose="020B0604020202020204" pitchFamily="34" charset="0"/>
              </a:rPr>
              <a:t>E não esqueça de selecionar o Banco de Dados antes de executar o comando acima!</a:t>
            </a:r>
            <a:endParaRPr lang="pt-BR" sz="2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USE</a:t>
            </a:r>
            <a:r>
              <a:rPr lang="pt-BR" sz="2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nome_do_seu_banco</a:t>
            </a:r>
            <a:r>
              <a:rPr lang="pt-BR" sz="22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200" dirty="0">
                <a:ea typeface="Calibri" panose="020F0502020204030204" pitchFamily="34" charset="0"/>
                <a:cs typeface="Arial" panose="020B0604020202020204" pitchFamily="34" charset="0"/>
              </a:rPr>
              <a:t>E caso você queira saber quais tipos e </a:t>
            </a:r>
            <a:r>
              <a:rPr lang="pt-BR" sz="2200" dirty="0" err="1">
                <a:ea typeface="Calibri" panose="020F0502020204030204" pitchFamily="34" charset="0"/>
                <a:cs typeface="Arial" panose="020B0604020202020204" pitchFamily="34" charset="0"/>
              </a:rPr>
              <a:t>Constraints</a:t>
            </a:r>
            <a:r>
              <a:rPr lang="pt-BR" sz="2200" dirty="0">
                <a:ea typeface="Calibri" panose="020F0502020204030204" pitchFamily="34" charset="0"/>
                <a:cs typeface="Arial" panose="020B0604020202020204" pitchFamily="34" charset="0"/>
              </a:rPr>
              <a:t> fazem parte/configuração das tabelas, use o comando:</a:t>
            </a:r>
            <a:endParaRPr lang="pt-BR" sz="2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DESCRIBE</a:t>
            </a:r>
            <a:r>
              <a:rPr lang="pt-BR" sz="2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nome_da_tabela</a:t>
            </a:r>
            <a:r>
              <a:rPr lang="pt-BR" sz="2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ou </a:t>
            </a:r>
            <a:r>
              <a:rPr lang="pt-BR" sz="1700" b="1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DESC</a:t>
            </a:r>
            <a:r>
              <a:rPr lang="pt-BR" sz="2200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nome_da_tabela</a:t>
            </a:r>
            <a:r>
              <a:rPr lang="pt-BR" sz="2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709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30102"/>
            <a:ext cx="9692640" cy="81198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Exercícios:</a:t>
            </a:r>
            <a:br>
              <a:rPr lang="pt-BR" sz="3600" b="1" dirty="0">
                <a:solidFill>
                  <a:srgbClr val="F39211"/>
                </a:solidFill>
              </a:rPr>
            </a:br>
            <a:r>
              <a:rPr lang="pt-BR" sz="3600" b="1" dirty="0">
                <a:solidFill>
                  <a:srgbClr val="F39211"/>
                </a:solidFill>
              </a:rPr>
              <a:t>1.0 - SELECT e INSERT de informações</a:t>
            </a:r>
            <a:br>
              <a:rPr lang="pt-BR" sz="3600" b="1" dirty="0">
                <a:solidFill>
                  <a:srgbClr val="F39211"/>
                </a:solidFill>
              </a:rPr>
            </a:br>
            <a:endParaRPr lang="pt-BR" sz="3600" i="1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436093"/>
            <a:ext cx="10938756" cy="5295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1 - Tabela: </a:t>
            </a:r>
            <a:r>
              <a:rPr lang="pt-BR" sz="2400" i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clientes</a:t>
            </a:r>
            <a:endParaRPr lang="pt-BR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Exemplo de </a:t>
            </a:r>
            <a:r>
              <a:rPr lang="pt-BR" sz="19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INSERT</a:t>
            </a:r>
            <a:r>
              <a:rPr lang="pt-BR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pt-BR" sz="19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clientes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nome_cliente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cpf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cidade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estado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telefone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ativo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'Ana Souza'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'12345678901'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'São Paulo'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'SP'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'(11)91234-5678'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pt-BR" sz="1900" b="1" dirty="0">
                <a:solidFill>
                  <a:srgbClr val="00008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Exemplo de </a:t>
            </a:r>
            <a:r>
              <a:rPr lang="pt-BR" sz="19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pt-BR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pt-BR" sz="19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nome_cliente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cidade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estado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clientes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ativo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i="1" dirty="0">
                <a:ea typeface="Calibri" panose="020F0502020204030204" pitchFamily="34" charset="0"/>
                <a:cs typeface="Times New Roman" panose="02020603050405020304" pitchFamily="18" charset="0"/>
              </a:rPr>
              <a:t>Exercício - INSERT (Aluno):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Cadastre um novo cliente chamado </a:t>
            </a:r>
            <a:r>
              <a:rPr lang="pt-B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Carlos Almeida</a:t>
            </a: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, CPF 98765432100, da cidade </a:t>
            </a:r>
            <a:r>
              <a:rPr lang="pt-B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Rio de Janeiro (RJ)</a:t>
            </a: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, telefone (21)98765-4321, ativo.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000" i="1" dirty="0">
                <a:ea typeface="Times New Roman" panose="02020603050405020304" pitchFamily="18" charset="0"/>
              </a:rPr>
              <a:t>Exercício - SELECT (Aluno):</a:t>
            </a:r>
          </a:p>
          <a:p>
            <a:r>
              <a:rPr lang="pt-BR" sz="2000" dirty="0">
                <a:ea typeface="Times New Roman" panose="02020603050405020304" pitchFamily="18" charset="0"/>
              </a:rPr>
              <a:t>Liste o </a:t>
            </a:r>
            <a:r>
              <a:rPr lang="pt-BR" sz="2000" b="1" dirty="0">
                <a:ea typeface="Times New Roman" panose="02020603050405020304" pitchFamily="18" charset="0"/>
              </a:rPr>
              <a:t>nome e telefone</a:t>
            </a:r>
            <a:r>
              <a:rPr lang="pt-BR" sz="2000" dirty="0">
                <a:ea typeface="Times New Roman" panose="02020603050405020304" pitchFamily="18" charset="0"/>
              </a:rPr>
              <a:t> de todos os clientes que são da cidade de </a:t>
            </a:r>
            <a:r>
              <a:rPr lang="pt-BR" sz="2000" b="1" dirty="0">
                <a:ea typeface="Times New Roman" panose="02020603050405020304" pitchFamily="18" charset="0"/>
              </a:rPr>
              <a:t>São Paulo</a:t>
            </a:r>
            <a:r>
              <a:rPr lang="pt-BR" sz="2000" dirty="0">
                <a:ea typeface="Times New Roman" panose="02020603050405020304" pitchFamily="18" charset="0"/>
              </a:rPr>
              <a:t>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661113F-384D-42E8-A105-7BADD0FA15D9}"/>
              </a:ext>
            </a:extLst>
          </p:cNvPr>
          <p:cNvCxnSpPr>
            <a:cxnSpLocks/>
          </p:cNvCxnSpPr>
          <p:nvPr/>
        </p:nvCxnSpPr>
        <p:spPr>
          <a:xfrm>
            <a:off x="338844" y="4235115"/>
            <a:ext cx="10361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535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30102"/>
            <a:ext cx="9692640" cy="81198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Exercícios:</a:t>
            </a:r>
            <a:br>
              <a:rPr lang="pt-BR" sz="3600" b="1" dirty="0">
                <a:solidFill>
                  <a:srgbClr val="F39211"/>
                </a:solidFill>
              </a:rPr>
            </a:br>
            <a:r>
              <a:rPr lang="pt-BR" sz="3600" b="1" dirty="0">
                <a:solidFill>
                  <a:srgbClr val="F39211"/>
                </a:solidFill>
              </a:rPr>
              <a:t>1.1 - SELECT e INSERT de informações</a:t>
            </a:r>
            <a:br>
              <a:rPr lang="pt-BR" sz="3600" b="1" dirty="0">
                <a:solidFill>
                  <a:srgbClr val="F39211"/>
                </a:solidFill>
              </a:rPr>
            </a:br>
            <a:endParaRPr lang="pt-BR" sz="3600" i="1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436093"/>
            <a:ext cx="10938756" cy="5225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2 - Tabela: </a:t>
            </a:r>
            <a:r>
              <a:rPr lang="pt-BR" sz="2400" i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produtos</a:t>
            </a:r>
            <a:endParaRPr lang="pt-BR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Exemplo de INSERT: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produtos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nome_produto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preco_unitario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estoque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ativo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900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'Monitor LED 24"'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750.00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Exemplo de SELECT:</a:t>
            </a:r>
            <a:br>
              <a:rPr lang="pt-BR" sz="1900" dirty="0"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nome_produto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preco_unitario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produtos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ativo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pt-BR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i="1" dirty="0">
                <a:ea typeface="Calibri" panose="020F0502020204030204" pitchFamily="34" charset="0"/>
                <a:cs typeface="Times New Roman" panose="02020603050405020304" pitchFamily="18" charset="0"/>
              </a:rPr>
              <a:t>Exercício - INSERT (Aluno):</a:t>
            </a:r>
            <a:br>
              <a:rPr lang="pt-BR" sz="2000" b="1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Cadastre o produto </a:t>
            </a:r>
            <a:r>
              <a:rPr lang="pt-B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"Mouse Óptico"</a:t>
            </a: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, com preço unitário de </a:t>
            </a:r>
            <a:r>
              <a:rPr lang="pt-B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80.00</a:t>
            </a: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, estoque </a:t>
            </a:r>
            <a:r>
              <a:rPr lang="pt-B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50 unidades</a:t>
            </a: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, ativo.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000" i="1" dirty="0">
                <a:ea typeface="Times New Roman" panose="02020603050405020304" pitchFamily="18" charset="0"/>
              </a:rPr>
              <a:t>Exercício - SELECT (Aluno):</a:t>
            </a:r>
            <a:br>
              <a:rPr lang="pt-BR" sz="2000" b="1" dirty="0">
                <a:ea typeface="Times New Roman" panose="02020603050405020304" pitchFamily="18" charset="0"/>
              </a:rPr>
            </a:br>
            <a:r>
              <a:rPr lang="pt-BR" sz="2000" b="1" dirty="0">
                <a:ea typeface="Times New Roman" panose="02020603050405020304" pitchFamily="18" charset="0"/>
              </a:rPr>
              <a:t>Liste </a:t>
            </a:r>
            <a:r>
              <a:rPr lang="pt-BR" sz="2000" dirty="0">
                <a:ea typeface="Times New Roman" panose="02020603050405020304" pitchFamily="18" charset="0"/>
              </a:rPr>
              <a:t>todos os produtos com estoque maior que 10 unidades</a:t>
            </a:r>
            <a:r>
              <a:rPr lang="pt-BR" sz="2000" b="1" dirty="0">
                <a:ea typeface="Times New Roman" panose="02020603050405020304" pitchFamily="18" charset="0"/>
              </a:rPr>
              <a:t>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661113F-384D-42E8-A105-7BADD0FA15D9}"/>
              </a:ext>
            </a:extLst>
          </p:cNvPr>
          <p:cNvCxnSpPr>
            <a:cxnSpLocks/>
          </p:cNvCxnSpPr>
          <p:nvPr/>
        </p:nvCxnSpPr>
        <p:spPr>
          <a:xfrm>
            <a:off x="338844" y="4170947"/>
            <a:ext cx="10361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419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30102"/>
            <a:ext cx="9692640" cy="81198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Exercícios:</a:t>
            </a:r>
            <a:br>
              <a:rPr lang="pt-BR" sz="3600" b="1" dirty="0">
                <a:solidFill>
                  <a:srgbClr val="F39211"/>
                </a:solidFill>
              </a:rPr>
            </a:br>
            <a:r>
              <a:rPr lang="pt-BR" sz="3600" b="1" dirty="0">
                <a:solidFill>
                  <a:srgbClr val="F39211"/>
                </a:solidFill>
              </a:rPr>
              <a:t>1.2 - SELECT e INSERT de informações</a:t>
            </a:r>
            <a:br>
              <a:rPr lang="pt-BR" sz="3600" b="1" dirty="0">
                <a:solidFill>
                  <a:srgbClr val="F39211"/>
                </a:solidFill>
              </a:rPr>
            </a:br>
            <a:endParaRPr lang="pt-BR" sz="3600" i="1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436093"/>
            <a:ext cx="10938756" cy="4913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3 - Tabela: </a:t>
            </a:r>
            <a:r>
              <a:rPr lang="pt-BR" sz="2400" i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vendas</a:t>
            </a:r>
            <a:endParaRPr lang="pt-BR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Exemplo de INSERT:</a:t>
            </a:r>
            <a:br>
              <a:rPr lang="pt-BR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vendas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id_cliente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data_venda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valor_total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'2025-06-14'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450.00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Exemplo de SELECT:</a:t>
            </a:r>
            <a:br>
              <a:rPr lang="pt-BR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data_venda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valor_total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vendas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id_cliente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i="1" dirty="0">
                <a:ea typeface="Calibri" panose="020F0502020204030204" pitchFamily="34" charset="0"/>
                <a:cs typeface="Times New Roman" panose="02020603050405020304" pitchFamily="18" charset="0"/>
              </a:rPr>
              <a:t>1 - Exercício - INSERT (Aluno):</a:t>
            </a:r>
            <a:br>
              <a:rPr lang="pt-BR" sz="2000" b="1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Cadastre uma nova venda feita pelo cliente com </a:t>
            </a:r>
            <a:r>
              <a:rPr lang="pt-BR" sz="20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id_cliente</a:t>
            </a:r>
            <a:r>
              <a:rPr lang="pt-B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 = 2</a:t>
            </a: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, no dia </a:t>
            </a:r>
            <a:r>
              <a:rPr lang="pt-B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2025-06-15</a:t>
            </a: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, no valor de </a:t>
            </a:r>
            <a:r>
              <a:rPr lang="pt-BR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300.00</a:t>
            </a: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pt-BR" sz="2000" b="1" dirty="0">
                <a:solidFill>
                  <a:srgbClr val="00008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2 - Exercício - SELECT (Aluno):</a:t>
            </a:r>
            <a:br>
              <a:rPr lang="pt-BR" sz="2000" b="1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Liste </a:t>
            </a:r>
            <a:r>
              <a:rPr lang="pt-BR" sz="20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todas as vendas com valor superior a 400.00</a:t>
            </a:r>
            <a:r>
              <a:rPr lang="pt-BR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661113F-384D-42E8-A105-7BADD0FA15D9}"/>
              </a:ext>
            </a:extLst>
          </p:cNvPr>
          <p:cNvCxnSpPr>
            <a:cxnSpLocks/>
          </p:cNvCxnSpPr>
          <p:nvPr/>
        </p:nvCxnSpPr>
        <p:spPr>
          <a:xfrm>
            <a:off x="338844" y="3930315"/>
            <a:ext cx="10361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355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30102"/>
            <a:ext cx="9692640" cy="81198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Exercícios:</a:t>
            </a:r>
            <a:br>
              <a:rPr lang="pt-BR" sz="3600" b="1" dirty="0">
                <a:solidFill>
                  <a:srgbClr val="F39211"/>
                </a:solidFill>
              </a:rPr>
            </a:br>
            <a:r>
              <a:rPr lang="pt-BR" sz="3600" b="1" dirty="0">
                <a:solidFill>
                  <a:srgbClr val="F39211"/>
                </a:solidFill>
              </a:rPr>
              <a:t>1.3 - SELECT e INSERT de informações</a:t>
            </a:r>
            <a:br>
              <a:rPr lang="pt-BR" sz="3600" b="1" dirty="0">
                <a:solidFill>
                  <a:srgbClr val="F39211"/>
                </a:solidFill>
              </a:rPr>
            </a:br>
            <a:endParaRPr lang="pt-BR" sz="3600" i="1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436093"/>
            <a:ext cx="10938756" cy="5074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ea typeface="Calibri" panose="020F0502020204030204" pitchFamily="34" charset="0"/>
                <a:cs typeface="Times New Roman" panose="02020603050405020304" pitchFamily="18" charset="0"/>
              </a:rPr>
              <a:t>4 - Tabela: </a:t>
            </a:r>
            <a:r>
              <a:rPr lang="pt-BR" sz="24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itens_venda</a:t>
            </a:r>
            <a:endParaRPr lang="pt-BR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Exemplo de INSERT:</a:t>
            </a:r>
            <a:br>
              <a:rPr lang="pt-BR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itens_venda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id_produto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quantidade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preco_unitario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750.00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Exemplo de SELECT:</a:t>
            </a:r>
            <a:br>
              <a:rPr lang="pt-BR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id_produto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quantidade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itens_venda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000" i="1" dirty="0">
                <a:ea typeface="Times New Roman" panose="02020603050405020304" pitchFamily="18" charset="0"/>
              </a:rPr>
              <a:t>Exercício - INSERT (Aluno):</a:t>
            </a:r>
            <a:br>
              <a:rPr lang="pt-BR" sz="2000" dirty="0">
                <a:ea typeface="Times New Roman" panose="02020603050405020304" pitchFamily="18" charset="0"/>
              </a:rPr>
            </a:br>
            <a:r>
              <a:rPr lang="pt-BR" sz="2000" dirty="0">
                <a:ea typeface="Times New Roman" panose="02020603050405020304" pitchFamily="18" charset="0"/>
              </a:rPr>
              <a:t>Insira um item na venda </a:t>
            </a:r>
            <a:r>
              <a:rPr lang="pt-BR" sz="2000" dirty="0" err="1">
                <a:ea typeface="Times New Roman" panose="02020603050405020304" pitchFamily="18" charset="0"/>
              </a:rPr>
              <a:t>id_venda</a:t>
            </a:r>
            <a:r>
              <a:rPr lang="pt-BR" sz="2000" dirty="0">
                <a:ea typeface="Times New Roman" panose="02020603050405020304" pitchFamily="18" charset="0"/>
              </a:rPr>
              <a:t> = 2, do produto </a:t>
            </a:r>
            <a:r>
              <a:rPr lang="pt-BR" sz="2000" dirty="0" err="1">
                <a:ea typeface="Times New Roman" panose="02020603050405020304" pitchFamily="18" charset="0"/>
              </a:rPr>
              <a:t>id_produto</a:t>
            </a:r>
            <a:r>
              <a:rPr lang="pt-BR" sz="2000" dirty="0">
                <a:ea typeface="Times New Roman" panose="02020603050405020304" pitchFamily="18" charset="0"/>
              </a:rPr>
              <a:t> = 2, com quantidade 3, preço unitário 80.00.</a:t>
            </a:r>
            <a:endParaRPr lang="pt-BR" sz="2000" b="1" dirty="0"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dirty="0">
                <a:solidFill>
                  <a:srgbClr val="000080"/>
                </a:solidFill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pt-BR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i="1" dirty="0">
                <a:ea typeface="Calibri" panose="020F0502020204030204" pitchFamily="34" charset="0"/>
                <a:cs typeface="Times New Roman" panose="02020603050405020304" pitchFamily="18" charset="0"/>
              </a:rPr>
              <a:t>Exercício - SELECT (Aluno):</a:t>
            </a:r>
            <a:b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Liste os produtos (</a:t>
            </a:r>
            <a:r>
              <a:rPr lang="pt-BR" sz="2000" dirty="0" err="1">
                <a:ea typeface="Calibri" panose="020F0502020204030204" pitchFamily="34" charset="0"/>
                <a:cs typeface="Times New Roman" panose="02020603050405020304" pitchFamily="18" charset="0"/>
              </a:rPr>
              <a:t>id_produto</a:t>
            </a:r>
            <a:r>
              <a:rPr lang="pt-BR" sz="2000" dirty="0">
                <a:ea typeface="Calibri" panose="020F0502020204030204" pitchFamily="34" charset="0"/>
                <a:cs typeface="Times New Roman" panose="02020603050405020304" pitchFamily="18" charset="0"/>
              </a:rPr>
              <a:t> e quantidade) vendidos na venda de ID 2.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661113F-384D-42E8-A105-7BADD0FA15D9}"/>
              </a:ext>
            </a:extLst>
          </p:cNvPr>
          <p:cNvCxnSpPr>
            <a:cxnSpLocks/>
          </p:cNvCxnSpPr>
          <p:nvPr/>
        </p:nvCxnSpPr>
        <p:spPr>
          <a:xfrm>
            <a:off x="338844" y="4170946"/>
            <a:ext cx="10361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783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030102"/>
            <a:ext cx="9692640" cy="811983"/>
          </a:xfrm>
        </p:spPr>
        <p:txBody>
          <a:bodyPr>
            <a:noAutofit/>
          </a:bodyPr>
          <a:lstStyle/>
          <a:p>
            <a:r>
              <a:rPr lang="pt-BR" sz="3600" b="1" dirty="0">
                <a:solidFill>
                  <a:srgbClr val="00758F"/>
                </a:solidFill>
              </a:rPr>
              <a:t>Exercícios:</a:t>
            </a:r>
            <a:br>
              <a:rPr lang="pt-BR" sz="3600" b="1" dirty="0">
                <a:solidFill>
                  <a:srgbClr val="F39211"/>
                </a:solidFill>
              </a:rPr>
            </a:br>
            <a:r>
              <a:rPr lang="pt-BR" sz="3600" b="1" dirty="0">
                <a:solidFill>
                  <a:srgbClr val="F39211"/>
                </a:solidFill>
              </a:rPr>
              <a:t>1.3 - SELECT e INSERT de informações</a:t>
            </a:r>
            <a:br>
              <a:rPr lang="pt-BR" sz="3600" b="1" dirty="0">
                <a:solidFill>
                  <a:srgbClr val="F39211"/>
                </a:solidFill>
              </a:rPr>
            </a:br>
            <a:endParaRPr lang="pt-BR" sz="3600" i="1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436093"/>
            <a:ext cx="10938756" cy="5399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5 - Tabela: </a:t>
            </a:r>
            <a:r>
              <a:rPr lang="pt-BR" sz="2400" i="1" dirty="0"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pagamentos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Exemplo de INSERT:</a:t>
            </a:r>
            <a:br>
              <a:rPr lang="pt-BR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pagamentos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data_pagamento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valor_pago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forma_pagamento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'2025-06-15'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FF8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450.00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'Cartão'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Exemplo de SELECT:</a:t>
            </a:r>
            <a:br>
              <a:rPr lang="pt-BR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id_venda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valor_pago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forma_pagamento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pagamentos </a:t>
            </a:r>
            <a:r>
              <a:rPr lang="pt-BR" sz="19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forma_pagamento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900" dirty="0">
                <a:solidFill>
                  <a:srgbClr val="808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'Cartão'</a:t>
            </a:r>
            <a:r>
              <a:rPr lang="pt-BR" sz="1900" b="1" dirty="0">
                <a:solidFill>
                  <a:srgbClr val="00008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9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000" i="1" dirty="0">
                <a:latin typeface="Constantia" panose="02030602050306030303" pitchFamily="18" charset="0"/>
                <a:ea typeface="Times New Roman" panose="02020603050405020304" pitchFamily="18" charset="0"/>
              </a:rPr>
              <a:t>Exercício - INSERT (Aluno):</a:t>
            </a:r>
            <a:br>
              <a:rPr lang="pt-BR" sz="2000" b="1" dirty="0">
                <a:latin typeface="Constantia" panose="02030602050306030303" pitchFamily="18" charset="0"/>
                <a:ea typeface="Times New Roman" panose="02020603050405020304" pitchFamily="18" charset="0"/>
              </a:rPr>
            </a:br>
            <a:r>
              <a:rPr lang="pt-BR" sz="2000" b="1" dirty="0">
                <a:latin typeface="Constantia" panose="02030602050306030303" pitchFamily="18" charset="0"/>
                <a:ea typeface="Times New Roman" panose="02020603050405020304" pitchFamily="18" charset="0"/>
              </a:rPr>
              <a:t>Cadastre um pagamento para a </a:t>
            </a:r>
            <a:r>
              <a:rPr lang="pt-BR" sz="2000" dirty="0">
                <a:latin typeface="Constantia" panose="02030602050306030303" pitchFamily="18" charset="0"/>
                <a:ea typeface="Times New Roman" panose="02020603050405020304" pitchFamily="18" charset="0"/>
              </a:rPr>
              <a:t>venda id = 2</a:t>
            </a:r>
            <a:r>
              <a:rPr lang="pt-BR" sz="2000" b="1" dirty="0">
                <a:latin typeface="Constantia" panose="02030602050306030303" pitchFamily="18" charset="0"/>
                <a:ea typeface="Times New Roman" panose="02020603050405020304" pitchFamily="18" charset="0"/>
              </a:rPr>
              <a:t>, com data </a:t>
            </a:r>
            <a:r>
              <a:rPr lang="pt-BR" sz="2000" dirty="0">
                <a:latin typeface="Constantia" panose="02030602050306030303" pitchFamily="18" charset="0"/>
                <a:ea typeface="Times New Roman" panose="02020603050405020304" pitchFamily="18" charset="0"/>
              </a:rPr>
              <a:t>2025-06-16</a:t>
            </a:r>
            <a:r>
              <a:rPr lang="pt-BR" sz="2000" b="1" dirty="0">
                <a:latin typeface="Constantia" panose="02030602050306030303" pitchFamily="18" charset="0"/>
                <a:ea typeface="Times New Roman" panose="02020603050405020304" pitchFamily="18" charset="0"/>
              </a:rPr>
              <a:t>, valor </a:t>
            </a:r>
            <a:r>
              <a:rPr lang="pt-BR" sz="2000" dirty="0">
                <a:latin typeface="Constantia" panose="02030602050306030303" pitchFamily="18" charset="0"/>
                <a:ea typeface="Times New Roman" panose="02020603050405020304" pitchFamily="18" charset="0"/>
              </a:rPr>
              <a:t>300.00</a:t>
            </a:r>
            <a:r>
              <a:rPr lang="pt-BR" sz="2000" b="1" dirty="0">
                <a:latin typeface="Constantia" panose="02030602050306030303" pitchFamily="18" charset="0"/>
                <a:ea typeface="Times New Roman" panose="02020603050405020304" pitchFamily="18" charset="0"/>
              </a:rPr>
              <a:t>, forma de pagamento </a:t>
            </a:r>
            <a:r>
              <a:rPr lang="pt-BR" sz="2000" dirty="0">
                <a:latin typeface="Constantia" panose="02030602050306030303" pitchFamily="18" charset="0"/>
                <a:ea typeface="Times New Roman" panose="02020603050405020304" pitchFamily="18" charset="0"/>
              </a:rPr>
              <a:t>Dinheiro</a:t>
            </a:r>
            <a:r>
              <a:rPr lang="pt-BR" sz="2000" b="1" dirty="0">
                <a:latin typeface="Constantia" panose="02030602050306030303" pitchFamily="18" charset="0"/>
                <a:ea typeface="Times New Roman" panose="02020603050405020304" pitchFamily="18" charset="0"/>
              </a:rPr>
              <a:t>.</a:t>
            </a:r>
            <a:endParaRPr lang="pt-BR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2000" i="1" dirty="0">
              <a:latin typeface="Constantia" panose="020306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i="1" dirty="0"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Exercício - SELECT (Aluno):</a:t>
            </a:r>
            <a:br>
              <a:rPr lang="pt-BR" sz="2000" dirty="0"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000" dirty="0"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Liste </a:t>
            </a:r>
            <a:r>
              <a:rPr lang="pt-BR" sz="2000" b="1" dirty="0"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todos os pagamentos feitos após o dia 2025-06-14</a:t>
            </a:r>
            <a:r>
              <a:rPr lang="pt-BR" sz="2000" dirty="0">
                <a:latin typeface="Constantia" panose="020306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661113F-384D-42E8-A105-7BADD0FA15D9}"/>
              </a:ext>
            </a:extLst>
          </p:cNvPr>
          <p:cNvCxnSpPr>
            <a:cxnSpLocks/>
          </p:cNvCxnSpPr>
          <p:nvPr/>
        </p:nvCxnSpPr>
        <p:spPr>
          <a:xfrm>
            <a:off x="338844" y="4491788"/>
            <a:ext cx="10361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498946"/>
      </p:ext>
    </p:extLst>
  </p:cSld>
  <p:clrMapOvr>
    <a:masterClrMapping/>
  </p:clrMapOvr>
</p:sld>
</file>

<file path=ppt/theme/theme1.xml><?xml version="1.0" encoding="utf-8"?>
<a:theme xmlns:a="http://schemas.openxmlformats.org/drawingml/2006/main" name="Exibir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TM03457515[[fn=Exibir]]</Template>
  <TotalTime>1105</TotalTime>
  <Words>1111</Words>
  <Application>Microsoft Office PowerPoint</Application>
  <PresentationFormat>Widescreen</PresentationFormat>
  <Paragraphs>246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Century Schoolbook</vt:lpstr>
      <vt:lpstr>Constantia</vt:lpstr>
      <vt:lpstr>Courier New</vt:lpstr>
      <vt:lpstr>Times New Roman</vt:lpstr>
      <vt:lpstr>Wingdings 2</vt:lpstr>
      <vt:lpstr>Exibir</vt:lpstr>
      <vt:lpstr> Bem-Vindos novamente!    MySQL: Aula 02</vt:lpstr>
      <vt:lpstr>O que vamos aprender hoje? Serão os seguintes tópicos:</vt:lpstr>
      <vt:lpstr>Criando Códigos: 1.0 O que são as configurações de colunas no MySQL?</vt:lpstr>
      <vt:lpstr>Criando Códigos: 1.1 O que são as configurações de colunas no MySQL?</vt:lpstr>
      <vt:lpstr>Criando Códigos: 1.2 O que são as configurações de colunas no MySQL?</vt:lpstr>
      <vt:lpstr>Criando Códigos: 1.3 O que são as configurações de colunas no MySQL?</vt:lpstr>
      <vt:lpstr>Criando Códigos: 1.0 Criando as tabelas do Projeto</vt:lpstr>
      <vt:lpstr>Criando Códigos: 1.1 Criando as tabelas do Projeto </vt:lpstr>
      <vt:lpstr>Criando Códigos: 1.2 Criando as tabelas do Projeto </vt:lpstr>
      <vt:lpstr>Criando Códigos: 1.3 Criando as tabelas do Projeto </vt:lpstr>
      <vt:lpstr>Criando Códigos: 1.4 Criando as tabelas do Projeto </vt:lpstr>
      <vt:lpstr>Criando Códigos: 1.5 Criando as tabelas do Projeto </vt:lpstr>
      <vt:lpstr> Hora dos Exercícios!   MySQL: Aula 02</vt:lpstr>
      <vt:lpstr>Exercícios: DROP TABLE da aula passada </vt:lpstr>
      <vt:lpstr>Exercícios: 1.0 - SELECT e INSERT de informações </vt:lpstr>
      <vt:lpstr>Exercícios: 1.1 - SELECT e INSERT de informações </vt:lpstr>
      <vt:lpstr>Exercícios: 1.2 - SELECT e INSERT de informações </vt:lpstr>
      <vt:lpstr>Exercícios: 1.3 - SELECT e INSERT de informações </vt:lpstr>
      <vt:lpstr>Exercícios: 1.3 - SELECT e INSERT de informações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Bem-Vindos!    MySQL: Aula 01</dc:title>
  <dc:creator>Ruan Machado</dc:creator>
  <cp:lastModifiedBy>Ruan Machado</cp:lastModifiedBy>
  <cp:revision>42</cp:revision>
  <dcterms:created xsi:type="dcterms:W3CDTF">2025-06-14T16:47:44Z</dcterms:created>
  <dcterms:modified xsi:type="dcterms:W3CDTF">2025-06-21T18:30:56Z</dcterms:modified>
</cp:coreProperties>
</file>