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sldIdLst>
    <p:sldId id="256" r:id="rId2"/>
    <p:sldId id="265" r:id="rId3"/>
    <p:sldId id="267" r:id="rId4"/>
    <p:sldId id="268" r:id="rId5"/>
    <p:sldId id="269" r:id="rId6"/>
    <p:sldId id="266" r:id="rId7"/>
    <p:sldId id="270" r:id="rId8"/>
    <p:sldId id="272" r:id="rId9"/>
    <p:sldId id="271" r:id="rId10"/>
    <p:sldId id="273" r:id="rId11"/>
    <p:sldId id="274" r:id="rId12"/>
    <p:sldId id="275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211"/>
    <a:srgbClr val="00758F"/>
    <a:srgbClr val="0000FF"/>
    <a:srgbClr val="79B6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2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9E016143-E03C-4CFD-AFDC-14E5BDEA754C}" type="datetimeFigureOut">
              <a:rPr lang="en-US" dirty="0"/>
              <a:t>6/20/2025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94063-DF36-4330-A365-08DA1FA5B7D6}" type="datetimeFigureOut">
              <a:rPr lang="en-US" dirty="0"/>
              <a:t>6/20/2025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A7C6C-0F39-4D70-8E8D-FE5B9C95FA73}" type="datetimeFigureOut">
              <a:rPr lang="en-US" dirty="0"/>
              <a:t>6/20/2025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FA4AC-08CC-42CE-BD01-C191750A04EC}" type="datetimeFigureOut">
              <a:rPr lang="en-US" dirty="0"/>
              <a:t>6/20/2025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pt-BR"/>
              <a:t>Editar estilos de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A7A723-92A7-435B-B681-F25B092FEFEB}" type="datetimeFigureOut">
              <a:rPr lang="en-US" dirty="0"/>
              <a:t>6/20/2025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70639-886C-4FCF-9EAB-ABB5DA3F3F4A}" type="datetimeFigureOut">
              <a:rPr lang="en-US" dirty="0"/>
              <a:t>6/20/2025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30651-31F4-45D2-98AE-A2108F41BC07}" type="datetimeFigureOut">
              <a:rPr lang="en-US" dirty="0"/>
              <a:t>6/20/2025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3789A-C914-4DB1-8815-80B5EC7335C5}" type="datetimeFigureOut">
              <a:rPr lang="en-US" dirty="0"/>
              <a:t>6/20/2025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440AA-91A0-436F-8FDB-C0F939DCAE21}" type="datetimeFigureOut">
              <a:rPr lang="en-US" dirty="0"/>
              <a:t>6/20/2025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33E54A-A8CA-48C1-9504-691B58049D29}" type="datetimeFigureOut">
              <a:rPr lang="en-US" dirty="0"/>
              <a:t>6/20/2025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6C806-BBF7-471C-9527-881CE2266695}" type="datetimeFigureOut">
              <a:rPr lang="en-US" dirty="0"/>
              <a:t>6/20/2025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0E59FD0C-5451-4CA0-86AF-E70AE3279989}" type="datetimeFigureOut">
              <a:rPr lang="en-US" dirty="0"/>
              <a:t>6/20/2025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C20E8B-B665-4276-9EE8-B82B29DF17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1872" y="1331920"/>
            <a:ext cx="9418320" cy="3063240"/>
          </a:xfrm>
        </p:spPr>
        <p:txBody>
          <a:bodyPr>
            <a:normAutofit fontScale="90000"/>
          </a:bodyPr>
          <a:lstStyle/>
          <a:p>
            <a:br>
              <a:rPr lang="pt-BR" dirty="0"/>
            </a:br>
            <a:r>
              <a:rPr lang="pt-BR" dirty="0">
                <a:solidFill>
                  <a:srgbClr val="00758F"/>
                </a:solidFill>
              </a:rPr>
              <a:t>Bem-Vindos novamente! 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r>
              <a:rPr lang="pt-BR" dirty="0">
                <a:solidFill>
                  <a:srgbClr val="00758F"/>
                </a:solidFill>
              </a:rPr>
              <a:t>My</a:t>
            </a:r>
            <a:r>
              <a:rPr lang="pt-BR" dirty="0">
                <a:solidFill>
                  <a:srgbClr val="F39211"/>
                </a:solidFill>
              </a:rPr>
              <a:t>SQL</a:t>
            </a:r>
            <a:r>
              <a:rPr lang="pt-BR" dirty="0"/>
              <a:t>: Aula 02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7E03497-30AD-4754-A43A-72A8D0158E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pt-BR" sz="2000" dirty="0"/>
              <a:t>Professor: Ruan Machado</a:t>
            </a:r>
          </a:p>
          <a:p>
            <a:r>
              <a:rPr lang="pt-BR" sz="2000" dirty="0"/>
              <a:t>Desenvolvedor Python – RPA, Experiência com Bancos de Dados Relacionais.</a:t>
            </a:r>
          </a:p>
        </p:txBody>
      </p:sp>
      <p:pic>
        <p:nvPicPr>
          <p:cNvPr id="14" name="Picture 6" descr="https://www.mysql.com/common/logos/logo-mysql-170x115.png">
            <a:extLst>
              <a:ext uri="{FF2B5EF4-FFF2-40B4-BE49-F238E27FC236}">
                <a16:creationId xmlns:a16="http://schemas.microsoft.com/office/drawing/2014/main" id="{14C8504F-8DD4-4170-A866-8452D0C10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793" y="5753675"/>
            <a:ext cx="1385775" cy="93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69532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BF4364-A6CD-4460-A48D-6779B48A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5" y="763819"/>
            <a:ext cx="9692640" cy="936973"/>
          </a:xfrm>
        </p:spPr>
        <p:txBody>
          <a:bodyPr>
            <a:noAutofit/>
          </a:bodyPr>
          <a:lstStyle/>
          <a:p>
            <a:r>
              <a:rPr lang="pt-BR" sz="4000" b="1" dirty="0">
                <a:solidFill>
                  <a:srgbClr val="00758F"/>
                </a:solidFill>
              </a:rPr>
              <a:t>O que vamos aprender hoje?</a:t>
            </a:r>
            <a:br>
              <a:rPr lang="pt-BR" sz="4000" b="1" dirty="0">
                <a:solidFill>
                  <a:srgbClr val="00758F"/>
                </a:solidFill>
              </a:rPr>
            </a:br>
            <a:r>
              <a:rPr lang="pt-BR" sz="4000" b="1" dirty="0">
                <a:solidFill>
                  <a:srgbClr val="F39211"/>
                </a:solidFill>
              </a:rPr>
              <a:t>Serão os seguintes tópicos:</a:t>
            </a:r>
            <a:endParaRPr lang="pt-BR" sz="4000" dirty="0">
              <a:solidFill>
                <a:srgbClr val="F39211"/>
              </a:solidFill>
            </a:endParaRPr>
          </a:p>
        </p:txBody>
      </p:sp>
      <p:pic>
        <p:nvPicPr>
          <p:cNvPr id="4" name="Picture 6" descr="https://www.mysql.com/common/logos/logo-mysql-170x115.png">
            <a:extLst>
              <a:ext uri="{FF2B5EF4-FFF2-40B4-BE49-F238E27FC236}">
                <a16:creationId xmlns:a16="http://schemas.microsoft.com/office/drawing/2014/main" id="{441DFD02-E8A2-4690-9CD7-1CC407F20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793" y="5753675"/>
            <a:ext cx="1385775" cy="93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90DD339-B99C-43BD-99AF-28040E9B3E9C}"/>
              </a:ext>
            </a:extLst>
          </p:cNvPr>
          <p:cNvSpPr txBox="1"/>
          <p:nvPr/>
        </p:nvSpPr>
        <p:spPr>
          <a:xfrm>
            <a:off x="338845" y="1842085"/>
            <a:ext cx="927037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Criando Códigos:</a:t>
            </a:r>
          </a:p>
          <a:p>
            <a:r>
              <a:rPr lang="pt-BR" sz="2000" dirty="0"/>
              <a:t>•	O que são as configurações de colunas no </a:t>
            </a:r>
            <a:r>
              <a:rPr lang="pt-BR" sz="2000" dirty="0">
                <a:solidFill>
                  <a:srgbClr val="00758F"/>
                </a:solidFill>
              </a:rPr>
              <a:t>My</a:t>
            </a:r>
            <a:r>
              <a:rPr lang="pt-BR" sz="2000" dirty="0">
                <a:solidFill>
                  <a:srgbClr val="F39211"/>
                </a:solidFill>
              </a:rPr>
              <a:t>SQL</a:t>
            </a:r>
            <a:r>
              <a:rPr lang="pt-BR" sz="2000" dirty="0"/>
              <a:t>?</a:t>
            </a:r>
          </a:p>
          <a:p>
            <a:r>
              <a:rPr lang="pt-BR" sz="2000" dirty="0"/>
              <a:t>•	Criando as tabelas do Projeto;</a:t>
            </a:r>
          </a:p>
          <a:p>
            <a:r>
              <a:rPr lang="pt-BR" sz="2000" dirty="0"/>
              <a:t>•	Cuidando da integridade do Banco de Dados;</a:t>
            </a:r>
          </a:p>
          <a:p>
            <a:r>
              <a:rPr lang="pt-BR" sz="2000" dirty="0"/>
              <a:t>•	Alterando as tabelas;</a:t>
            </a:r>
          </a:p>
          <a:p>
            <a:r>
              <a:rPr lang="pt-BR" sz="2000" dirty="0"/>
              <a:t>•	Excluindo as tabelas.</a:t>
            </a:r>
          </a:p>
          <a:p>
            <a:r>
              <a:rPr lang="pt-BR" sz="2000" dirty="0"/>
              <a:t>________________________________________</a:t>
            </a:r>
          </a:p>
          <a:p>
            <a:r>
              <a:rPr lang="pt-BR" sz="2000" b="1" dirty="0"/>
              <a:t>Manipulando Registros:</a:t>
            </a:r>
          </a:p>
          <a:p>
            <a:r>
              <a:rPr lang="pt-BR" sz="2000" dirty="0"/>
              <a:t>•	Inserindo e Excluindo Registros;</a:t>
            </a:r>
          </a:p>
          <a:p>
            <a:r>
              <a:rPr lang="pt-BR" sz="2000" dirty="0"/>
              <a:t>•	Alterando Registros.</a:t>
            </a:r>
          </a:p>
          <a:p>
            <a:r>
              <a:rPr lang="pt-BR" sz="2000" dirty="0"/>
              <a:t>________________________________________</a:t>
            </a:r>
          </a:p>
          <a:p>
            <a:r>
              <a:rPr lang="pt-BR" sz="2000" b="1" dirty="0"/>
              <a:t>Exercícios sobre o assunto passado:</a:t>
            </a:r>
          </a:p>
          <a:p>
            <a:r>
              <a:rPr lang="pt-BR" sz="2000" dirty="0"/>
              <a:t>•	Exercícios de Criação, Alterar e Deletar Tabelas;</a:t>
            </a:r>
          </a:p>
          <a:p>
            <a:r>
              <a:rPr lang="pt-BR" sz="2000" dirty="0"/>
              <a:t>•	Exercícios de </a:t>
            </a:r>
            <a:r>
              <a:rPr lang="pt-BR" sz="2000" dirty="0">
                <a:solidFill>
                  <a:srgbClr val="0000FF"/>
                </a:solidFill>
              </a:rPr>
              <a:t>SELECT</a:t>
            </a:r>
            <a:r>
              <a:rPr lang="pt-BR" sz="2000" dirty="0"/>
              <a:t>, </a:t>
            </a:r>
            <a:r>
              <a:rPr lang="pt-BR" sz="2000" dirty="0">
                <a:solidFill>
                  <a:srgbClr val="0000FF"/>
                </a:solidFill>
              </a:rPr>
              <a:t>INSERT</a:t>
            </a:r>
            <a:r>
              <a:rPr lang="pt-BR" sz="2000" dirty="0"/>
              <a:t> e </a:t>
            </a:r>
            <a:r>
              <a:rPr lang="pt-BR" sz="2000" dirty="0">
                <a:solidFill>
                  <a:srgbClr val="0000FF"/>
                </a:solidFill>
              </a:rPr>
              <a:t>UPDATE</a:t>
            </a:r>
            <a:r>
              <a:rPr lang="pt-BR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45492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BF4364-A6CD-4460-A48D-6779B48A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5" y="763819"/>
            <a:ext cx="9692640" cy="936973"/>
          </a:xfrm>
        </p:spPr>
        <p:txBody>
          <a:bodyPr>
            <a:noAutofit/>
          </a:bodyPr>
          <a:lstStyle/>
          <a:p>
            <a:r>
              <a:rPr lang="pt-BR" sz="3600" b="1" dirty="0">
                <a:solidFill>
                  <a:srgbClr val="00758F"/>
                </a:solidFill>
              </a:rPr>
              <a:t>Criando Códigos:</a:t>
            </a:r>
            <a:br>
              <a:rPr lang="pt-BR" sz="3600" b="1" dirty="0"/>
            </a:br>
            <a:r>
              <a:rPr lang="pt-BR" sz="3600" b="1" dirty="0">
                <a:solidFill>
                  <a:srgbClr val="F39211"/>
                </a:solidFill>
              </a:rPr>
              <a:t>1.0 O que são as configurações de colunas no MySQL?</a:t>
            </a:r>
            <a:endParaRPr lang="pt-BR" sz="3600" dirty="0">
              <a:solidFill>
                <a:srgbClr val="F39211"/>
              </a:solidFill>
            </a:endParaRPr>
          </a:p>
        </p:txBody>
      </p:sp>
      <p:pic>
        <p:nvPicPr>
          <p:cNvPr id="4" name="Picture 6" descr="https://www.mysql.com/common/logos/logo-mysql-170x115.png">
            <a:extLst>
              <a:ext uri="{FF2B5EF4-FFF2-40B4-BE49-F238E27FC236}">
                <a16:creationId xmlns:a16="http://schemas.microsoft.com/office/drawing/2014/main" id="{441DFD02-E8A2-4690-9CD7-1CC407F20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793" y="5753675"/>
            <a:ext cx="1385775" cy="93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90DD339-B99C-43BD-99AF-28040E9B3E9C}"/>
              </a:ext>
            </a:extLst>
          </p:cNvPr>
          <p:cNvSpPr txBox="1"/>
          <p:nvPr/>
        </p:nvSpPr>
        <p:spPr>
          <a:xfrm>
            <a:off x="338845" y="1842085"/>
            <a:ext cx="943594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1) </a:t>
            </a:r>
            <a:r>
              <a:rPr lang="pt-BR" b="1" dirty="0">
                <a:solidFill>
                  <a:srgbClr val="0000FF"/>
                </a:solidFill>
              </a:rPr>
              <a:t>PRIMARY</a:t>
            </a:r>
            <a:r>
              <a:rPr lang="pt-BR" b="1" dirty="0"/>
              <a:t> </a:t>
            </a:r>
            <a:r>
              <a:rPr lang="pt-BR" b="1" dirty="0">
                <a:solidFill>
                  <a:srgbClr val="0000FF"/>
                </a:solidFill>
              </a:rPr>
              <a:t>KEY</a:t>
            </a:r>
            <a:r>
              <a:rPr lang="pt-BR" b="1" dirty="0"/>
              <a:t> (Chave Primária)</a:t>
            </a:r>
            <a:endParaRPr lang="pt-BR" dirty="0"/>
          </a:p>
          <a:p>
            <a:r>
              <a:rPr lang="pt-BR" b="1" dirty="0"/>
              <a:t>Exemplo:</a:t>
            </a:r>
            <a:br>
              <a:rPr lang="pt-BR" dirty="0"/>
            </a:br>
            <a:r>
              <a:rPr lang="pt-BR" dirty="0"/>
              <a:t>Tabela de clientes → Cada cliente tem um </a:t>
            </a:r>
            <a:r>
              <a:rPr lang="pt-BR" dirty="0" err="1">
                <a:solidFill>
                  <a:schemeClr val="bg1">
                    <a:lumMod val="50000"/>
                  </a:schemeClr>
                </a:solidFill>
              </a:rPr>
              <a:t>id_cliente</a:t>
            </a:r>
            <a:r>
              <a:rPr lang="pt-BR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pt-BR" dirty="0"/>
              <a:t>único.</a:t>
            </a:r>
          </a:p>
          <a:p>
            <a:endParaRPr lang="pt-BR" dirty="0"/>
          </a:p>
          <a:p>
            <a:r>
              <a:rPr lang="pt-BR" b="1" dirty="0"/>
              <a:t>2) </a:t>
            </a:r>
            <a:r>
              <a:rPr lang="pt-BR" b="1" dirty="0">
                <a:solidFill>
                  <a:srgbClr val="0000FF"/>
                </a:solidFill>
              </a:rPr>
              <a:t>NOT</a:t>
            </a:r>
            <a:r>
              <a:rPr lang="pt-BR" b="1" dirty="0"/>
              <a:t> </a:t>
            </a:r>
            <a:r>
              <a:rPr lang="pt-BR" b="1" dirty="0">
                <a:solidFill>
                  <a:srgbClr val="0000FF"/>
                </a:solidFill>
              </a:rPr>
              <a:t>NULL</a:t>
            </a:r>
            <a:br>
              <a:rPr lang="pt-BR" dirty="0"/>
            </a:br>
            <a:r>
              <a:rPr lang="pt-BR" b="1" dirty="0"/>
              <a:t>Exemplo - O nome do cliente sempre precisa ser preenchido:</a:t>
            </a:r>
            <a:br>
              <a:rPr lang="pt-BR" dirty="0"/>
            </a:br>
            <a:r>
              <a:rPr lang="pt-BR" dirty="0" err="1">
                <a:solidFill>
                  <a:schemeClr val="bg1">
                    <a:lumMod val="50000"/>
                  </a:schemeClr>
                </a:solidFill>
              </a:rPr>
              <a:t>nome_cliente</a:t>
            </a:r>
            <a:r>
              <a:rPr lang="pt-BR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pt-BR" dirty="0">
                <a:solidFill>
                  <a:srgbClr val="0000FF"/>
                </a:solidFill>
              </a:rPr>
              <a:t>VARCHAR</a:t>
            </a:r>
            <a:r>
              <a:rPr lang="pt-BR" b="1" dirty="0"/>
              <a:t>(</a:t>
            </a:r>
            <a:r>
              <a:rPr lang="pt-BR" dirty="0">
                <a:solidFill>
                  <a:srgbClr val="F39211"/>
                </a:solidFill>
              </a:rPr>
              <a:t>100</a:t>
            </a:r>
            <a:r>
              <a:rPr lang="pt-BR" b="1" dirty="0"/>
              <a:t>)</a:t>
            </a:r>
            <a:r>
              <a:rPr lang="pt-BR" dirty="0"/>
              <a:t> </a:t>
            </a:r>
            <a:r>
              <a:rPr lang="pt-BR" b="1" dirty="0">
                <a:solidFill>
                  <a:srgbClr val="0000FF"/>
                </a:solidFill>
              </a:rPr>
              <a:t>NOT</a:t>
            </a:r>
            <a:r>
              <a:rPr lang="pt-BR" dirty="0"/>
              <a:t> </a:t>
            </a:r>
            <a:r>
              <a:rPr lang="pt-BR" b="1" dirty="0">
                <a:solidFill>
                  <a:srgbClr val="0000FF"/>
                </a:solidFill>
              </a:rPr>
              <a:t>NULL</a:t>
            </a:r>
          </a:p>
          <a:p>
            <a:endParaRPr lang="pt-BR" dirty="0"/>
          </a:p>
          <a:p>
            <a:r>
              <a:rPr lang="pt-BR" dirty="0"/>
              <a:t>Se você tentar inserir um valor </a:t>
            </a:r>
            <a:r>
              <a:rPr lang="pt-BR" b="1" dirty="0">
                <a:solidFill>
                  <a:srgbClr val="0000FF"/>
                </a:solidFill>
              </a:rPr>
              <a:t>NULL</a:t>
            </a:r>
            <a:r>
              <a:rPr lang="pt-BR" dirty="0"/>
              <a:t>:</a:t>
            </a:r>
            <a:br>
              <a:rPr lang="pt-BR" dirty="0"/>
            </a:br>
            <a:r>
              <a:rPr lang="pt-BR" b="1" dirty="0">
                <a:solidFill>
                  <a:srgbClr val="0000FF"/>
                </a:solidFill>
              </a:rPr>
              <a:t>INSERT</a:t>
            </a:r>
            <a:r>
              <a:rPr lang="pt-BR" dirty="0"/>
              <a:t> </a:t>
            </a:r>
            <a:r>
              <a:rPr lang="pt-BR" b="1" dirty="0">
                <a:solidFill>
                  <a:srgbClr val="0000FF"/>
                </a:solidFill>
              </a:rPr>
              <a:t>INTO</a:t>
            </a:r>
            <a:r>
              <a:rPr lang="pt-BR" dirty="0"/>
              <a:t> </a:t>
            </a:r>
            <a:r>
              <a:rPr lang="pt-BR" dirty="0">
                <a:solidFill>
                  <a:schemeClr val="bg1">
                    <a:lumMod val="50000"/>
                  </a:schemeClr>
                </a:solidFill>
              </a:rPr>
              <a:t>clientes</a:t>
            </a:r>
            <a:r>
              <a:rPr lang="pt-BR" dirty="0"/>
              <a:t> </a:t>
            </a:r>
            <a:r>
              <a:rPr lang="pt-BR" b="1" dirty="0"/>
              <a:t>(</a:t>
            </a:r>
            <a:r>
              <a:rPr lang="pt-BR" dirty="0" err="1">
                <a:solidFill>
                  <a:schemeClr val="bg1">
                    <a:lumMod val="50000"/>
                  </a:schemeClr>
                </a:solidFill>
              </a:rPr>
              <a:t>nome_cliente</a:t>
            </a:r>
            <a:r>
              <a:rPr lang="pt-BR" b="1" dirty="0"/>
              <a:t>)</a:t>
            </a:r>
            <a:r>
              <a:rPr lang="pt-BR" dirty="0"/>
              <a:t> </a:t>
            </a:r>
            <a:r>
              <a:rPr lang="pt-BR" b="1" dirty="0">
                <a:solidFill>
                  <a:srgbClr val="0000FF"/>
                </a:solidFill>
              </a:rPr>
              <a:t>VALUES</a:t>
            </a:r>
            <a:r>
              <a:rPr lang="pt-BR" dirty="0"/>
              <a:t> </a:t>
            </a:r>
            <a:r>
              <a:rPr lang="pt-BR" b="1" dirty="0"/>
              <a:t>(</a:t>
            </a:r>
            <a:r>
              <a:rPr lang="pt-BR" b="1" dirty="0">
                <a:solidFill>
                  <a:srgbClr val="0000FF"/>
                </a:solidFill>
              </a:rPr>
              <a:t>NULL</a:t>
            </a:r>
            <a:r>
              <a:rPr lang="pt-BR" b="1" dirty="0"/>
              <a:t>);</a:t>
            </a:r>
          </a:p>
          <a:p>
            <a:r>
              <a:rPr lang="pt-BR" b="1" dirty="0"/>
              <a:t>Irá gerar um erro!</a:t>
            </a:r>
          </a:p>
          <a:p>
            <a:endParaRPr lang="pt-BR" dirty="0"/>
          </a:p>
          <a:p>
            <a:r>
              <a:rPr lang="pt-BR" b="1" dirty="0"/>
              <a:t>3) </a:t>
            </a:r>
            <a:r>
              <a:rPr lang="pt-BR" b="1" dirty="0">
                <a:solidFill>
                  <a:srgbClr val="0000FF"/>
                </a:solidFill>
              </a:rPr>
              <a:t>UNIQUE</a:t>
            </a:r>
            <a:endParaRPr lang="pt-BR" dirty="0">
              <a:solidFill>
                <a:srgbClr val="0000FF"/>
              </a:solidFill>
            </a:endParaRPr>
          </a:p>
          <a:p>
            <a:r>
              <a:rPr lang="pt-BR" b="1" dirty="0"/>
              <a:t>Exemplo - O CPF de cada cliente deve ser único:</a:t>
            </a:r>
            <a:br>
              <a:rPr lang="pt-BR" b="1" dirty="0"/>
            </a:br>
            <a:r>
              <a:rPr lang="pt-BR" dirty="0" err="1">
                <a:solidFill>
                  <a:schemeClr val="bg1">
                    <a:lumMod val="50000"/>
                  </a:schemeClr>
                </a:solidFill>
              </a:rPr>
              <a:t>cpf</a:t>
            </a:r>
            <a:r>
              <a:rPr lang="pt-BR" dirty="0"/>
              <a:t> </a:t>
            </a:r>
            <a:r>
              <a:rPr lang="pt-BR" dirty="0">
                <a:solidFill>
                  <a:srgbClr val="0000FF"/>
                </a:solidFill>
              </a:rPr>
              <a:t>CHAR</a:t>
            </a:r>
            <a:r>
              <a:rPr lang="pt-BR" b="1" dirty="0"/>
              <a:t>(</a:t>
            </a:r>
            <a:r>
              <a:rPr lang="pt-BR" dirty="0">
                <a:solidFill>
                  <a:srgbClr val="F39211"/>
                </a:solidFill>
              </a:rPr>
              <a:t>11</a:t>
            </a:r>
            <a:r>
              <a:rPr lang="pt-BR" b="1" dirty="0"/>
              <a:t>)</a:t>
            </a:r>
            <a:r>
              <a:rPr lang="pt-BR" dirty="0"/>
              <a:t> </a:t>
            </a:r>
            <a:r>
              <a:rPr lang="pt-BR" b="1" dirty="0">
                <a:solidFill>
                  <a:srgbClr val="0000FF"/>
                </a:solidFill>
              </a:rPr>
              <a:t>UNIQUE</a:t>
            </a:r>
            <a:endParaRPr lang="pt-BR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85283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BF4364-A6CD-4460-A48D-6779B48A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5" y="763819"/>
            <a:ext cx="9692640" cy="936973"/>
          </a:xfrm>
        </p:spPr>
        <p:txBody>
          <a:bodyPr>
            <a:noAutofit/>
          </a:bodyPr>
          <a:lstStyle/>
          <a:p>
            <a:r>
              <a:rPr lang="pt-BR" sz="3600" b="1" dirty="0">
                <a:solidFill>
                  <a:srgbClr val="00758F"/>
                </a:solidFill>
              </a:rPr>
              <a:t>Criando Códigos:</a:t>
            </a:r>
            <a:br>
              <a:rPr lang="pt-BR" sz="3600" b="1" dirty="0"/>
            </a:br>
            <a:r>
              <a:rPr lang="pt-BR" sz="3600" b="1" dirty="0">
                <a:solidFill>
                  <a:srgbClr val="F39211"/>
                </a:solidFill>
              </a:rPr>
              <a:t>1.1 O que são as configurações de colunas no MySQL?</a:t>
            </a:r>
            <a:endParaRPr lang="pt-BR" sz="3600" dirty="0">
              <a:solidFill>
                <a:srgbClr val="F39211"/>
              </a:solidFill>
            </a:endParaRPr>
          </a:p>
        </p:txBody>
      </p:sp>
      <p:pic>
        <p:nvPicPr>
          <p:cNvPr id="4" name="Picture 6" descr="https://www.mysql.com/common/logos/logo-mysql-170x115.png">
            <a:extLst>
              <a:ext uri="{FF2B5EF4-FFF2-40B4-BE49-F238E27FC236}">
                <a16:creationId xmlns:a16="http://schemas.microsoft.com/office/drawing/2014/main" id="{441DFD02-E8A2-4690-9CD7-1CC407F20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793" y="5753675"/>
            <a:ext cx="1385775" cy="93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90DD339-B99C-43BD-99AF-28040E9B3E9C}"/>
              </a:ext>
            </a:extLst>
          </p:cNvPr>
          <p:cNvSpPr txBox="1"/>
          <p:nvPr/>
        </p:nvSpPr>
        <p:spPr>
          <a:xfrm>
            <a:off x="338845" y="1842085"/>
            <a:ext cx="943594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4) </a:t>
            </a:r>
            <a:r>
              <a:rPr lang="pt-BR" b="1" dirty="0">
                <a:solidFill>
                  <a:srgbClr val="0000FF"/>
                </a:solidFill>
              </a:rPr>
              <a:t>DEFAULT</a:t>
            </a:r>
            <a:endParaRPr lang="pt-BR" dirty="0">
              <a:solidFill>
                <a:srgbClr val="0000FF"/>
              </a:solidFill>
            </a:endParaRPr>
          </a:p>
          <a:p>
            <a:r>
              <a:rPr lang="pt-BR" b="1" dirty="0"/>
              <a:t>Exemplo - O campo ativo, que por padrão começa como verdadeiro (1):</a:t>
            </a:r>
            <a:br>
              <a:rPr lang="pt-BR" dirty="0"/>
            </a:br>
            <a:r>
              <a:rPr lang="pt-BR" dirty="0"/>
              <a:t>ativo </a:t>
            </a:r>
            <a:r>
              <a:rPr lang="pt-BR" dirty="0">
                <a:solidFill>
                  <a:srgbClr val="0000FF"/>
                </a:solidFill>
              </a:rPr>
              <a:t>BOOLEAN</a:t>
            </a:r>
            <a:r>
              <a:rPr lang="pt-BR" dirty="0"/>
              <a:t> </a:t>
            </a:r>
            <a:r>
              <a:rPr lang="pt-BR" dirty="0">
                <a:solidFill>
                  <a:srgbClr val="0000FF"/>
                </a:solidFill>
              </a:rPr>
              <a:t>DEFAULT</a:t>
            </a:r>
            <a:r>
              <a:rPr lang="pt-BR" dirty="0"/>
              <a:t> </a:t>
            </a:r>
            <a:r>
              <a:rPr lang="pt-BR" dirty="0">
                <a:solidFill>
                  <a:srgbClr val="F39211"/>
                </a:solidFill>
              </a:rPr>
              <a:t>1</a:t>
            </a:r>
          </a:p>
          <a:p>
            <a:endParaRPr lang="pt-BR" dirty="0"/>
          </a:p>
          <a:p>
            <a:r>
              <a:rPr lang="pt-BR" b="1" dirty="0"/>
              <a:t>5) </a:t>
            </a:r>
            <a:r>
              <a:rPr lang="pt-BR" b="1" dirty="0">
                <a:solidFill>
                  <a:srgbClr val="0000FF"/>
                </a:solidFill>
              </a:rPr>
              <a:t>AUTO_INCREMENT</a:t>
            </a:r>
            <a:br>
              <a:rPr lang="pt-BR" b="1" dirty="0"/>
            </a:br>
            <a:r>
              <a:rPr lang="pt-BR" b="1" dirty="0"/>
              <a:t>Exemplo - Chave primária de cliente:</a:t>
            </a:r>
          </a:p>
          <a:p>
            <a:br>
              <a:rPr lang="pt-BR" dirty="0"/>
            </a:br>
            <a:r>
              <a:rPr lang="pt-BR" dirty="0" err="1">
                <a:solidFill>
                  <a:schemeClr val="bg1">
                    <a:lumMod val="50000"/>
                  </a:schemeClr>
                </a:solidFill>
              </a:rPr>
              <a:t>id_cliente</a:t>
            </a:r>
            <a:r>
              <a:rPr lang="pt-BR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pt-BR" dirty="0">
                <a:solidFill>
                  <a:srgbClr val="0000FF"/>
                </a:solidFill>
              </a:rPr>
              <a:t>INT AUTO_INCREMENT PRIMARY KEY</a:t>
            </a:r>
          </a:p>
          <a:p>
            <a:endParaRPr lang="pt-BR" dirty="0"/>
          </a:p>
          <a:p>
            <a:r>
              <a:rPr lang="pt-BR" b="1" dirty="0"/>
              <a:t>6) </a:t>
            </a:r>
            <a:r>
              <a:rPr lang="pt-BR" dirty="0">
                <a:solidFill>
                  <a:srgbClr val="0000FF"/>
                </a:solidFill>
              </a:rPr>
              <a:t>FOREIGN KEY </a:t>
            </a:r>
            <a:r>
              <a:rPr lang="pt-BR" b="1" dirty="0"/>
              <a:t>(Chave Estrangeira)</a:t>
            </a:r>
            <a:br>
              <a:rPr lang="pt-BR" dirty="0"/>
            </a:br>
            <a:r>
              <a:rPr lang="pt-BR" b="1" dirty="0"/>
              <a:t>Exemplo - Cada venda precisa ter um cliente válido:</a:t>
            </a:r>
          </a:p>
          <a:p>
            <a:br>
              <a:rPr lang="pt-BR" dirty="0"/>
            </a:br>
            <a:r>
              <a:rPr lang="pt-BR" dirty="0">
                <a:solidFill>
                  <a:srgbClr val="0000FF"/>
                </a:solidFill>
              </a:rPr>
              <a:t>FOREIGN KEY </a:t>
            </a:r>
            <a:r>
              <a:rPr lang="pt-BR" b="1" dirty="0"/>
              <a:t>(</a:t>
            </a:r>
            <a:r>
              <a:rPr lang="pt-BR" dirty="0" err="1">
                <a:solidFill>
                  <a:schemeClr val="bg1">
                    <a:lumMod val="50000"/>
                  </a:schemeClr>
                </a:solidFill>
              </a:rPr>
              <a:t>id_cliente</a:t>
            </a:r>
            <a:r>
              <a:rPr lang="pt-BR" b="1" dirty="0"/>
              <a:t>)</a:t>
            </a:r>
            <a:r>
              <a:rPr lang="pt-BR" dirty="0"/>
              <a:t> </a:t>
            </a:r>
            <a:r>
              <a:rPr lang="pt-BR" dirty="0">
                <a:solidFill>
                  <a:srgbClr val="0000FF"/>
                </a:solidFill>
              </a:rPr>
              <a:t>REFERENCES</a:t>
            </a:r>
            <a:r>
              <a:rPr lang="pt-BR" dirty="0"/>
              <a:t> </a:t>
            </a:r>
            <a:r>
              <a:rPr lang="pt-BR" dirty="0">
                <a:solidFill>
                  <a:schemeClr val="bg1">
                    <a:lumMod val="50000"/>
                  </a:schemeClr>
                </a:solidFill>
              </a:rPr>
              <a:t>clientes</a:t>
            </a:r>
            <a:r>
              <a:rPr lang="pt-BR" b="1" dirty="0"/>
              <a:t>(</a:t>
            </a:r>
            <a:r>
              <a:rPr lang="pt-BR" dirty="0" err="1">
                <a:solidFill>
                  <a:schemeClr val="bg1">
                    <a:lumMod val="50000"/>
                  </a:schemeClr>
                </a:solidFill>
              </a:rPr>
              <a:t>id_cliente</a:t>
            </a:r>
            <a:r>
              <a:rPr lang="pt-BR" b="1" dirty="0"/>
              <a:t>)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56151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BF4364-A6CD-4460-A48D-6779B48A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5" y="763819"/>
            <a:ext cx="9692640" cy="936973"/>
          </a:xfrm>
        </p:spPr>
        <p:txBody>
          <a:bodyPr>
            <a:noAutofit/>
          </a:bodyPr>
          <a:lstStyle/>
          <a:p>
            <a:r>
              <a:rPr lang="pt-BR" sz="3600" b="1" dirty="0">
                <a:solidFill>
                  <a:srgbClr val="00758F"/>
                </a:solidFill>
              </a:rPr>
              <a:t>Criando Códigos:</a:t>
            </a:r>
            <a:br>
              <a:rPr lang="pt-BR" sz="3600" b="1" dirty="0"/>
            </a:br>
            <a:r>
              <a:rPr lang="pt-BR" sz="3600" b="1" dirty="0">
                <a:solidFill>
                  <a:srgbClr val="F39211"/>
                </a:solidFill>
              </a:rPr>
              <a:t>1.2 O que são as configurações de colunas no MySQL?</a:t>
            </a:r>
            <a:endParaRPr lang="pt-BR" sz="3600" dirty="0">
              <a:solidFill>
                <a:srgbClr val="F39211"/>
              </a:solidFill>
            </a:endParaRPr>
          </a:p>
        </p:txBody>
      </p:sp>
      <p:pic>
        <p:nvPicPr>
          <p:cNvPr id="4" name="Picture 6" descr="https://www.mysql.com/common/logos/logo-mysql-170x115.png">
            <a:extLst>
              <a:ext uri="{FF2B5EF4-FFF2-40B4-BE49-F238E27FC236}">
                <a16:creationId xmlns:a16="http://schemas.microsoft.com/office/drawing/2014/main" id="{441DFD02-E8A2-4690-9CD7-1CC407F20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793" y="5753675"/>
            <a:ext cx="1385775" cy="93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90DD339-B99C-43BD-99AF-28040E9B3E9C}"/>
              </a:ext>
            </a:extLst>
          </p:cNvPr>
          <p:cNvSpPr txBox="1"/>
          <p:nvPr/>
        </p:nvSpPr>
        <p:spPr>
          <a:xfrm>
            <a:off x="338845" y="1842085"/>
            <a:ext cx="943594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7) </a:t>
            </a:r>
            <a:r>
              <a:rPr lang="pt-BR" b="1" dirty="0">
                <a:solidFill>
                  <a:srgbClr val="0000FF"/>
                </a:solidFill>
              </a:rPr>
              <a:t>ENUM</a:t>
            </a:r>
            <a:endParaRPr lang="pt-BR" dirty="0">
              <a:solidFill>
                <a:srgbClr val="0000FF"/>
              </a:solidFill>
            </a:endParaRPr>
          </a:p>
          <a:p>
            <a:r>
              <a:rPr lang="pt-BR" b="1" dirty="0"/>
              <a:t>Exemplo - Forma de pagamento:</a:t>
            </a:r>
            <a:br>
              <a:rPr lang="pt-BR" dirty="0"/>
            </a:br>
            <a:r>
              <a:rPr lang="pt-BR" dirty="0" err="1">
                <a:solidFill>
                  <a:schemeClr val="bg1">
                    <a:lumMod val="50000"/>
                  </a:schemeClr>
                </a:solidFill>
              </a:rPr>
              <a:t>forma_pagamento</a:t>
            </a:r>
            <a:r>
              <a:rPr lang="pt-BR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pt-BR" dirty="0">
                <a:solidFill>
                  <a:srgbClr val="0000FF"/>
                </a:solidFill>
              </a:rPr>
              <a:t>ENUM</a:t>
            </a:r>
            <a:r>
              <a:rPr lang="pt-BR" b="1" dirty="0"/>
              <a:t>(</a:t>
            </a:r>
            <a:r>
              <a:rPr lang="pt-BR" dirty="0">
                <a:solidFill>
                  <a:schemeClr val="bg1">
                    <a:lumMod val="50000"/>
                  </a:schemeClr>
                </a:solidFill>
              </a:rPr>
              <a:t>'Dinheiro'</a:t>
            </a:r>
            <a:r>
              <a:rPr lang="pt-BR" b="1" dirty="0"/>
              <a:t>,</a:t>
            </a:r>
            <a:r>
              <a:rPr lang="pt-BR" dirty="0"/>
              <a:t> </a:t>
            </a:r>
            <a:r>
              <a:rPr lang="pt-BR" dirty="0">
                <a:solidFill>
                  <a:schemeClr val="bg1">
                    <a:lumMod val="50000"/>
                  </a:schemeClr>
                </a:solidFill>
              </a:rPr>
              <a:t>'Cartão'</a:t>
            </a:r>
            <a:r>
              <a:rPr lang="pt-BR" b="1" dirty="0"/>
              <a:t>,</a:t>
            </a:r>
            <a:r>
              <a:rPr lang="pt-BR" dirty="0"/>
              <a:t> </a:t>
            </a:r>
            <a:r>
              <a:rPr lang="pt-BR" dirty="0">
                <a:solidFill>
                  <a:schemeClr val="bg1">
                    <a:lumMod val="50000"/>
                  </a:schemeClr>
                </a:solidFill>
              </a:rPr>
              <a:t>'Boleto’</a:t>
            </a:r>
            <a:r>
              <a:rPr lang="pt-BR" b="1" dirty="0"/>
              <a:t>)</a:t>
            </a:r>
          </a:p>
          <a:p>
            <a:endParaRPr lang="pt-BR" dirty="0"/>
          </a:p>
          <a:p>
            <a:r>
              <a:rPr lang="pt-BR" b="1" dirty="0"/>
              <a:t>Se tentar inserir outro valor?</a:t>
            </a:r>
            <a:br>
              <a:rPr lang="pt-BR" dirty="0"/>
            </a:br>
            <a:r>
              <a:rPr lang="pt-BR" dirty="0"/>
              <a:t>Erro! Só pode um dos três.</a:t>
            </a:r>
          </a:p>
          <a:p>
            <a:endParaRPr lang="pt-BR" dirty="0"/>
          </a:p>
          <a:p>
            <a:r>
              <a:rPr lang="pt-BR" b="1" dirty="0"/>
              <a:t>8) </a:t>
            </a:r>
            <a:r>
              <a:rPr lang="pt-BR" b="1" dirty="0">
                <a:solidFill>
                  <a:srgbClr val="0000FF"/>
                </a:solidFill>
              </a:rPr>
              <a:t>BOOLEAN</a:t>
            </a:r>
            <a:br>
              <a:rPr lang="pt-BR" b="1" dirty="0"/>
            </a:br>
            <a:r>
              <a:rPr lang="pt-BR" b="1" dirty="0"/>
              <a:t>Exemplo:</a:t>
            </a:r>
            <a:br>
              <a:rPr lang="pt-BR" dirty="0"/>
            </a:br>
            <a:r>
              <a:rPr lang="pt-BR" dirty="0">
                <a:solidFill>
                  <a:schemeClr val="bg1">
                    <a:lumMod val="50000"/>
                  </a:schemeClr>
                </a:solidFill>
              </a:rPr>
              <a:t>ativo</a:t>
            </a:r>
            <a:r>
              <a:rPr lang="pt-BR" dirty="0"/>
              <a:t> </a:t>
            </a:r>
            <a:r>
              <a:rPr lang="pt-BR" dirty="0">
                <a:solidFill>
                  <a:srgbClr val="0000FF"/>
                </a:solidFill>
              </a:rPr>
              <a:t>BOOLEAN</a:t>
            </a:r>
            <a:r>
              <a:rPr lang="pt-BR" dirty="0"/>
              <a:t> </a:t>
            </a:r>
            <a:r>
              <a:rPr lang="pt-BR" dirty="0">
                <a:solidFill>
                  <a:srgbClr val="0000FF"/>
                </a:solidFill>
              </a:rPr>
              <a:t>DEFAULT</a:t>
            </a:r>
            <a:r>
              <a:rPr lang="pt-BR" dirty="0"/>
              <a:t> 1</a:t>
            </a:r>
          </a:p>
          <a:p>
            <a:endParaRPr lang="pt-BR" dirty="0"/>
          </a:p>
          <a:p>
            <a:r>
              <a:rPr lang="pt-BR" dirty="0"/>
              <a:t>O MySQL armazena internamente como 0 ou 1.</a:t>
            </a:r>
          </a:p>
        </p:txBody>
      </p:sp>
    </p:spTree>
    <p:extLst>
      <p:ext uri="{BB962C8B-B14F-4D97-AF65-F5344CB8AC3E}">
        <p14:creationId xmlns:p14="http://schemas.microsoft.com/office/powerpoint/2010/main" val="18324152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BF4364-A6CD-4460-A48D-6779B48A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5" y="375231"/>
            <a:ext cx="9692640" cy="1325562"/>
          </a:xfrm>
        </p:spPr>
        <p:txBody>
          <a:bodyPr>
            <a:noAutofit/>
          </a:bodyPr>
          <a:lstStyle/>
          <a:p>
            <a:r>
              <a:rPr lang="pt-BR" sz="3400" b="1" dirty="0">
                <a:solidFill>
                  <a:srgbClr val="00758F"/>
                </a:solidFill>
              </a:rPr>
              <a:t>Criando Códigos:</a:t>
            </a:r>
            <a:br>
              <a:rPr lang="pt-BR" sz="3400" b="1" dirty="0"/>
            </a:br>
            <a:r>
              <a:rPr lang="pt-BR" sz="3400" b="1" dirty="0">
                <a:solidFill>
                  <a:srgbClr val="F39211"/>
                </a:solidFill>
              </a:rPr>
              <a:t>1.3</a:t>
            </a:r>
            <a:r>
              <a:rPr lang="pt-BR" sz="3400" b="1" dirty="0"/>
              <a:t> </a:t>
            </a:r>
            <a:r>
              <a:rPr lang="pt-BR" sz="3400" b="1" dirty="0">
                <a:solidFill>
                  <a:srgbClr val="F39211"/>
                </a:solidFill>
              </a:rPr>
              <a:t>O que são as configurações de colunas no MySQL?</a:t>
            </a:r>
            <a:endParaRPr lang="pt-BR" sz="3400" dirty="0">
              <a:solidFill>
                <a:srgbClr val="F39211"/>
              </a:solidFill>
            </a:endParaRPr>
          </a:p>
        </p:txBody>
      </p:sp>
      <p:pic>
        <p:nvPicPr>
          <p:cNvPr id="4" name="Picture 6" descr="https://www.mysql.com/common/logos/logo-mysql-170x115.png">
            <a:extLst>
              <a:ext uri="{FF2B5EF4-FFF2-40B4-BE49-F238E27FC236}">
                <a16:creationId xmlns:a16="http://schemas.microsoft.com/office/drawing/2014/main" id="{441DFD02-E8A2-4690-9CD7-1CC407F20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793" y="5753675"/>
            <a:ext cx="1385775" cy="93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EBD890DD-706D-4111-A025-7350CEB54382}"/>
              </a:ext>
            </a:extLst>
          </p:cNvPr>
          <p:cNvGraphicFramePr>
            <a:graphicFrameLocks noGrp="1"/>
          </p:cNvGraphicFramePr>
          <p:nvPr/>
        </p:nvGraphicFramePr>
        <p:xfrm>
          <a:off x="338845" y="1700792"/>
          <a:ext cx="9435948" cy="498985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58987">
                  <a:extLst>
                    <a:ext uri="{9D8B030D-6E8A-4147-A177-3AD203B41FA5}">
                      <a16:colId xmlns:a16="http://schemas.microsoft.com/office/drawing/2014/main" val="2055311632"/>
                    </a:ext>
                  </a:extLst>
                </a:gridCol>
                <a:gridCol w="2358987">
                  <a:extLst>
                    <a:ext uri="{9D8B030D-6E8A-4147-A177-3AD203B41FA5}">
                      <a16:colId xmlns:a16="http://schemas.microsoft.com/office/drawing/2014/main" val="2851392407"/>
                    </a:ext>
                  </a:extLst>
                </a:gridCol>
                <a:gridCol w="2358987">
                  <a:extLst>
                    <a:ext uri="{9D8B030D-6E8A-4147-A177-3AD203B41FA5}">
                      <a16:colId xmlns:a16="http://schemas.microsoft.com/office/drawing/2014/main" val="2796327950"/>
                    </a:ext>
                  </a:extLst>
                </a:gridCol>
                <a:gridCol w="2358987">
                  <a:extLst>
                    <a:ext uri="{9D8B030D-6E8A-4147-A177-3AD203B41FA5}">
                      <a16:colId xmlns:a16="http://schemas.microsoft.com/office/drawing/2014/main" val="4259840516"/>
                    </a:ext>
                  </a:extLst>
                </a:gridCol>
              </a:tblGrid>
              <a:tr h="282576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500">
                          <a:effectLst/>
                        </a:rPr>
                        <a:t>Configuração</a:t>
                      </a:r>
                      <a:endParaRPr lang="pt-BR" sz="15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500">
                          <a:effectLst/>
                        </a:rPr>
                        <a:t>Nome Técnico</a:t>
                      </a:r>
                      <a:endParaRPr lang="pt-BR" sz="15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500">
                          <a:effectLst/>
                        </a:rPr>
                        <a:t>O que faz</a:t>
                      </a:r>
                      <a:endParaRPr lang="pt-BR" sz="15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500" dirty="0">
                          <a:effectLst/>
                        </a:rPr>
                        <a:t>Exemplo</a:t>
                      </a:r>
                      <a:endParaRPr lang="pt-BR" sz="15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1125647"/>
                  </a:ext>
                </a:extLst>
              </a:tr>
              <a:tr h="45067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Chave Primária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PRIMARY KEY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Identifica de forma única cada registro da tabela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 dirty="0" err="1">
                          <a:solidFill>
                            <a:schemeClr val="bg1"/>
                          </a:solidFill>
                          <a:effectLst/>
                        </a:rPr>
                        <a:t>id_cliente</a:t>
                      </a:r>
                      <a:r>
                        <a:rPr lang="pt-BR" sz="1200" b="0" dirty="0">
                          <a:solidFill>
                            <a:schemeClr val="bg1"/>
                          </a:solidFill>
                          <a:effectLst/>
                        </a:rPr>
                        <a:t> INT PRIMARY KEY</a:t>
                      </a:r>
                      <a:endParaRPr lang="pt-BR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0277045"/>
                  </a:ext>
                </a:extLst>
              </a:tr>
              <a:tr h="45067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Não pode ser nulo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NOT NULL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Obriga que o campo sempre tenha um valor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nome_cliente VARCHAR(100) NOT NULL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336905"/>
                  </a:ext>
                </a:extLst>
              </a:tr>
              <a:tr h="67104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Valor único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UNIQUE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Garante que não existam dois registros com o mesmo valor nessa coluna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cpf CHAR(11) UNIQUE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4641552"/>
                  </a:ext>
                </a:extLst>
              </a:tr>
              <a:tr h="45067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Valor padrão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DEFAULT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Define um valor automático caso o usuário não informe nada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 dirty="0">
                          <a:solidFill>
                            <a:schemeClr val="bg1"/>
                          </a:solidFill>
                          <a:effectLst/>
                        </a:rPr>
                        <a:t>ativo BOOLEAN DEFAULT 1</a:t>
                      </a:r>
                      <a:endParaRPr lang="pt-BR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063441"/>
                  </a:ext>
                </a:extLst>
              </a:tr>
              <a:tr h="67104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Auto Incremento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AUTO_INCREMENT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Faz o MySQL gerar um valor automático (sequencial) a cada novo registro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id_cliente INT AUTO_INCREMENT PRIMARY KEY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285351"/>
                  </a:ext>
                </a:extLst>
              </a:tr>
              <a:tr h="67104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Chave Estrangeira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FOREIGN KEY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 dirty="0">
                          <a:solidFill>
                            <a:schemeClr val="bg1"/>
                          </a:solidFill>
                          <a:effectLst/>
                        </a:rPr>
                        <a:t>Faz o campo depender de outra tabela, criando relação entre tabelas</a:t>
                      </a:r>
                      <a:endParaRPr lang="pt-BR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FOREIGN KEY (id_cliente) REFERENCES clientes(id_cliente)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7560953"/>
                  </a:ext>
                </a:extLst>
              </a:tr>
              <a:tr h="67104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Enumeração de valores fixos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ENUM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Limita os valores possíveis de um campo a uma lista pré-definida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status ENUM('Pendente', 'Pago', 'Cancelado')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582577"/>
                  </a:ext>
                </a:extLst>
              </a:tr>
              <a:tr h="67104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 dirty="0">
                          <a:solidFill>
                            <a:schemeClr val="bg1"/>
                          </a:solidFill>
                          <a:effectLst/>
                        </a:rPr>
                        <a:t>Valor Zero ou Um (booleano)</a:t>
                      </a:r>
                      <a:endParaRPr lang="pt-BR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BOOLEAN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>
                          <a:solidFill>
                            <a:schemeClr val="bg1"/>
                          </a:solidFill>
                          <a:effectLst/>
                        </a:rPr>
                        <a:t>Representa verdadeiro ou falso (internamente é um TINYINT(1))</a:t>
                      </a:r>
                      <a:endParaRPr lang="pt-BR" sz="1200" b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b="0" dirty="0">
                          <a:solidFill>
                            <a:schemeClr val="bg1"/>
                          </a:solidFill>
                          <a:effectLst/>
                        </a:rPr>
                        <a:t>ativo BOOLEAN</a:t>
                      </a:r>
                      <a:endParaRPr lang="pt-BR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5961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7007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BF4364-A6CD-4460-A48D-6779B48A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5" y="763819"/>
            <a:ext cx="9692640" cy="936973"/>
          </a:xfrm>
        </p:spPr>
        <p:txBody>
          <a:bodyPr>
            <a:noAutofit/>
          </a:bodyPr>
          <a:lstStyle/>
          <a:p>
            <a:r>
              <a:rPr lang="pt-BR" sz="3600" b="1" dirty="0">
                <a:solidFill>
                  <a:srgbClr val="00758F"/>
                </a:solidFill>
              </a:rPr>
              <a:t>Criando Códigos:</a:t>
            </a:r>
            <a:br>
              <a:rPr lang="pt-BR" sz="3600" b="1" dirty="0"/>
            </a:br>
            <a:r>
              <a:rPr lang="pt-BR" sz="3600" b="1" dirty="0">
                <a:solidFill>
                  <a:srgbClr val="F39211"/>
                </a:solidFill>
              </a:rPr>
              <a:t>1.0 Criando as tabelas do Projeto</a:t>
            </a:r>
            <a:endParaRPr lang="pt-BR" sz="3600" dirty="0">
              <a:solidFill>
                <a:srgbClr val="F39211"/>
              </a:solidFill>
            </a:endParaRPr>
          </a:p>
        </p:txBody>
      </p:sp>
      <p:pic>
        <p:nvPicPr>
          <p:cNvPr id="4" name="Picture 6" descr="https://www.mysql.com/common/logos/logo-mysql-170x115.png">
            <a:extLst>
              <a:ext uri="{FF2B5EF4-FFF2-40B4-BE49-F238E27FC236}">
                <a16:creationId xmlns:a16="http://schemas.microsoft.com/office/drawing/2014/main" id="{441DFD02-E8A2-4690-9CD7-1CC407F20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793" y="5753675"/>
            <a:ext cx="1385775" cy="93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90DD339-B99C-43BD-99AF-28040E9B3E9C}"/>
              </a:ext>
            </a:extLst>
          </p:cNvPr>
          <p:cNvSpPr txBox="1"/>
          <p:nvPr/>
        </p:nvSpPr>
        <p:spPr>
          <a:xfrm>
            <a:off x="338845" y="1842085"/>
            <a:ext cx="943594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Estamos desenvolvendo um sistema de ERP para a empresa </a:t>
            </a:r>
            <a:r>
              <a:rPr lang="pt-BR" b="1" dirty="0"/>
              <a:t>Barriga Verde Cursos</a:t>
            </a:r>
            <a:r>
              <a:rPr lang="pt-BR" dirty="0"/>
              <a:t>. As áreas do banco de dados serão: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dirty="0"/>
              <a:t>Cadastro de Clientes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dirty="0"/>
              <a:t>Cadastro de Produtos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dirty="0"/>
              <a:t>Registro de Vendas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dirty="0"/>
              <a:t>Detalhamento de Itens de cada Venda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dirty="0"/>
              <a:t>Controle de Pagamentos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18310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BF4364-A6CD-4460-A48D-6779B48A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5" y="1030102"/>
            <a:ext cx="9692640" cy="811983"/>
          </a:xfrm>
        </p:spPr>
        <p:txBody>
          <a:bodyPr>
            <a:noAutofit/>
          </a:bodyPr>
          <a:lstStyle/>
          <a:p>
            <a:r>
              <a:rPr lang="pt-BR" sz="3600" b="1" dirty="0">
                <a:solidFill>
                  <a:srgbClr val="00758F"/>
                </a:solidFill>
              </a:rPr>
              <a:t>Criando Códigos:</a:t>
            </a:r>
            <a:br>
              <a:rPr lang="pt-BR" sz="3600" b="1" dirty="0"/>
            </a:br>
            <a:r>
              <a:rPr lang="pt-BR" sz="3600" b="1" dirty="0">
                <a:solidFill>
                  <a:srgbClr val="F39211"/>
                </a:solidFill>
              </a:rPr>
              <a:t>1.1 Criando as tabelas do Projeto</a:t>
            </a:r>
            <a:br>
              <a:rPr lang="pt-BR" sz="3600" b="1" dirty="0">
                <a:solidFill>
                  <a:srgbClr val="F39211"/>
                </a:solidFill>
              </a:rPr>
            </a:br>
            <a:endParaRPr lang="pt-BR" sz="3600" i="1" dirty="0">
              <a:solidFill>
                <a:srgbClr val="F39211"/>
              </a:solidFill>
            </a:endParaRPr>
          </a:p>
        </p:txBody>
      </p:sp>
      <p:pic>
        <p:nvPicPr>
          <p:cNvPr id="4" name="Picture 6" descr="https://www.mysql.com/common/logos/logo-mysql-170x115.png">
            <a:extLst>
              <a:ext uri="{FF2B5EF4-FFF2-40B4-BE49-F238E27FC236}">
                <a16:creationId xmlns:a16="http://schemas.microsoft.com/office/drawing/2014/main" id="{441DFD02-E8A2-4690-9CD7-1CC407F20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793" y="5753675"/>
            <a:ext cx="1385775" cy="93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90DD339-B99C-43BD-99AF-28040E9B3E9C}"/>
              </a:ext>
            </a:extLst>
          </p:cNvPr>
          <p:cNvSpPr txBox="1"/>
          <p:nvPr/>
        </p:nvSpPr>
        <p:spPr>
          <a:xfrm>
            <a:off x="338844" y="1436093"/>
            <a:ext cx="10954797" cy="39113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pt-BR" sz="2500" b="1" dirty="0"/>
              <a:t>1 - Tabela: </a:t>
            </a:r>
            <a:r>
              <a:rPr lang="pt-BR" sz="2500" i="1" dirty="0"/>
              <a:t>clientes</a:t>
            </a:r>
            <a:endParaRPr lang="pt-BR" sz="2500" b="1" dirty="0">
              <a:solidFill>
                <a:srgbClr val="0000FF"/>
              </a:solidFill>
              <a:latin typeface="Courier New" panose="020703090202050204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pt-BR" sz="16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CREATE</a:t>
            </a:r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TABLE</a:t>
            </a:r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clientes </a:t>
            </a:r>
            <a:r>
              <a:rPr lang="pt-BR" sz="16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endParaRPr lang="pt-BR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600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id_cliente</a:t>
            </a:r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AUTO_INCREMENT </a:t>
            </a:r>
            <a:r>
              <a:rPr lang="pt-BR" sz="16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PRIMARY</a:t>
            </a:r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lang="pt-BR" sz="16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Cada cliente tem um ID único</a:t>
            </a:r>
            <a:endParaRPr lang="pt-BR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600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nome_cliente</a:t>
            </a:r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VARCHAR</a:t>
            </a:r>
            <a:r>
              <a:rPr lang="pt-BR" sz="16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600" dirty="0">
                <a:solidFill>
                  <a:srgbClr val="FF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r>
              <a:rPr lang="pt-BR" sz="16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NULL</a:t>
            </a:r>
            <a:r>
              <a:rPr lang="pt-BR" sz="16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pt-BR" sz="1600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Nome obrigatório</a:t>
            </a:r>
            <a:endParaRPr lang="pt-BR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600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cpf</a:t>
            </a:r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CHAR</a:t>
            </a:r>
            <a:r>
              <a:rPr lang="pt-BR" sz="16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600" dirty="0">
                <a:solidFill>
                  <a:srgbClr val="FF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pt-BR" sz="16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UNIQUE</a:t>
            </a:r>
            <a:r>
              <a:rPr lang="pt-BR" sz="16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               </a:t>
            </a:r>
            <a:r>
              <a:rPr lang="pt-BR" sz="1600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CPF único (não pode haver dois iguais)</a:t>
            </a:r>
            <a:endParaRPr lang="pt-BR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cidade </a:t>
            </a:r>
            <a:r>
              <a:rPr lang="pt-BR" sz="1600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VARCHAR</a:t>
            </a:r>
            <a:r>
              <a:rPr lang="pt-BR" sz="16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600" dirty="0">
                <a:solidFill>
                  <a:srgbClr val="FF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r>
              <a:rPr lang="pt-BR" sz="16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),						  </a:t>
            </a:r>
            <a:r>
              <a:rPr lang="pt-BR" sz="1600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Tipo VARCHAR máx. 50 caracteres</a:t>
            </a:r>
            <a:endParaRPr lang="pt-BR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estado </a:t>
            </a:r>
            <a:r>
              <a:rPr lang="pt-BR" sz="1600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CHAR</a:t>
            </a:r>
            <a:r>
              <a:rPr lang="pt-BR" sz="16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600" dirty="0">
                <a:solidFill>
                  <a:srgbClr val="FF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sz="16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),							  </a:t>
            </a:r>
            <a:r>
              <a:rPr lang="pt-BR" sz="1600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Tipo CHAR máx. 2 caracteres</a:t>
            </a:r>
            <a:endParaRPr lang="pt-BR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telefone </a:t>
            </a:r>
            <a:r>
              <a:rPr lang="pt-BR" sz="1600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VARCHAR</a:t>
            </a:r>
            <a:r>
              <a:rPr lang="pt-BR" sz="16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600" dirty="0">
                <a:solidFill>
                  <a:srgbClr val="FF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r>
              <a:rPr lang="pt-BR" sz="16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),						  </a:t>
            </a:r>
            <a:r>
              <a:rPr lang="pt-BR" sz="1600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Tipo VARCHAR máx. 15 caracteres</a:t>
            </a:r>
            <a:endParaRPr lang="pt-BR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ativo </a:t>
            </a:r>
            <a:r>
              <a:rPr lang="pt-BR" sz="1600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BOOLEAN</a:t>
            </a:r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DEFAULT</a:t>
            </a:r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>
                <a:solidFill>
                  <a:srgbClr val="FF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sz="16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            </a:t>
            </a:r>
            <a:r>
              <a:rPr lang="pt-BR" sz="1600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Por padrão, o cliente está ativo</a:t>
            </a:r>
            <a:endParaRPr lang="pt-BR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6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);</a:t>
            </a:r>
            <a:endParaRPr lang="pt-BR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9356181D-508E-4987-AD3D-4018055EC1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885962"/>
              </p:ext>
            </p:extLst>
          </p:nvPr>
        </p:nvGraphicFramePr>
        <p:xfrm>
          <a:off x="338843" y="4539608"/>
          <a:ext cx="8594724" cy="213137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297362">
                  <a:extLst>
                    <a:ext uri="{9D8B030D-6E8A-4147-A177-3AD203B41FA5}">
                      <a16:colId xmlns:a16="http://schemas.microsoft.com/office/drawing/2014/main" val="124753961"/>
                    </a:ext>
                  </a:extLst>
                </a:gridCol>
                <a:gridCol w="4297362">
                  <a:extLst>
                    <a:ext uri="{9D8B030D-6E8A-4147-A177-3AD203B41FA5}">
                      <a16:colId xmlns:a16="http://schemas.microsoft.com/office/drawing/2014/main" val="795481632"/>
                    </a:ext>
                  </a:extLst>
                </a:gridCol>
              </a:tblGrid>
              <a:tr h="485096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800" dirty="0" err="1">
                          <a:solidFill>
                            <a:schemeClr val="bg1"/>
                          </a:solidFill>
                          <a:effectLst/>
                        </a:rPr>
                        <a:t>Constraint</a:t>
                      </a:r>
                      <a:endParaRPr lang="pt-BR" sz="18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800" dirty="0">
                          <a:solidFill>
                            <a:schemeClr val="bg1"/>
                          </a:solidFill>
                          <a:effectLst/>
                        </a:rPr>
                        <a:t>Por quê?</a:t>
                      </a:r>
                      <a:endParaRPr lang="pt-BR" sz="18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9500702"/>
                  </a:ext>
                </a:extLst>
              </a:tr>
              <a:tr h="41156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400" dirty="0">
                          <a:solidFill>
                            <a:schemeClr val="bg1"/>
                          </a:solidFill>
                          <a:effectLst/>
                        </a:rPr>
                        <a:t>PRIMARY KEY</a:t>
                      </a:r>
                      <a:endParaRPr lang="pt-BR" sz="14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400" dirty="0">
                          <a:solidFill>
                            <a:schemeClr val="bg1"/>
                          </a:solidFill>
                          <a:effectLst/>
                        </a:rPr>
                        <a:t>Garante unicidade de cada cliente</a:t>
                      </a:r>
                      <a:endParaRPr lang="pt-BR" sz="14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2216089"/>
                  </a:ext>
                </a:extLst>
              </a:tr>
              <a:tr h="41156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NOT NULL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400" dirty="0">
                          <a:solidFill>
                            <a:schemeClr val="bg1"/>
                          </a:solidFill>
                          <a:effectLst/>
                        </a:rPr>
                        <a:t>Obriga que o nome seja preenchido</a:t>
                      </a:r>
                      <a:endParaRPr lang="pt-BR" sz="14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2601544"/>
                  </a:ext>
                </a:extLst>
              </a:tr>
              <a:tr h="41156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UNIQUE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400" dirty="0">
                          <a:solidFill>
                            <a:schemeClr val="bg1"/>
                          </a:solidFill>
                          <a:effectLst/>
                        </a:rPr>
                        <a:t>Evita CPFs duplicados</a:t>
                      </a:r>
                      <a:endParaRPr lang="pt-BR" sz="14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703903"/>
                  </a:ext>
                </a:extLst>
              </a:tr>
              <a:tr h="41156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DEFAULT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400" dirty="0">
                          <a:solidFill>
                            <a:schemeClr val="bg1"/>
                          </a:solidFill>
                          <a:effectLst/>
                        </a:rPr>
                        <a:t>Define valor automático para o campo ativo</a:t>
                      </a:r>
                      <a:endParaRPr lang="pt-BR" sz="14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02733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45781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BF4364-A6CD-4460-A48D-6779B48A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5" y="1030102"/>
            <a:ext cx="9692640" cy="811983"/>
          </a:xfrm>
        </p:spPr>
        <p:txBody>
          <a:bodyPr>
            <a:noAutofit/>
          </a:bodyPr>
          <a:lstStyle/>
          <a:p>
            <a:r>
              <a:rPr lang="pt-BR" sz="3600" b="1" dirty="0">
                <a:solidFill>
                  <a:srgbClr val="00758F"/>
                </a:solidFill>
              </a:rPr>
              <a:t>Criando Códigos:</a:t>
            </a:r>
            <a:br>
              <a:rPr lang="pt-BR" sz="3600" b="1" dirty="0"/>
            </a:br>
            <a:r>
              <a:rPr lang="pt-BR" sz="3600" b="1" dirty="0">
                <a:solidFill>
                  <a:srgbClr val="F39211"/>
                </a:solidFill>
              </a:rPr>
              <a:t>1.2 Criando as tabelas do Projeto</a:t>
            </a:r>
            <a:br>
              <a:rPr lang="pt-BR" sz="3600" b="1" dirty="0">
                <a:solidFill>
                  <a:srgbClr val="F39211"/>
                </a:solidFill>
              </a:rPr>
            </a:br>
            <a:endParaRPr lang="pt-BR" sz="3600" i="1" dirty="0">
              <a:solidFill>
                <a:srgbClr val="F39211"/>
              </a:solidFill>
            </a:endParaRPr>
          </a:p>
        </p:txBody>
      </p:sp>
      <p:pic>
        <p:nvPicPr>
          <p:cNvPr id="4" name="Picture 6" descr="https://www.mysql.com/common/logos/logo-mysql-170x115.png">
            <a:extLst>
              <a:ext uri="{FF2B5EF4-FFF2-40B4-BE49-F238E27FC236}">
                <a16:creationId xmlns:a16="http://schemas.microsoft.com/office/drawing/2014/main" id="{441DFD02-E8A2-4690-9CD7-1CC407F20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793" y="5753675"/>
            <a:ext cx="1385775" cy="93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90DD339-B99C-43BD-99AF-28040E9B3E9C}"/>
              </a:ext>
            </a:extLst>
          </p:cNvPr>
          <p:cNvSpPr txBox="1"/>
          <p:nvPr/>
        </p:nvSpPr>
        <p:spPr>
          <a:xfrm>
            <a:off x="338844" y="1436093"/>
            <a:ext cx="11002924" cy="3479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pt-BR" sz="2500" b="1" dirty="0"/>
              <a:t>2 - Tabela: </a:t>
            </a:r>
            <a:r>
              <a:rPr lang="pt-BR" sz="2500" i="1" dirty="0"/>
              <a:t>produtos </a:t>
            </a: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CREATE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TABLE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produtos 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endParaRPr lang="pt-BR" sz="17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700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id_produto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AUTO_INCREMENT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PRIMARY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1700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ID único para cada produto</a:t>
            </a:r>
            <a:endParaRPr lang="pt-BR" sz="17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700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nome_produto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VARCHAR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700" dirty="0">
                <a:solidFill>
                  <a:srgbClr val="FF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NULL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 </a:t>
            </a:r>
            <a:r>
              <a:rPr lang="pt-BR" sz="1700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Nome obrigatório</a:t>
            </a:r>
            <a:endParaRPr lang="pt-BR" sz="17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700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preco_unitario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DECIMAL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700" dirty="0">
                <a:solidFill>
                  <a:srgbClr val="FF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1700" dirty="0">
                <a:solidFill>
                  <a:srgbClr val="FF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NULL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-</a:t>
            </a:r>
            <a:r>
              <a:rPr lang="pt-BR" sz="1700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 Preço obrigatório e com 2 casas</a:t>
            </a:r>
            <a:endParaRPr lang="pt-BR" sz="17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estoque </a:t>
            </a:r>
            <a:r>
              <a:rPr lang="pt-BR" sz="1700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NULL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               </a:t>
            </a:r>
            <a:r>
              <a:rPr lang="pt-BR" sz="1700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Não permitir estoque nulo</a:t>
            </a:r>
            <a:endParaRPr lang="pt-BR" sz="17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ativo </a:t>
            </a:r>
            <a:r>
              <a:rPr lang="pt-BR" sz="1700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BOOLEAN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DEFAULT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dirty="0">
                <a:solidFill>
                  <a:srgbClr val="FF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             </a:t>
            </a:r>
            <a:r>
              <a:rPr lang="pt-BR" sz="1700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Produto ativo por padrão</a:t>
            </a:r>
            <a:endParaRPr lang="pt-BR" sz="17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);</a:t>
            </a:r>
            <a:endParaRPr lang="pt-BR" sz="17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9356181D-508E-4987-AD3D-4018055EC1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736221"/>
              </p:ext>
            </p:extLst>
          </p:nvPr>
        </p:nvGraphicFramePr>
        <p:xfrm>
          <a:off x="338843" y="4511871"/>
          <a:ext cx="8594724" cy="171980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297362">
                  <a:extLst>
                    <a:ext uri="{9D8B030D-6E8A-4147-A177-3AD203B41FA5}">
                      <a16:colId xmlns:a16="http://schemas.microsoft.com/office/drawing/2014/main" val="124753961"/>
                    </a:ext>
                  </a:extLst>
                </a:gridCol>
                <a:gridCol w="4297362">
                  <a:extLst>
                    <a:ext uri="{9D8B030D-6E8A-4147-A177-3AD203B41FA5}">
                      <a16:colId xmlns:a16="http://schemas.microsoft.com/office/drawing/2014/main" val="795481632"/>
                    </a:ext>
                  </a:extLst>
                </a:gridCol>
              </a:tblGrid>
              <a:tr h="485096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800" b="1" dirty="0" err="1"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Constraint</a:t>
                      </a:r>
                      <a:endParaRPr lang="pt-BR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800" b="1" dirty="0"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Por quê?</a:t>
                      </a:r>
                      <a:endParaRPr lang="pt-BR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9500702"/>
                  </a:ext>
                </a:extLst>
              </a:tr>
              <a:tr h="41156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Courier New" panose="02070309020205020404" pitchFamily="49" charset="0"/>
                        </a:rPr>
                        <a:t>PRIMARY KEY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Identificar cada produto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2216089"/>
                  </a:ext>
                </a:extLst>
              </a:tr>
              <a:tr h="41156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Courier New" panose="02070309020205020404" pitchFamily="49" charset="0"/>
                        </a:rPr>
                        <a:t>NOT NULL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Obrigatório nome, preço e estoque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2601544"/>
                  </a:ext>
                </a:extLst>
              </a:tr>
              <a:tr h="41156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Courier New" panose="02070309020205020404" pitchFamily="49" charset="0"/>
                        </a:rPr>
                        <a:t>DEFAULT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 dirty="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Produto ativo por padrão</a:t>
                      </a:r>
                      <a:endParaRPr lang="pt-BR" sz="14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7039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36992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BF4364-A6CD-4460-A48D-6779B48A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5" y="1030102"/>
            <a:ext cx="9692640" cy="811983"/>
          </a:xfrm>
        </p:spPr>
        <p:txBody>
          <a:bodyPr>
            <a:noAutofit/>
          </a:bodyPr>
          <a:lstStyle/>
          <a:p>
            <a:r>
              <a:rPr lang="pt-BR" sz="3600" b="1" dirty="0">
                <a:solidFill>
                  <a:srgbClr val="00758F"/>
                </a:solidFill>
              </a:rPr>
              <a:t>Criando Códigos:</a:t>
            </a:r>
            <a:br>
              <a:rPr lang="pt-BR" sz="3600" b="1" dirty="0"/>
            </a:br>
            <a:r>
              <a:rPr lang="pt-BR" sz="3600" b="1" dirty="0">
                <a:solidFill>
                  <a:srgbClr val="F39211"/>
                </a:solidFill>
              </a:rPr>
              <a:t>1.3 Criando as tabelas do Projeto</a:t>
            </a:r>
            <a:br>
              <a:rPr lang="pt-BR" sz="3600" b="1" dirty="0">
                <a:solidFill>
                  <a:srgbClr val="F39211"/>
                </a:solidFill>
              </a:rPr>
            </a:br>
            <a:endParaRPr lang="pt-BR" sz="3600" i="1" dirty="0">
              <a:solidFill>
                <a:srgbClr val="F39211"/>
              </a:solidFill>
            </a:endParaRPr>
          </a:p>
        </p:txBody>
      </p:sp>
      <p:pic>
        <p:nvPicPr>
          <p:cNvPr id="4" name="Picture 6" descr="https://www.mysql.com/common/logos/logo-mysql-170x115.png">
            <a:extLst>
              <a:ext uri="{FF2B5EF4-FFF2-40B4-BE49-F238E27FC236}">
                <a16:creationId xmlns:a16="http://schemas.microsoft.com/office/drawing/2014/main" id="{441DFD02-E8A2-4690-9CD7-1CC407F20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793" y="5753675"/>
            <a:ext cx="1385775" cy="93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90DD339-B99C-43BD-99AF-28040E9B3E9C}"/>
              </a:ext>
            </a:extLst>
          </p:cNvPr>
          <p:cNvSpPr txBox="1"/>
          <p:nvPr/>
        </p:nvSpPr>
        <p:spPr>
          <a:xfrm>
            <a:off x="338844" y="1436093"/>
            <a:ext cx="11002924" cy="38084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pt-BR" sz="2500" b="1" dirty="0"/>
              <a:t>3 - Tabela: </a:t>
            </a:r>
            <a:r>
              <a:rPr lang="pt-BR" sz="2500" i="1" dirty="0"/>
              <a:t>vendas</a:t>
            </a:r>
            <a:r>
              <a:rPr lang="pt-BR" sz="2500" b="1" i="1" dirty="0"/>
              <a:t> </a:t>
            </a: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CREATE</a:t>
            </a: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TABLE</a:t>
            </a: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vendas </a:t>
            </a:r>
            <a:r>
              <a:rPr lang="pt-BR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endParaRPr lang="pt-BR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id_venda</a:t>
            </a: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AUTO_INCREMENT </a:t>
            </a:r>
            <a:r>
              <a:rPr lang="pt-BR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PRIMARY</a:t>
            </a: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lang="pt-BR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  </a:t>
            </a:r>
            <a:r>
              <a:rPr lang="pt-BR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ID único da venda</a:t>
            </a:r>
            <a:endParaRPr lang="pt-BR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id_cliente</a:t>
            </a: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NULL</a:t>
            </a:r>
            <a:r>
              <a:rPr lang="pt-BR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                  </a:t>
            </a:r>
            <a:r>
              <a:rPr lang="pt-BR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Cliente obrigatório</a:t>
            </a:r>
            <a:endParaRPr lang="pt-BR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data_venda</a:t>
            </a: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DATE</a:t>
            </a: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NULL</a:t>
            </a:r>
            <a:r>
              <a:rPr lang="pt-BR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                 </a:t>
            </a:r>
            <a:r>
              <a:rPr lang="pt-BR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Data obrigatória</a:t>
            </a:r>
            <a:endParaRPr lang="pt-BR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valor_total</a:t>
            </a: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DECIMAL</a:t>
            </a:r>
            <a:r>
              <a:rPr lang="pt-BR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dirty="0">
                <a:solidFill>
                  <a:srgbClr val="FF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pt-BR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dirty="0">
                <a:solidFill>
                  <a:srgbClr val="FF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NULL</a:t>
            </a:r>
            <a:r>
              <a:rPr lang="pt-BR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       </a:t>
            </a:r>
            <a:r>
              <a:rPr lang="pt-BR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Valor da venda</a:t>
            </a:r>
            <a:endParaRPr lang="pt-BR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FOREIGN</a:t>
            </a: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id_cliente</a:t>
            </a:r>
            <a:r>
              <a:rPr lang="pt-BR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clientes</a:t>
            </a:r>
            <a:r>
              <a:rPr lang="pt-BR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id_cliente</a:t>
            </a:r>
            <a:r>
              <a:rPr lang="pt-BR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pt-BR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Ligação com tabela clientes</a:t>
            </a:r>
            <a:endParaRPr lang="pt-BR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);</a:t>
            </a:r>
            <a:endParaRPr lang="pt-BR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9356181D-508E-4987-AD3D-4018055EC1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1723175"/>
              </p:ext>
            </p:extLst>
          </p:nvPr>
        </p:nvGraphicFramePr>
        <p:xfrm>
          <a:off x="338843" y="4511871"/>
          <a:ext cx="8594724" cy="177375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297362">
                  <a:extLst>
                    <a:ext uri="{9D8B030D-6E8A-4147-A177-3AD203B41FA5}">
                      <a16:colId xmlns:a16="http://schemas.microsoft.com/office/drawing/2014/main" val="124753961"/>
                    </a:ext>
                  </a:extLst>
                </a:gridCol>
                <a:gridCol w="4297362">
                  <a:extLst>
                    <a:ext uri="{9D8B030D-6E8A-4147-A177-3AD203B41FA5}">
                      <a16:colId xmlns:a16="http://schemas.microsoft.com/office/drawing/2014/main" val="795481632"/>
                    </a:ext>
                  </a:extLst>
                </a:gridCol>
              </a:tblGrid>
              <a:tr h="485096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800" b="1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Constraint</a:t>
                      </a:r>
                      <a:endParaRPr lang="pt-BR" sz="18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800" b="1" dirty="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Por quê?</a:t>
                      </a:r>
                      <a:endParaRPr lang="pt-BR" sz="18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9500702"/>
                  </a:ext>
                </a:extLst>
              </a:tr>
              <a:tr h="41156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Courier New" panose="02070309020205020404" pitchFamily="49" charset="0"/>
                        </a:rPr>
                        <a:t>PRIMARY KEY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Cada venda tem um ID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2216089"/>
                  </a:ext>
                </a:extLst>
              </a:tr>
              <a:tr h="41156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Courier New" panose="02070309020205020404" pitchFamily="49" charset="0"/>
                        </a:rPr>
                        <a:t>NOT NULL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Cliente, data e valor obrigatórios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2601544"/>
                  </a:ext>
                </a:extLst>
              </a:tr>
              <a:tr h="41156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Courier New" panose="02070309020205020404" pitchFamily="49" charset="0"/>
                        </a:rPr>
                        <a:t>FOREIGN KEY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 dirty="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Garante que só seja possível cadastrar vendas de clientes existentes</a:t>
                      </a:r>
                      <a:endParaRPr lang="pt-BR" sz="14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7039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7579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BF4364-A6CD-4460-A48D-6779B48A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5" y="1030102"/>
            <a:ext cx="9692640" cy="811983"/>
          </a:xfrm>
        </p:spPr>
        <p:txBody>
          <a:bodyPr>
            <a:noAutofit/>
          </a:bodyPr>
          <a:lstStyle/>
          <a:p>
            <a:r>
              <a:rPr lang="pt-BR" sz="3600" b="1" dirty="0">
                <a:solidFill>
                  <a:srgbClr val="00758F"/>
                </a:solidFill>
              </a:rPr>
              <a:t>Criando Códigos:</a:t>
            </a:r>
            <a:br>
              <a:rPr lang="pt-BR" sz="3600" b="1" dirty="0"/>
            </a:br>
            <a:r>
              <a:rPr lang="pt-BR" sz="3600" b="1" dirty="0">
                <a:solidFill>
                  <a:srgbClr val="F39211"/>
                </a:solidFill>
              </a:rPr>
              <a:t>1.4 Criando as tabelas do Projeto</a:t>
            </a:r>
            <a:br>
              <a:rPr lang="pt-BR" sz="3600" b="1" dirty="0">
                <a:solidFill>
                  <a:srgbClr val="F39211"/>
                </a:solidFill>
              </a:rPr>
            </a:br>
            <a:endParaRPr lang="pt-BR" sz="3600" i="1" dirty="0">
              <a:solidFill>
                <a:srgbClr val="F39211"/>
              </a:solidFill>
            </a:endParaRPr>
          </a:p>
        </p:txBody>
      </p:sp>
      <p:pic>
        <p:nvPicPr>
          <p:cNvPr id="4" name="Picture 6" descr="https://www.mysql.com/common/logos/logo-mysql-170x115.png">
            <a:extLst>
              <a:ext uri="{FF2B5EF4-FFF2-40B4-BE49-F238E27FC236}">
                <a16:creationId xmlns:a16="http://schemas.microsoft.com/office/drawing/2014/main" id="{441DFD02-E8A2-4690-9CD7-1CC407F20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793" y="5753675"/>
            <a:ext cx="1385775" cy="93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90DD339-B99C-43BD-99AF-28040E9B3E9C}"/>
              </a:ext>
            </a:extLst>
          </p:cNvPr>
          <p:cNvSpPr txBox="1"/>
          <p:nvPr/>
        </p:nvSpPr>
        <p:spPr>
          <a:xfrm>
            <a:off x="338844" y="1436093"/>
            <a:ext cx="11002924" cy="3121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pt-BR" sz="2500" b="1" dirty="0"/>
              <a:t>4 - Tabela: </a:t>
            </a:r>
            <a:r>
              <a:rPr lang="pt-BR" sz="2500" i="1" dirty="0" err="1"/>
              <a:t>itens_venda</a:t>
            </a:r>
            <a:r>
              <a:rPr lang="pt-BR" sz="2500" i="1" dirty="0"/>
              <a:t> </a:t>
            </a: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CREATE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TABLE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itens_venda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endParaRPr lang="pt-BR" sz="17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700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id_item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AUTO_INCREMENT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PRIMARY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</a:t>
            </a:r>
            <a:r>
              <a:rPr lang="pt-BR" sz="1700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ID único do item da venda</a:t>
            </a:r>
            <a:endParaRPr lang="pt-BR" sz="17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700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id_venda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NULL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                </a:t>
            </a:r>
            <a:r>
              <a:rPr lang="pt-BR" sz="1700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Venda obrigatória</a:t>
            </a:r>
            <a:endParaRPr lang="pt-BR" sz="17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700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id_produto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NULL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              </a:t>
            </a:r>
            <a:r>
              <a:rPr lang="pt-BR" sz="1700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Produto obrigatório</a:t>
            </a:r>
            <a:endParaRPr lang="pt-BR" sz="17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quantidade </a:t>
            </a:r>
            <a:r>
              <a:rPr lang="pt-BR" sz="1700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NULL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              </a:t>
            </a:r>
            <a:r>
              <a:rPr lang="pt-BR" sz="1700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Quantidade vendida obrigatória</a:t>
            </a:r>
            <a:endParaRPr lang="pt-BR" sz="17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700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preco_unitario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DECIMAL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700" dirty="0">
                <a:solidFill>
                  <a:srgbClr val="FF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1700" dirty="0">
                <a:solidFill>
                  <a:srgbClr val="FF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NULL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pt-BR" sz="1700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Preço unitário</a:t>
            </a:r>
            <a:endParaRPr lang="pt-BR" sz="17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FOREIGN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700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id_venda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vendas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700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id_venda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),</a:t>
            </a:r>
            <a:endParaRPr lang="pt-BR" sz="17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FOREIGN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700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id_produto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0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r>
              <a:rPr lang="pt-BR" sz="170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produtos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700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id_produto</a:t>
            </a: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pt-BR" sz="17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70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);</a:t>
            </a:r>
            <a:endParaRPr lang="pt-BR" sz="17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9356181D-508E-4987-AD3D-4018055EC1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3663938"/>
              </p:ext>
            </p:extLst>
          </p:nvPr>
        </p:nvGraphicFramePr>
        <p:xfrm>
          <a:off x="338844" y="4716432"/>
          <a:ext cx="8594724" cy="177375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297362">
                  <a:extLst>
                    <a:ext uri="{9D8B030D-6E8A-4147-A177-3AD203B41FA5}">
                      <a16:colId xmlns:a16="http://schemas.microsoft.com/office/drawing/2014/main" val="124753961"/>
                    </a:ext>
                  </a:extLst>
                </a:gridCol>
                <a:gridCol w="4297362">
                  <a:extLst>
                    <a:ext uri="{9D8B030D-6E8A-4147-A177-3AD203B41FA5}">
                      <a16:colId xmlns:a16="http://schemas.microsoft.com/office/drawing/2014/main" val="795481632"/>
                    </a:ext>
                  </a:extLst>
                </a:gridCol>
              </a:tblGrid>
              <a:tr h="485096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800" b="1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Constraint</a:t>
                      </a:r>
                      <a:endParaRPr lang="pt-BR" sz="18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800" b="1" dirty="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Por quê?</a:t>
                      </a:r>
                      <a:endParaRPr lang="pt-BR" sz="18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9500702"/>
                  </a:ext>
                </a:extLst>
              </a:tr>
              <a:tr h="41156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Courier New" panose="02070309020205020404" pitchFamily="49" charset="0"/>
                        </a:rPr>
                        <a:t>PRIMARY KEY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Cada venda tem um ID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2216089"/>
                  </a:ext>
                </a:extLst>
              </a:tr>
              <a:tr h="41156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Courier New" panose="02070309020205020404" pitchFamily="49" charset="0"/>
                        </a:rPr>
                        <a:t>NOT NULL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Cliente, data e valor obrigatórios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2601544"/>
                  </a:ext>
                </a:extLst>
              </a:tr>
              <a:tr h="41445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 dirty="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Courier New" panose="02070309020205020404" pitchFamily="49" charset="0"/>
                        </a:rPr>
                        <a:t>FOREIGN KEY</a:t>
                      </a:r>
                      <a:endParaRPr lang="pt-BR" sz="14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 dirty="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Garante que só seja possível cadastrar vendas de clientes existentes</a:t>
                      </a:r>
                      <a:endParaRPr lang="pt-BR" sz="14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7039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98776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BF4364-A6CD-4460-A48D-6779B48A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5" y="1030102"/>
            <a:ext cx="9692640" cy="811983"/>
          </a:xfrm>
        </p:spPr>
        <p:txBody>
          <a:bodyPr>
            <a:noAutofit/>
          </a:bodyPr>
          <a:lstStyle/>
          <a:p>
            <a:r>
              <a:rPr lang="pt-BR" sz="3600" b="1" dirty="0">
                <a:solidFill>
                  <a:srgbClr val="00758F"/>
                </a:solidFill>
              </a:rPr>
              <a:t>Criando Códigos:</a:t>
            </a:r>
            <a:br>
              <a:rPr lang="pt-BR" sz="3600" b="1" dirty="0"/>
            </a:br>
            <a:r>
              <a:rPr lang="pt-BR" sz="3600" b="1" dirty="0">
                <a:solidFill>
                  <a:srgbClr val="F39211"/>
                </a:solidFill>
              </a:rPr>
              <a:t>1.5 Criando as tabelas do Projeto</a:t>
            </a:r>
            <a:br>
              <a:rPr lang="pt-BR" sz="3600" b="1" dirty="0">
                <a:solidFill>
                  <a:srgbClr val="F39211"/>
                </a:solidFill>
              </a:rPr>
            </a:br>
            <a:endParaRPr lang="pt-BR" sz="3600" i="1" dirty="0">
              <a:solidFill>
                <a:srgbClr val="F39211"/>
              </a:solidFill>
            </a:endParaRPr>
          </a:p>
        </p:txBody>
      </p:sp>
      <p:pic>
        <p:nvPicPr>
          <p:cNvPr id="4" name="Picture 6" descr="https://www.mysql.com/common/logos/logo-mysql-170x115.png">
            <a:extLst>
              <a:ext uri="{FF2B5EF4-FFF2-40B4-BE49-F238E27FC236}">
                <a16:creationId xmlns:a16="http://schemas.microsoft.com/office/drawing/2014/main" id="{441DFD02-E8A2-4690-9CD7-1CC407F20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793" y="5753675"/>
            <a:ext cx="1385775" cy="93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90DD339-B99C-43BD-99AF-28040E9B3E9C}"/>
              </a:ext>
            </a:extLst>
          </p:cNvPr>
          <p:cNvSpPr txBox="1"/>
          <p:nvPr/>
        </p:nvSpPr>
        <p:spPr>
          <a:xfrm>
            <a:off x="338844" y="1436093"/>
            <a:ext cx="11002924" cy="31952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pt-BR" sz="2500" dirty="0"/>
              <a:t>5 - Tabela: </a:t>
            </a:r>
            <a:r>
              <a:rPr lang="pt-BR" sz="2500" b="1" i="1" dirty="0"/>
              <a:t>pagamentos </a:t>
            </a: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75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CREATE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5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TABLE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pagamentos </a:t>
            </a:r>
            <a:r>
              <a:rPr lang="pt-BR" sz="175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endParaRPr lang="pt-BR" sz="175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750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id_pagamento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50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AUTO_INCREMENT </a:t>
            </a:r>
            <a:r>
              <a:rPr lang="pt-BR" sz="175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PRIMARY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5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lang="pt-BR" sz="175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pt-BR" sz="1750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ID único do pagamento</a:t>
            </a:r>
            <a:endParaRPr lang="pt-BR" sz="175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750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id_venda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50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5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5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NULL</a:t>
            </a:r>
            <a:r>
              <a:rPr lang="pt-BR" sz="175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                      </a:t>
            </a:r>
            <a:r>
              <a:rPr lang="pt-BR" sz="1750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Venda obrigatória</a:t>
            </a:r>
            <a:endParaRPr lang="pt-BR" sz="175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750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data_pagamento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50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DATE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5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5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NULL</a:t>
            </a:r>
            <a:r>
              <a:rPr lang="pt-BR" sz="175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               </a:t>
            </a:r>
            <a:r>
              <a:rPr lang="pt-BR" sz="1750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Data obrigatória</a:t>
            </a:r>
            <a:endParaRPr lang="pt-BR" sz="175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750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valor_pago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50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DECIMAL</a:t>
            </a:r>
            <a:r>
              <a:rPr lang="pt-BR" sz="175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750" dirty="0">
                <a:solidFill>
                  <a:srgbClr val="FF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pt-BR" sz="175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1750" dirty="0">
                <a:solidFill>
                  <a:srgbClr val="FF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sz="175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5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5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NULL</a:t>
            </a:r>
            <a:r>
              <a:rPr lang="pt-BR" sz="175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          </a:t>
            </a:r>
            <a:r>
              <a:rPr lang="pt-BR" sz="1750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Valor pago obrigatório</a:t>
            </a:r>
            <a:endParaRPr lang="pt-BR" sz="175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750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forma_pagamento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50" dirty="0">
                <a:solidFill>
                  <a:srgbClr val="8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ENUM</a:t>
            </a:r>
            <a:r>
              <a:rPr lang="pt-BR" sz="175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750" dirty="0">
                <a:solidFill>
                  <a:srgbClr val="808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'Dinheiro'</a:t>
            </a:r>
            <a:r>
              <a:rPr lang="pt-BR" sz="175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50" dirty="0">
                <a:solidFill>
                  <a:srgbClr val="808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'Cartão'</a:t>
            </a:r>
            <a:r>
              <a:rPr lang="pt-BR" sz="175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50" dirty="0">
                <a:solidFill>
                  <a:srgbClr val="808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'Boleto'</a:t>
            </a:r>
            <a:r>
              <a:rPr lang="pt-BR" sz="175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5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5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NULL</a:t>
            </a:r>
            <a:r>
              <a:rPr lang="pt-BR" sz="175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50" dirty="0">
                <a:solidFill>
                  <a:srgbClr val="008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-- Tipos pré-definidos</a:t>
            </a:r>
            <a:endParaRPr lang="pt-BR" sz="175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75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FOREIGN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5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5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750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id_venda</a:t>
            </a:r>
            <a:r>
              <a:rPr lang="pt-BR" sz="175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750" b="1" dirty="0">
                <a:solidFill>
                  <a:srgbClr val="0000F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r>
              <a:rPr lang="pt-BR" sz="1750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vendas</a:t>
            </a:r>
            <a:r>
              <a:rPr lang="pt-BR" sz="175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750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id_venda</a:t>
            </a:r>
            <a:r>
              <a:rPr lang="pt-BR" sz="175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pt-BR" sz="175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pt-BR" sz="1750" b="1" dirty="0">
                <a:solidFill>
                  <a:srgbClr val="00008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);</a:t>
            </a:r>
            <a:endParaRPr lang="pt-BR" sz="175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9356181D-508E-4987-AD3D-4018055EC1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042905"/>
              </p:ext>
            </p:extLst>
          </p:nvPr>
        </p:nvGraphicFramePr>
        <p:xfrm>
          <a:off x="338843" y="4578487"/>
          <a:ext cx="8594724" cy="218820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297362">
                  <a:extLst>
                    <a:ext uri="{9D8B030D-6E8A-4147-A177-3AD203B41FA5}">
                      <a16:colId xmlns:a16="http://schemas.microsoft.com/office/drawing/2014/main" val="124753961"/>
                    </a:ext>
                  </a:extLst>
                </a:gridCol>
                <a:gridCol w="4297362">
                  <a:extLst>
                    <a:ext uri="{9D8B030D-6E8A-4147-A177-3AD203B41FA5}">
                      <a16:colId xmlns:a16="http://schemas.microsoft.com/office/drawing/2014/main" val="795481632"/>
                    </a:ext>
                  </a:extLst>
                </a:gridCol>
              </a:tblGrid>
              <a:tr h="485096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800" b="1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Constraint</a:t>
                      </a:r>
                      <a:endParaRPr lang="pt-BR" sz="18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800" b="1" dirty="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Por quê?</a:t>
                      </a:r>
                      <a:endParaRPr lang="pt-BR" sz="18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9500702"/>
                  </a:ext>
                </a:extLst>
              </a:tr>
              <a:tr h="41156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Courier New" panose="02070309020205020404" pitchFamily="49" charset="0"/>
                        </a:rPr>
                        <a:t>PRIMARY KEY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Cada pagamento tem um ID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2216089"/>
                  </a:ext>
                </a:extLst>
              </a:tr>
              <a:tr h="41156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Courier New" panose="02070309020205020404" pitchFamily="49" charset="0"/>
                        </a:rPr>
                        <a:t>NOT NULL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 dirty="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Venda, data, valor e forma de pagamento obrigatórios</a:t>
                      </a:r>
                      <a:endParaRPr lang="pt-BR" sz="14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2601544"/>
                  </a:ext>
                </a:extLst>
              </a:tr>
              <a:tr h="41445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Courier New" panose="02070309020205020404" pitchFamily="49" charset="0"/>
                        </a:rPr>
                        <a:t>ENUM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Limita os tipos de pagamento aceitos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703903"/>
                  </a:ext>
                </a:extLst>
              </a:tr>
              <a:tr h="41445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Courier New" panose="02070309020205020404" pitchFamily="49" charset="0"/>
                        </a:rPr>
                        <a:t>FOREIGN KEY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 dirty="0">
                          <a:solidFill>
                            <a:schemeClr val="bg1"/>
                          </a:solidFill>
                          <a:effectLst/>
                          <a:latin typeface="Constantia" panose="02030602050306030303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Garantir que o pagamento esteja vinculado a uma venda existente</a:t>
                      </a:r>
                      <a:endParaRPr lang="pt-BR" sz="14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1401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735971"/>
      </p:ext>
    </p:extLst>
  </p:cSld>
  <p:clrMapOvr>
    <a:masterClrMapping/>
  </p:clrMapOvr>
</p:sld>
</file>

<file path=ppt/theme/theme1.xml><?xml version="1.0" encoding="utf-8"?>
<a:theme xmlns:a="http://schemas.openxmlformats.org/drawingml/2006/main" name="Exibir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TM03457515[[fn=Exibir]]</Template>
  <TotalTime>947</TotalTime>
  <Words>912</Words>
  <Application>Microsoft Office PowerPoint</Application>
  <PresentationFormat>Widescreen</PresentationFormat>
  <Paragraphs>189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20" baseType="lpstr">
      <vt:lpstr>Arial</vt:lpstr>
      <vt:lpstr>Calibri</vt:lpstr>
      <vt:lpstr>Century Schoolbook</vt:lpstr>
      <vt:lpstr>Constantia</vt:lpstr>
      <vt:lpstr>Courier New</vt:lpstr>
      <vt:lpstr>Times New Roman</vt:lpstr>
      <vt:lpstr>Wingdings 2</vt:lpstr>
      <vt:lpstr>Exibir</vt:lpstr>
      <vt:lpstr> Bem-Vindos novamente!    MySQL: Aula 02</vt:lpstr>
      <vt:lpstr>O que vamos aprender hoje? Serão os seguintes tópicos:</vt:lpstr>
      <vt:lpstr>Criando Códigos: 1.0 O que são as configurações de colunas no MySQL?</vt:lpstr>
      <vt:lpstr>Criando Códigos: 1.1 O que são as configurações de colunas no MySQL?</vt:lpstr>
      <vt:lpstr>Criando Códigos: 1.2 O que são as configurações de colunas no MySQL?</vt:lpstr>
      <vt:lpstr>Criando Códigos: 1.3 O que são as configurações de colunas no MySQL?</vt:lpstr>
      <vt:lpstr>Criando Códigos: 1.0 Criando as tabelas do Projeto</vt:lpstr>
      <vt:lpstr>Criando Códigos: 1.1 Criando as tabelas do Projeto </vt:lpstr>
      <vt:lpstr>Criando Códigos: 1.2 Criando as tabelas do Projeto </vt:lpstr>
      <vt:lpstr>Criando Códigos: 1.3 Criando as tabelas do Projeto </vt:lpstr>
      <vt:lpstr>Criando Códigos: 1.4 Criando as tabelas do Projeto </vt:lpstr>
      <vt:lpstr>Criando Códigos: 1.5 Criando as tabelas do Projeto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Bem-Vindos!    MySQL: Aula 01</dc:title>
  <dc:creator>Ruan Machado</dc:creator>
  <cp:lastModifiedBy>Ruan Machado</cp:lastModifiedBy>
  <cp:revision>37</cp:revision>
  <dcterms:created xsi:type="dcterms:W3CDTF">2025-06-14T16:47:44Z</dcterms:created>
  <dcterms:modified xsi:type="dcterms:W3CDTF">2025-06-20T17:58:16Z</dcterms:modified>
</cp:coreProperties>
</file>