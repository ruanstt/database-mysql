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5" r:id="rId3"/>
    <p:sldId id="257" r:id="rId4"/>
    <p:sldId id="259" r:id="rId5"/>
    <p:sldId id="261" r:id="rId6"/>
    <p:sldId id="262" r:id="rId7"/>
    <p:sldId id="263" r:id="rId8"/>
    <p:sldId id="267" r:id="rId9"/>
    <p:sldId id="266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58F"/>
    <a:srgbClr val="F39211"/>
    <a:srgbClr val="0000FF"/>
    <a:srgbClr val="79B6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20E8B-B665-4276-9EE8-B82B29DF1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331920"/>
            <a:ext cx="9418320" cy="3063240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Bem-Vindos!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My</a:t>
            </a:r>
            <a:r>
              <a:rPr lang="pt-BR" dirty="0">
                <a:solidFill>
                  <a:srgbClr val="F39211"/>
                </a:solidFill>
              </a:rPr>
              <a:t>SQL</a:t>
            </a:r>
            <a:r>
              <a:rPr lang="pt-BR" dirty="0"/>
              <a:t>: Aula 01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E03497-30AD-4754-A43A-72A8D0158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Professor: Ruan Machado</a:t>
            </a:r>
          </a:p>
          <a:p>
            <a:r>
              <a:rPr lang="pt-BR" sz="2000" dirty="0"/>
              <a:t>Desenvolvedor Python – RPA, Experiência com Bancos de Dados Relacionais.</a:t>
            </a:r>
          </a:p>
        </p:txBody>
      </p:sp>
      <p:pic>
        <p:nvPicPr>
          <p:cNvPr id="1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14C8504F-8DD4-4170-A866-8452D0C10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95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167352"/>
            <a:ext cx="9692640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Introdução ao MySQL: </a:t>
            </a:r>
            <a:br>
              <a:rPr lang="pt-BR" sz="4000" b="1" dirty="0"/>
            </a:br>
            <a:r>
              <a:rPr lang="pt-BR" sz="4000" b="1" dirty="0">
                <a:solidFill>
                  <a:srgbClr val="F39211"/>
                </a:solidFill>
              </a:rPr>
              <a:t>O que é um Banco de Dados?</a:t>
            </a:r>
            <a:endParaRPr lang="pt-BR" sz="40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C1E9317-16BF-4270-BF1D-47B349C85D9A}"/>
              </a:ext>
            </a:extLst>
          </p:cNvPr>
          <p:cNvSpPr txBox="1">
            <a:spLocks/>
          </p:cNvSpPr>
          <p:nvPr/>
        </p:nvSpPr>
        <p:spPr>
          <a:xfrm>
            <a:off x="338846" y="1253331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r>
              <a:rPr lang="pt-BR" b="1" dirty="0"/>
              <a:t>Banco de Dados</a:t>
            </a:r>
            <a:r>
              <a:rPr lang="pt-BR" dirty="0"/>
              <a:t> é um local organizado para </a:t>
            </a:r>
            <a:r>
              <a:rPr lang="pt-BR" b="1" dirty="0"/>
              <a:t>armazenar informações</a:t>
            </a:r>
            <a:r>
              <a:rPr lang="pt-BR" dirty="0"/>
              <a:t> de forma estruturada, para que depois possamos </a:t>
            </a:r>
            <a:r>
              <a:rPr lang="pt-BR" b="1" dirty="0"/>
              <a:t>consultar, alterar ou excluir</a:t>
            </a:r>
            <a:r>
              <a:rPr lang="pt-BR" dirty="0"/>
              <a:t> essas informações. </a:t>
            </a:r>
          </a:p>
          <a:p>
            <a:r>
              <a:rPr lang="pt-BR" dirty="0"/>
              <a:t>Filtrar Dados indesejados;</a:t>
            </a:r>
          </a:p>
          <a:p>
            <a:r>
              <a:rPr lang="pt-BR" dirty="0"/>
              <a:t>Maior Personalização das Consultas / “Perguntas Diretas ao Banco”;</a:t>
            </a:r>
          </a:p>
          <a:p>
            <a:r>
              <a:rPr lang="pt-BR" dirty="0"/>
              <a:t>Maior Precisão na análise dos Dados;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549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167352"/>
            <a:ext cx="9692640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Introdução ao MySQL: </a:t>
            </a:r>
            <a:br>
              <a:rPr lang="pt-BR" sz="4000" b="1" dirty="0"/>
            </a:br>
            <a:r>
              <a:rPr lang="pt-BR" sz="4000" b="1" dirty="0">
                <a:solidFill>
                  <a:srgbClr val="F39211"/>
                </a:solidFill>
              </a:rPr>
              <a:t>O que é o MySQL?</a:t>
            </a:r>
            <a:endParaRPr lang="pt-BR" sz="40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upload.wikimedia.org/wikipedia/commons/thumb/8/8e/Monty-Widenius-David-Axmark-MySQL-2003-05-09.jpg/500px-Monty-Widenius-David-Axmark-MySQL-2003-05-09.jpg">
            <a:extLst>
              <a:ext uri="{FF2B5EF4-FFF2-40B4-BE49-F238E27FC236}">
                <a16:creationId xmlns:a16="http://schemas.microsoft.com/office/drawing/2014/main" id="{22861044-17F5-4D28-871D-0ACD2F119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845" y="167352"/>
            <a:ext cx="2776671" cy="2387937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3921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C7CDFE0-9202-4DE0-B918-1EF43EAD3B15}"/>
              </a:ext>
            </a:extLst>
          </p:cNvPr>
          <p:cNvSpPr txBox="1"/>
          <p:nvPr/>
        </p:nvSpPr>
        <p:spPr>
          <a:xfrm>
            <a:off x="8957885" y="2584275"/>
            <a:ext cx="220268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00" b="1" dirty="0"/>
              <a:t>Os fundadores do MySQL</a:t>
            </a:r>
            <a:r>
              <a:rPr lang="pt-BR" sz="900" dirty="0"/>
              <a:t>:</a:t>
            </a:r>
          </a:p>
          <a:p>
            <a:pPr algn="r"/>
            <a:r>
              <a:rPr lang="pt-BR" sz="900" dirty="0"/>
              <a:t> Michael "</a:t>
            </a:r>
            <a:r>
              <a:rPr lang="pt-BR" sz="900" dirty="0" err="1"/>
              <a:t>Monty</a:t>
            </a:r>
            <a:r>
              <a:rPr lang="pt-BR" sz="900" dirty="0"/>
              <a:t>" </a:t>
            </a:r>
            <a:r>
              <a:rPr lang="pt-BR" sz="900" dirty="0" err="1"/>
              <a:t>Widenius</a:t>
            </a:r>
            <a:r>
              <a:rPr lang="pt-BR" sz="900" dirty="0"/>
              <a:t> </a:t>
            </a:r>
          </a:p>
          <a:p>
            <a:pPr algn="r"/>
            <a:r>
              <a:rPr lang="pt-BR" sz="900" dirty="0"/>
              <a:t> David </a:t>
            </a:r>
            <a:r>
              <a:rPr lang="pt-BR" sz="900" dirty="0" err="1"/>
              <a:t>Axmark</a:t>
            </a:r>
            <a:r>
              <a:rPr lang="pt-BR" sz="900" dirty="0"/>
              <a:t> em 2003 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C8251F-38C5-469F-8F0A-54C745ECE4FF}"/>
              </a:ext>
            </a:extLst>
          </p:cNvPr>
          <p:cNvSpPr txBox="1">
            <a:spLocks/>
          </p:cNvSpPr>
          <p:nvPr/>
        </p:nvSpPr>
        <p:spPr>
          <a:xfrm>
            <a:off x="338846" y="1492914"/>
            <a:ext cx="8595360" cy="3138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pt-BR" dirty="0"/>
          </a:p>
          <a:p>
            <a:pPr marL="0" indent="0">
              <a:buFont typeface="Arial" pitchFamily="34" charset="0"/>
              <a:buNone/>
            </a:pPr>
            <a:r>
              <a:rPr lang="pt-BR" dirty="0"/>
              <a:t>O desenvolvimento inicial começou em 1994;</a:t>
            </a:r>
          </a:p>
          <a:p>
            <a:r>
              <a:rPr lang="pt-BR" dirty="0"/>
              <a:t>Primeiro lançamento oficial em 23 de maio de 1995;</a:t>
            </a:r>
          </a:p>
          <a:p>
            <a:r>
              <a:rPr lang="pt-BR" dirty="0"/>
              <a:t>“</a:t>
            </a:r>
            <a:r>
              <a:rPr lang="pt-BR" dirty="0" err="1"/>
              <a:t>My</a:t>
            </a:r>
            <a:r>
              <a:rPr lang="pt-BR" dirty="0"/>
              <a:t>” - </a:t>
            </a:r>
            <a:r>
              <a:rPr lang="pt-BR" dirty="0" err="1"/>
              <a:t>My</a:t>
            </a:r>
            <a:r>
              <a:rPr lang="pt-BR" dirty="0"/>
              <a:t> </a:t>
            </a:r>
            <a:r>
              <a:rPr lang="pt-BR" dirty="0" err="1"/>
              <a:t>Widenius</a:t>
            </a:r>
            <a:r>
              <a:rPr lang="pt-BR" dirty="0"/>
              <a:t> filha de </a:t>
            </a:r>
            <a:r>
              <a:rPr lang="pt-BR" dirty="0" err="1"/>
              <a:t>Michal</a:t>
            </a:r>
            <a:r>
              <a:rPr lang="pt-BR" dirty="0"/>
              <a:t> </a:t>
            </a:r>
            <a:r>
              <a:rPr lang="pt-BR" dirty="0" err="1"/>
              <a:t>Widenius</a:t>
            </a:r>
            <a:r>
              <a:rPr lang="pt-BR" dirty="0"/>
              <a:t>;</a:t>
            </a:r>
          </a:p>
          <a:p>
            <a:r>
              <a:rPr lang="pt-BR" dirty="0"/>
              <a:t>SGBD Relacional (Sistema de Gerenciamento de Banco de Dados Relacional);</a:t>
            </a:r>
          </a:p>
          <a:p>
            <a:r>
              <a:rPr lang="pt-BR" dirty="0"/>
              <a:t>MySQL é muito utilizado em empresas e no mundo corporativo;</a:t>
            </a:r>
          </a:p>
        </p:txBody>
      </p:sp>
    </p:spTree>
    <p:extLst>
      <p:ext uri="{BB962C8B-B14F-4D97-AF65-F5344CB8AC3E}">
        <p14:creationId xmlns:p14="http://schemas.microsoft.com/office/powerpoint/2010/main" val="357677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167352"/>
            <a:ext cx="9692640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Introdução ao MySQL: </a:t>
            </a:r>
            <a:br>
              <a:rPr lang="pt-BR" sz="4000" b="1" dirty="0"/>
            </a:br>
            <a:r>
              <a:rPr lang="pt-BR" sz="4000" b="1" dirty="0">
                <a:solidFill>
                  <a:srgbClr val="F39211"/>
                </a:solidFill>
              </a:rPr>
              <a:t>Por que aprender o MySQL?</a:t>
            </a:r>
            <a:endParaRPr lang="pt-BR" sz="40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D9E7A8B-68CE-4364-9EDE-71A9C0ACF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875" y="3834224"/>
            <a:ext cx="7030602" cy="238793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00758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C1E9317-16BF-4270-BF1D-47B349C85D9A}"/>
              </a:ext>
            </a:extLst>
          </p:cNvPr>
          <p:cNvSpPr txBox="1">
            <a:spLocks/>
          </p:cNvSpPr>
          <p:nvPr/>
        </p:nvSpPr>
        <p:spPr>
          <a:xfrm>
            <a:off x="338846" y="1253331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r>
              <a:rPr lang="pt-BR" dirty="0"/>
              <a:t>Agilidade nas consultas de dados;</a:t>
            </a:r>
          </a:p>
          <a:p>
            <a:r>
              <a:rPr lang="pt-BR" dirty="0"/>
              <a:t>Filtrar Dados indesejados;</a:t>
            </a:r>
          </a:p>
          <a:p>
            <a:r>
              <a:rPr lang="pt-BR" dirty="0"/>
              <a:t>Maior Personalização das Consultas / “Perguntas Diretas ao Banco”;</a:t>
            </a:r>
          </a:p>
          <a:p>
            <a:r>
              <a:rPr lang="pt-BR" dirty="0"/>
              <a:t>Maior Precisão na análise dos Dados;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933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223501"/>
            <a:ext cx="10954796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 </a:t>
            </a:r>
            <a:br>
              <a:rPr lang="pt-BR" sz="4000" b="1" dirty="0"/>
            </a:br>
            <a:r>
              <a:rPr lang="pt-BR" sz="4000" b="1" dirty="0">
                <a:solidFill>
                  <a:srgbClr val="F39211"/>
                </a:solidFill>
              </a:rPr>
              <a:t>1.0 -</a:t>
            </a:r>
            <a:r>
              <a:rPr lang="pt-BR" sz="4000" b="1" dirty="0"/>
              <a:t> </a:t>
            </a:r>
            <a:r>
              <a:rPr lang="pt-BR" sz="4000" b="1" dirty="0">
                <a:solidFill>
                  <a:srgbClr val="F39211"/>
                </a:solidFill>
              </a:rPr>
              <a:t>Baixar, Configurar e Criar um Banco</a:t>
            </a:r>
            <a:endParaRPr lang="pt-BR" sz="4000" dirty="0">
              <a:solidFill>
                <a:srgbClr val="F3921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5" y="1949117"/>
            <a:ext cx="10200817" cy="4146883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Siga os seguintes passos junto do professor, para baixar e configurar corretamente o MySQL e o MySQL Workbench: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>
                <a:latin typeface="+mj-lt"/>
              </a:rPr>
              <a:t>Type</a:t>
            </a:r>
            <a:r>
              <a:rPr lang="pt-BR" dirty="0">
                <a:latin typeface="+mj-lt"/>
              </a:rPr>
              <a:t> </a:t>
            </a:r>
            <a:r>
              <a:rPr lang="pt-BR" dirty="0" err="1">
                <a:latin typeface="+mj-lt"/>
              </a:rPr>
              <a:t>and</a:t>
            </a:r>
            <a:r>
              <a:rPr lang="pt-BR" dirty="0">
                <a:latin typeface="+mj-lt"/>
              </a:rPr>
              <a:t> Networking: </a:t>
            </a:r>
            <a:r>
              <a:rPr lang="pt-BR" dirty="0" err="1">
                <a:latin typeface="+mj-lt"/>
              </a:rPr>
              <a:t>Config</a:t>
            </a:r>
            <a:r>
              <a:rPr lang="pt-BR" dirty="0">
                <a:latin typeface="+mj-lt"/>
              </a:rPr>
              <a:t> </a:t>
            </a:r>
            <a:r>
              <a:rPr lang="pt-BR" dirty="0" err="1">
                <a:latin typeface="+mj-lt"/>
              </a:rPr>
              <a:t>Type</a:t>
            </a:r>
            <a:r>
              <a:rPr lang="pt-BR" dirty="0">
                <a:latin typeface="+mj-lt"/>
              </a:rPr>
              <a:t>: </a:t>
            </a:r>
            <a:r>
              <a:rPr lang="pt-BR" dirty="0" err="1">
                <a:latin typeface="+mj-lt"/>
              </a:rPr>
              <a:t>Development</a:t>
            </a:r>
            <a:r>
              <a:rPr lang="pt-BR" dirty="0">
                <a:latin typeface="+mj-lt"/>
              </a:rPr>
              <a:t> Computer;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>
                <a:latin typeface="+mj-lt"/>
              </a:rPr>
              <a:t>Authentication</a:t>
            </a:r>
            <a:r>
              <a:rPr lang="pt-BR" dirty="0">
                <a:latin typeface="+mj-lt"/>
              </a:rPr>
              <a:t> </a:t>
            </a:r>
            <a:r>
              <a:rPr lang="pt-BR" dirty="0" err="1">
                <a:latin typeface="+mj-lt"/>
              </a:rPr>
              <a:t>Method</a:t>
            </a:r>
            <a:r>
              <a:rPr lang="pt-BR" dirty="0">
                <a:latin typeface="+mj-lt"/>
              </a:rPr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>
                <a:latin typeface="+mj-lt"/>
              </a:rPr>
              <a:t>Accounts</a:t>
            </a:r>
            <a:r>
              <a:rPr lang="pt-BR" dirty="0">
                <a:latin typeface="+mj-lt"/>
              </a:rPr>
              <a:t> </a:t>
            </a:r>
            <a:r>
              <a:rPr lang="pt-BR" dirty="0" err="1">
                <a:latin typeface="+mj-lt"/>
              </a:rPr>
              <a:t>and</a:t>
            </a:r>
            <a:r>
              <a:rPr lang="pt-BR" dirty="0">
                <a:latin typeface="+mj-lt"/>
              </a:rPr>
              <a:t> Roles | SENHA  - </a:t>
            </a:r>
            <a:r>
              <a:rPr lang="pt-BR" dirty="0">
                <a:solidFill>
                  <a:srgbClr val="F39211"/>
                </a:solidFill>
                <a:latin typeface="+mj-lt"/>
              </a:rPr>
              <a:t>ici4ZLaBp7eq%uEY@^QVdDJ4G839Va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Windows Service;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Server File </a:t>
            </a:r>
            <a:r>
              <a:rPr lang="pt-BR" dirty="0" err="1"/>
              <a:t>Permissions</a:t>
            </a:r>
            <a:r>
              <a:rPr lang="pt-BR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Apply</a:t>
            </a:r>
            <a:r>
              <a:rPr lang="pt-BR" dirty="0"/>
              <a:t> </a:t>
            </a:r>
            <a:r>
              <a:rPr lang="pt-BR" dirty="0" err="1"/>
              <a:t>Configuration</a:t>
            </a:r>
            <a:r>
              <a:rPr lang="pt-BR" dirty="0"/>
              <a:t> - Último passo de Configuração.</a:t>
            </a:r>
          </a:p>
          <a:p>
            <a:pPr marL="342900" indent="-342900">
              <a:buFont typeface="+mj-lt"/>
              <a:buAutoNum type="arabicPeriod"/>
            </a:pPr>
            <a:endParaRPr lang="pt-BR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84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223501"/>
            <a:ext cx="10954796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</a:t>
            </a:r>
            <a:br>
              <a:rPr lang="pt-BR" sz="4000" b="1" dirty="0"/>
            </a:br>
            <a:r>
              <a:rPr lang="pt-BR" sz="4000" b="1" dirty="0">
                <a:solidFill>
                  <a:srgbClr val="F39211"/>
                </a:solidFill>
              </a:rPr>
              <a:t>1.1 -</a:t>
            </a:r>
            <a:r>
              <a:rPr lang="pt-BR" sz="4000" b="1" dirty="0"/>
              <a:t> </a:t>
            </a:r>
            <a:r>
              <a:rPr lang="pt-BR" sz="4000" b="1" dirty="0">
                <a:solidFill>
                  <a:srgbClr val="F39211"/>
                </a:solidFill>
              </a:rPr>
              <a:t>Baixar, Configurar e Criar um Banco</a:t>
            </a:r>
            <a:endParaRPr lang="pt-BR" sz="4000" dirty="0">
              <a:solidFill>
                <a:srgbClr val="F3921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5" y="1949117"/>
            <a:ext cx="10200817" cy="4146883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Siga os seguintes passos junto do professor, para baixar e configurar corretamente o MySQL e o MySQL Workbench: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+mj-lt"/>
              </a:rPr>
              <a:t>Abrir o programa: </a:t>
            </a:r>
            <a:r>
              <a:rPr lang="pt-BR" dirty="0">
                <a:solidFill>
                  <a:srgbClr val="F39211"/>
                </a:solidFill>
                <a:latin typeface="+mj-lt"/>
              </a:rPr>
              <a:t>MySQL 8.0 </a:t>
            </a:r>
            <a:r>
              <a:rPr lang="pt-BR" dirty="0" err="1">
                <a:solidFill>
                  <a:srgbClr val="F39211"/>
                </a:solidFill>
                <a:latin typeface="+mj-lt"/>
              </a:rPr>
              <a:t>Command</a:t>
            </a:r>
            <a:r>
              <a:rPr lang="pt-BR" dirty="0">
                <a:solidFill>
                  <a:srgbClr val="F39211"/>
                </a:solidFill>
                <a:latin typeface="+mj-lt"/>
              </a:rPr>
              <a:t> </a:t>
            </a:r>
            <a:r>
              <a:rPr lang="pt-BR" dirty="0" err="1">
                <a:solidFill>
                  <a:srgbClr val="F39211"/>
                </a:solidFill>
                <a:latin typeface="+mj-lt"/>
              </a:rPr>
              <a:t>Line</a:t>
            </a:r>
            <a:r>
              <a:rPr lang="pt-BR" dirty="0">
                <a:solidFill>
                  <a:srgbClr val="F39211"/>
                </a:solidFill>
                <a:latin typeface="+mj-lt"/>
              </a:rPr>
              <a:t> </a:t>
            </a:r>
            <a:r>
              <a:rPr lang="pt-BR" dirty="0" err="1">
                <a:solidFill>
                  <a:srgbClr val="F39211"/>
                </a:solidFill>
                <a:latin typeface="+mj-lt"/>
              </a:rPr>
              <a:t>Client</a:t>
            </a:r>
            <a:r>
              <a:rPr lang="pt-BR" dirty="0">
                <a:latin typeface="+mj-lt"/>
              </a:rPr>
              <a:t> (Digitar a sua senha)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+mj-lt"/>
              </a:rPr>
              <a:t>Usar o Comando CREATE DATABASE </a:t>
            </a:r>
            <a:r>
              <a:rPr lang="pt-BR" dirty="0" err="1">
                <a:solidFill>
                  <a:srgbClr val="00758F"/>
                </a:solidFill>
                <a:latin typeface="+mj-lt"/>
              </a:rPr>
              <a:t>sistema_erp_empresa</a:t>
            </a:r>
            <a:r>
              <a:rPr lang="pt-BR" dirty="0">
                <a:latin typeface="+mj-lt"/>
              </a:rPr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+mj-lt"/>
              </a:rPr>
              <a:t>Abrir o </a:t>
            </a:r>
            <a:r>
              <a:rPr lang="pt-BR" dirty="0">
                <a:solidFill>
                  <a:srgbClr val="00758F"/>
                </a:solidFill>
                <a:latin typeface="+mj-lt"/>
              </a:rPr>
              <a:t>My</a:t>
            </a:r>
            <a:r>
              <a:rPr lang="pt-BR" dirty="0">
                <a:solidFill>
                  <a:srgbClr val="F39211"/>
                </a:solidFill>
                <a:latin typeface="+mj-lt"/>
              </a:rPr>
              <a:t>SQL</a:t>
            </a:r>
            <a:r>
              <a:rPr lang="pt-BR" dirty="0">
                <a:latin typeface="+mj-lt"/>
              </a:rPr>
              <a:t> Workbench 8.0;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+mj-lt"/>
              </a:rPr>
              <a:t>Criar uma nova conexão informando o nome do seu Banco de Dados: </a:t>
            </a:r>
            <a:r>
              <a:rPr lang="pt-BR" dirty="0" err="1">
                <a:solidFill>
                  <a:srgbClr val="00758F"/>
                </a:solidFill>
              </a:rPr>
              <a:t>sistema_erp_empresa</a:t>
            </a:r>
            <a:r>
              <a:rPr lang="pt-BR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Testar conexão;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solidFill>
                  <a:srgbClr val="00758F"/>
                </a:solidFill>
              </a:rPr>
              <a:t>Tudo pronto para </a:t>
            </a:r>
            <a:r>
              <a:rPr lang="pt-BR" dirty="0">
                <a:solidFill>
                  <a:srgbClr val="F39211"/>
                </a:solidFill>
              </a:rPr>
              <a:t>inserir os dados!</a:t>
            </a:r>
          </a:p>
          <a:p>
            <a:pPr marL="342900" indent="-342900">
              <a:buFont typeface="+mj-lt"/>
              <a:buAutoNum type="arabicPeriod"/>
            </a:pPr>
            <a:endParaRPr lang="pt-BR" dirty="0">
              <a:solidFill>
                <a:srgbClr val="00758F"/>
              </a:solidFill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95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223501"/>
            <a:ext cx="10954796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</a:t>
            </a:r>
            <a:br>
              <a:rPr lang="pt-BR" sz="4000" b="1" dirty="0"/>
            </a:br>
            <a:r>
              <a:rPr lang="pt-BR" sz="4000" b="1" dirty="0">
                <a:solidFill>
                  <a:srgbClr val="F39211"/>
                </a:solidFill>
              </a:rPr>
              <a:t>1.0 -</a:t>
            </a:r>
            <a:r>
              <a:rPr lang="pt-BR" sz="4000" b="1" dirty="0"/>
              <a:t> </a:t>
            </a:r>
            <a:r>
              <a:rPr lang="pt-BR" sz="4000" b="1" dirty="0">
                <a:solidFill>
                  <a:srgbClr val="F39211"/>
                </a:solidFill>
              </a:rPr>
              <a:t>Linguagem de Consulta SQL</a:t>
            </a:r>
            <a:endParaRPr lang="pt-BR" sz="4000" dirty="0">
              <a:solidFill>
                <a:srgbClr val="F3921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6" y="1965159"/>
            <a:ext cx="10200817" cy="41468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Uma query (ou consulta) SQL é uma instrução que você dá ao banco de dados para:</a:t>
            </a:r>
          </a:p>
          <a:p>
            <a:r>
              <a:rPr lang="pt-BR" dirty="0"/>
              <a:t>Buscar informações (</a:t>
            </a:r>
            <a:r>
              <a:rPr lang="pt-BR" dirty="0">
                <a:solidFill>
                  <a:srgbClr val="00758F"/>
                </a:solidFill>
              </a:rPr>
              <a:t>SELECT</a:t>
            </a:r>
            <a:r>
              <a:rPr lang="pt-BR" dirty="0"/>
              <a:t>)</a:t>
            </a:r>
          </a:p>
          <a:p>
            <a:r>
              <a:rPr lang="pt-BR" dirty="0"/>
              <a:t>Adicionar dados novos (</a:t>
            </a:r>
            <a:r>
              <a:rPr lang="pt-BR" dirty="0">
                <a:solidFill>
                  <a:srgbClr val="00758F"/>
                </a:solidFill>
              </a:rPr>
              <a:t>INSERT</a:t>
            </a:r>
            <a:r>
              <a:rPr lang="pt-BR" dirty="0"/>
              <a:t>)</a:t>
            </a:r>
          </a:p>
          <a:p>
            <a:r>
              <a:rPr lang="pt-BR" dirty="0"/>
              <a:t>Modificar dados existentes (</a:t>
            </a:r>
            <a:r>
              <a:rPr lang="pt-BR" dirty="0">
                <a:solidFill>
                  <a:srgbClr val="00758F"/>
                </a:solidFill>
              </a:rPr>
              <a:t>UPDATE</a:t>
            </a:r>
            <a:r>
              <a:rPr lang="pt-BR" dirty="0"/>
              <a:t>)</a:t>
            </a:r>
          </a:p>
          <a:p>
            <a:r>
              <a:rPr lang="pt-BR" dirty="0"/>
              <a:t>Remover dados (</a:t>
            </a:r>
            <a:r>
              <a:rPr lang="pt-BR" dirty="0">
                <a:solidFill>
                  <a:srgbClr val="00758F"/>
                </a:solidFill>
              </a:rPr>
              <a:t>DELETE</a:t>
            </a:r>
            <a:r>
              <a:rPr lang="pt-BR" dirty="0"/>
              <a:t>)</a:t>
            </a:r>
          </a:p>
          <a:p>
            <a:r>
              <a:rPr lang="pt-BR" dirty="0"/>
              <a:t>Por que o ponto e vírgula (;) é importante?</a:t>
            </a:r>
            <a:br>
              <a:rPr lang="pt-BR" dirty="0"/>
            </a:br>
            <a:r>
              <a:rPr lang="pt-BR" dirty="0"/>
              <a:t>O ponto e vírgula serve como um "ponto final" para o MySQL, indicando que a query está completa. É como terminar uma frase em português - sem ele, o MySQL não sabe que a instrução acabou.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758F"/>
                </a:solidFill>
              </a:rPr>
              <a:t>Sintaxe: </a:t>
            </a:r>
            <a:r>
              <a:rPr lang="pt-BR" dirty="0"/>
              <a:t>A sintaxe, é uma forma correta de escrever os comandos para que o MySQL entenda a sua instrução</a:t>
            </a:r>
            <a:endParaRPr lang="pt-BR" dirty="0">
              <a:solidFill>
                <a:srgbClr val="F3921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pt-BR" dirty="0">
              <a:solidFill>
                <a:srgbClr val="00758F"/>
              </a:solidFill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223501"/>
            <a:ext cx="10954796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</a:t>
            </a:r>
            <a:br>
              <a:rPr lang="pt-BR" sz="4000" b="1" dirty="0"/>
            </a:br>
            <a:r>
              <a:rPr lang="pt-BR" sz="4000" b="1" dirty="0">
                <a:solidFill>
                  <a:srgbClr val="F39211"/>
                </a:solidFill>
              </a:rPr>
              <a:t>1.1 -</a:t>
            </a:r>
            <a:r>
              <a:rPr lang="pt-BR" sz="4000" b="1" dirty="0"/>
              <a:t> </a:t>
            </a:r>
            <a:r>
              <a:rPr lang="pt-BR" sz="4000" b="1" dirty="0">
                <a:solidFill>
                  <a:srgbClr val="F39211"/>
                </a:solidFill>
              </a:rPr>
              <a:t>Linguagem de Consulta SQL</a:t>
            </a:r>
            <a:endParaRPr lang="pt-BR" sz="4000" dirty="0">
              <a:solidFill>
                <a:srgbClr val="F3921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6" y="1965159"/>
            <a:ext cx="10200817" cy="4146883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Principais consultas SQL que vamos utilizar:</a:t>
            </a:r>
          </a:p>
          <a:p>
            <a:pPr marL="342900" indent="-342900">
              <a:buFont typeface="+mj-lt"/>
              <a:buAutoNum type="arabicPeriod"/>
            </a:pPr>
            <a:endParaRPr lang="pt-BR" dirty="0">
              <a:solidFill>
                <a:srgbClr val="00758F"/>
              </a:solidFill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6D3687F-41BE-4BA0-83D7-BED747052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69" y="2658462"/>
            <a:ext cx="3335217" cy="29241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3921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B36C601-8E6A-4435-B694-5E44EF1AC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085" y="2658462"/>
            <a:ext cx="3337668" cy="29241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00758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632BDCB-FAF5-4BEC-9426-D0C4AB67A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352" y="2658462"/>
            <a:ext cx="3335215" cy="29241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3921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8838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496216"/>
            <a:ext cx="10954796" cy="1325562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 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1.0 - Criando e Manipulando Usuários no MySQL</a:t>
            </a:r>
            <a:endParaRPr lang="pt-BR" sz="4000" dirty="0">
              <a:solidFill>
                <a:srgbClr val="F3921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6" y="1965159"/>
            <a:ext cx="10200817" cy="4725489"/>
          </a:xfrm>
        </p:spPr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rgbClr val="0000FF"/>
                </a:solidFill>
              </a:rPr>
              <a:t>CREATE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USER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'nome_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usuario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'@'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localhost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 </a:t>
            </a:r>
            <a:r>
              <a:rPr lang="pt-BR" b="1" dirty="0">
                <a:solidFill>
                  <a:srgbClr val="0000FF"/>
                </a:solidFill>
              </a:rPr>
              <a:t>IDENTIFIED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BY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senha_segura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pt-BR" b="1" dirty="0"/>
              <a:t>; 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Ou seja:</a:t>
            </a:r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rgbClr val="0000FF"/>
                </a:solidFill>
              </a:rPr>
              <a:t>CREATE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USER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'financeiro'@'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localhost</a:t>
            </a:r>
            <a:r>
              <a:rPr lang="pt-BR" dirty="0"/>
              <a:t>' </a:t>
            </a:r>
            <a:r>
              <a:rPr lang="pt-BR" b="1" dirty="0">
                <a:solidFill>
                  <a:srgbClr val="0000FF"/>
                </a:solidFill>
              </a:rPr>
              <a:t>IDENTIFIED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BY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'SenhaForte123!’</a:t>
            </a:r>
            <a:r>
              <a:rPr lang="pt-BR" b="1" dirty="0"/>
              <a:t>;</a:t>
            </a:r>
            <a:endParaRPr lang="pt-BR" dirty="0"/>
          </a:p>
          <a:p>
            <a:pPr marL="0" indent="0">
              <a:buNone/>
            </a:pPr>
            <a:r>
              <a:rPr lang="pt-BR" b="1" dirty="0">
                <a:latin typeface="+mj-lt"/>
              </a:rPr>
              <a:t>Conceder Permissões: Usuário do Financeiro (Exemplo)</a:t>
            </a:r>
          </a:p>
          <a:p>
            <a:pPr marL="0" indent="0">
              <a:buNone/>
            </a:pPr>
            <a:r>
              <a:rPr lang="pt-BR" b="1" dirty="0">
                <a:latin typeface="+mj-lt"/>
              </a:rPr>
              <a:t>Para apenas leitura (</a:t>
            </a:r>
            <a:r>
              <a:rPr lang="pt-BR" b="1" dirty="0">
                <a:solidFill>
                  <a:srgbClr val="0000FF"/>
                </a:solidFill>
                <a:latin typeface="+mj-lt"/>
              </a:rPr>
              <a:t>SELECT</a:t>
            </a:r>
            <a:r>
              <a:rPr lang="pt-BR" b="1" dirty="0">
                <a:latin typeface="+mj-lt"/>
              </a:rPr>
              <a:t>)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FF"/>
                </a:solidFill>
                <a:latin typeface="+mj-lt"/>
              </a:rPr>
              <a:t>GRANT</a:t>
            </a:r>
            <a:r>
              <a:rPr lang="pt-BR" b="1" dirty="0">
                <a:latin typeface="+mj-lt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+mj-lt"/>
              </a:rPr>
              <a:t>SELECT</a:t>
            </a:r>
            <a:r>
              <a:rPr lang="pt-BR" b="1" dirty="0">
                <a:latin typeface="+mj-lt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+mj-lt"/>
              </a:rPr>
              <a:t>ON</a:t>
            </a:r>
            <a:r>
              <a:rPr lang="pt-BR" b="1" dirty="0">
                <a:latin typeface="+mj-lt"/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sistema_erp_empresa.* </a:t>
            </a:r>
            <a:r>
              <a:rPr lang="pt-BR" b="1" dirty="0">
                <a:solidFill>
                  <a:srgbClr val="0000FF"/>
                </a:solidFill>
                <a:latin typeface="+mj-lt"/>
              </a:rPr>
              <a:t>TO</a:t>
            </a:r>
            <a:r>
              <a:rPr lang="pt-BR" b="1" dirty="0">
                <a:latin typeface="+mj-lt"/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'financeiro'@'</a:t>
            </a:r>
            <a:r>
              <a:rPr lang="pt-BR" b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localhost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’</a:t>
            </a:r>
            <a:r>
              <a:rPr lang="pt-BR" b="1" dirty="0">
                <a:latin typeface="+mj-lt"/>
              </a:rPr>
              <a:t>;</a:t>
            </a:r>
          </a:p>
          <a:p>
            <a:pPr marL="0" indent="0">
              <a:buNone/>
            </a:pPr>
            <a:r>
              <a:rPr lang="pt-BR" b="1" dirty="0">
                <a:latin typeface="+mj-lt"/>
              </a:rPr>
              <a:t>Para também inserir dados: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FF"/>
                </a:solidFill>
                <a:latin typeface="+mj-lt"/>
              </a:rPr>
              <a:t>GRANT INSERT</a:t>
            </a:r>
            <a:r>
              <a:rPr lang="pt-BR" b="1" dirty="0">
                <a:latin typeface="+mj-lt"/>
              </a:rPr>
              <a:t>, </a:t>
            </a:r>
            <a:r>
              <a:rPr lang="pt-BR" b="1" dirty="0">
                <a:solidFill>
                  <a:srgbClr val="0000FF"/>
                </a:solidFill>
                <a:latin typeface="+mj-lt"/>
              </a:rPr>
              <a:t>SELECT ON</a:t>
            </a:r>
            <a:r>
              <a:rPr lang="pt-BR" b="1" dirty="0">
                <a:latin typeface="+mj-lt"/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sistema_erp_empresa.* </a:t>
            </a:r>
            <a:r>
              <a:rPr lang="pt-BR" b="1" dirty="0">
                <a:solidFill>
                  <a:srgbClr val="0000FF"/>
                </a:solidFill>
                <a:latin typeface="+mj-lt"/>
              </a:rPr>
              <a:t>TO</a:t>
            </a:r>
            <a:r>
              <a:rPr lang="pt-BR" b="1" dirty="0">
                <a:latin typeface="+mj-lt"/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'financeiro'@'</a:t>
            </a:r>
            <a:r>
              <a:rPr lang="pt-BR" b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localhost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'</a:t>
            </a:r>
            <a:r>
              <a:rPr lang="pt-BR" b="1" dirty="0">
                <a:latin typeface="+mj-lt"/>
              </a:rPr>
              <a:t>;</a:t>
            </a:r>
          </a:p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18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6" y="1965159"/>
            <a:ext cx="10200817" cy="4725489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Sintaxe:</a:t>
            </a:r>
            <a:endParaRPr lang="pt-BR" dirty="0"/>
          </a:p>
          <a:p>
            <a:r>
              <a:rPr lang="pt-BR" b="1" dirty="0">
                <a:solidFill>
                  <a:srgbClr val="0000FF"/>
                </a:solidFill>
              </a:rPr>
              <a:t>REVOKE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INSERT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ON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sistema_erp_empresa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.*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FROM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'financeiro'@'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localhost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’</a:t>
            </a:r>
            <a:r>
              <a:rPr lang="pt-BR" b="1" dirty="0"/>
              <a:t>;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/>
              <a:t>Para listar os usuários existentes dentro do Banco:</a:t>
            </a:r>
            <a:endParaRPr lang="pt-BR" dirty="0"/>
          </a:p>
          <a:p>
            <a:r>
              <a:rPr lang="pt-BR" b="1" dirty="0">
                <a:solidFill>
                  <a:srgbClr val="0000FF"/>
                </a:solidFill>
              </a:rPr>
              <a:t>SELECT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 err="1">
                <a:solidFill>
                  <a:srgbClr val="0000FF"/>
                </a:solidFill>
              </a:rPr>
              <a:t>user</a:t>
            </a:r>
            <a:r>
              <a:rPr lang="pt-BR" b="1" dirty="0"/>
              <a:t>,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host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FROM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mysql</a:t>
            </a:r>
            <a:r>
              <a:rPr lang="pt-BR" b="1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BR" b="1" dirty="0" err="1">
                <a:solidFill>
                  <a:srgbClr val="0000FF"/>
                </a:solidFill>
              </a:rPr>
              <a:t>user</a:t>
            </a:r>
            <a:r>
              <a:rPr lang="pt-BR" b="1" dirty="0"/>
              <a:t>;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/>
              <a:t>Para deletar um usuário do Banco (Cuidado!)</a:t>
            </a:r>
            <a:endParaRPr lang="pt-BR" dirty="0"/>
          </a:p>
          <a:p>
            <a:r>
              <a:rPr lang="pt-BR" b="1" dirty="0">
                <a:solidFill>
                  <a:srgbClr val="0000FF"/>
                </a:solidFill>
              </a:rPr>
              <a:t>DROP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USER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'financeiro'@'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localhost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pt-BR" b="1" dirty="0"/>
              <a:t>;</a:t>
            </a:r>
            <a:endParaRPr lang="pt-BR" dirty="0"/>
          </a:p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3E84230-AF27-4875-892D-B1B70CDF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496216"/>
            <a:ext cx="10954796" cy="1325562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 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1.1 - Criando e Manipulando Usuários no MySQL</a:t>
            </a:r>
            <a:endParaRPr lang="pt-BR" sz="4000" dirty="0">
              <a:solidFill>
                <a:srgbClr val="F392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503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6" y="1965160"/>
            <a:ext cx="9435947" cy="13255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0" indent="0">
              <a:buNone/>
            </a:pPr>
            <a:r>
              <a:rPr lang="pt-BR" b="1" dirty="0"/>
              <a:t>Requisitos</a:t>
            </a:r>
            <a:r>
              <a:rPr lang="pt-BR" dirty="0"/>
              <a:t> são todas as </a:t>
            </a:r>
            <a:r>
              <a:rPr lang="pt-BR" b="1" dirty="0"/>
              <a:t>informações, regras de negócio e necessidades da empresa</a:t>
            </a:r>
            <a:r>
              <a:rPr lang="pt-BR" dirty="0"/>
              <a:t> que vão guiar a criação das tabelas, colunas e relacionamentos do banco de dados.</a:t>
            </a:r>
          </a:p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0" indent="0">
              <a:buNone/>
            </a:pPr>
            <a:endParaRPr lang="pt-BR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3E84230-AF27-4875-892D-B1B70CDF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496216"/>
            <a:ext cx="10954796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 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Requisitos para o Projeto</a:t>
            </a:r>
            <a:endParaRPr lang="pt-BR" sz="4000" dirty="0">
              <a:solidFill>
                <a:srgbClr val="F39211"/>
              </a:solidFill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A973BCF-0592-46D4-9453-4DD215DBB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882829"/>
              </p:ext>
            </p:extLst>
          </p:nvPr>
        </p:nvGraphicFramePr>
        <p:xfrm>
          <a:off x="451141" y="3188697"/>
          <a:ext cx="9435947" cy="30035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20738">
                  <a:extLst>
                    <a:ext uri="{9D8B030D-6E8A-4147-A177-3AD203B41FA5}">
                      <a16:colId xmlns:a16="http://schemas.microsoft.com/office/drawing/2014/main" val="2044177787"/>
                    </a:ext>
                  </a:extLst>
                </a:gridCol>
                <a:gridCol w="4815209">
                  <a:extLst>
                    <a:ext uri="{9D8B030D-6E8A-4147-A177-3AD203B41FA5}">
                      <a16:colId xmlns:a16="http://schemas.microsoft.com/office/drawing/2014/main" val="1764541336"/>
                    </a:ext>
                  </a:extLst>
                </a:gridCol>
              </a:tblGrid>
              <a:tr h="5069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Pergunta ao cliente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Resposta do cliente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603797"/>
                  </a:ext>
                </a:extLst>
              </a:tr>
              <a:tr h="5069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1" dirty="0">
                          <a:effectLst/>
                        </a:rPr>
                        <a:t>Quais áreas você precisa controlar?</a:t>
                      </a:r>
                      <a:endParaRPr lang="pt-B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Clientes, Produtos, Vendas, Itens da Venda, Pagamentos</a:t>
                      </a:r>
                      <a:endParaRPr lang="pt-BR" sz="14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326435"/>
                  </a:ext>
                </a:extLst>
              </a:tr>
              <a:tr h="5069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1" dirty="0">
                          <a:effectLst/>
                        </a:rPr>
                        <a:t>Que informações de cada cliente você quer guardar?</a:t>
                      </a:r>
                      <a:endParaRPr lang="pt-B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Nome, Endereço, Cidade, Estado, Telefone, CPF</a:t>
                      </a:r>
                      <a:endParaRPr lang="pt-BR" sz="14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41872"/>
                  </a:ext>
                </a:extLst>
              </a:tr>
              <a:tr h="5069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1" dirty="0">
                          <a:effectLst/>
                        </a:rPr>
                        <a:t>Como funcionam as vendas?</a:t>
                      </a:r>
                      <a:endParaRPr lang="pt-B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Uma venda pode ter vários produtos (itens), com quantidade e preço</a:t>
                      </a:r>
                      <a:endParaRPr lang="pt-BR" sz="14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509610"/>
                  </a:ext>
                </a:extLst>
              </a:tr>
              <a:tr h="9757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1" dirty="0">
                          <a:effectLst/>
                        </a:rPr>
                        <a:t>Como são os pagamentos?</a:t>
                      </a:r>
                      <a:endParaRPr lang="pt-BR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Uma venda pode ter mais de um pagamento (exemplo: entrada + parcelas)</a:t>
                      </a:r>
                      <a:endParaRPr lang="pt-BR" sz="14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498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290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6" y="1965159"/>
            <a:ext cx="9435947" cy="4275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Um </a:t>
            </a:r>
            <a:r>
              <a:rPr lang="pt-BR" b="1" dirty="0"/>
              <a:t>Tipo de Dado</a:t>
            </a:r>
            <a:r>
              <a:rPr lang="pt-BR" dirty="0"/>
              <a:t> define </a:t>
            </a:r>
            <a:r>
              <a:rPr lang="pt-BR" b="1" dirty="0"/>
              <a:t>que tipo de informação pode ser armazenada em cada coluna de uma tabela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b="1" dirty="0"/>
              <a:t>Tipos Numéricos (para números)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Tipos de Texto (</a:t>
            </a:r>
            <a:r>
              <a:rPr lang="pt-BR" b="1" dirty="0" err="1"/>
              <a:t>Strings</a:t>
            </a:r>
            <a:r>
              <a:rPr lang="pt-BR" b="1" dirty="0"/>
              <a:t>):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3E84230-AF27-4875-892D-B1B70CDF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496216"/>
            <a:ext cx="10954796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 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1.0 - Tipos de Dados no MySQL</a:t>
            </a:r>
            <a:endParaRPr lang="pt-BR" sz="4000" dirty="0">
              <a:solidFill>
                <a:srgbClr val="F39211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CA8D969-0E59-4F96-8D32-9B6E0F77B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813058"/>
              </p:ext>
            </p:extLst>
          </p:nvPr>
        </p:nvGraphicFramePr>
        <p:xfrm>
          <a:off x="338846" y="3000183"/>
          <a:ext cx="7970964" cy="14423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6988">
                  <a:extLst>
                    <a:ext uri="{9D8B030D-6E8A-4147-A177-3AD203B41FA5}">
                      <a16:colId xmlns:a16="http://schemas.microsoft.com/office/drawing/2014/main" val="973933203"/>
                    </a:ext>
                  </a:extLst>
                </a:gridCol>
                <a:gridCol w="2656988">
                  <a:extLst>
                    <a:ext uri="{9D8B030D-6E8A-4147-A177-3AD203B41FA5}">
                      <a16:colId xmlns:a16="http://schemas.microsoft.com/office/drawing/2014/main" val="2999058356"/>
                    </a:ext>
                  </a:extLst>
                </a:gridCol>
                <a:gridCol w="2656988">
                  <a:extLst>
                    <a:ext uri="{9D8B030D-6E8A-4147-A177-3AD203B41FA5}">
                      <a16:colId xmlns:a16="http://schemas.microsoft.com/office/drawing/2014/main" val="328107248"/>
                    </a:ext>
                  </a:extLst>
                </a:gridCol>
              </a:tblGrid>
              <a:tr h="292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Tipo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Uso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Exemplo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338027"/>
                  </a:ext>
                </a:extLst>
              </a:tr>
              <a:tr h="2920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INT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Números inteiros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Quantidade de itens, ID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95741"/>
                  </a:ext>
                </a:extLst>
              </a:tr>
              <a:tr h="2920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DECIMAL(10,2)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Valores com casas decimais (exato)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Preço, Total da venda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729035"/>
                  </a:ext>
                </a:extLst>
              </a:tr>
              <a:tr h="566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FLOAT, DOUBLE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Números com casas decimais (menos preciso, mas mais leve)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Exemplo: medidas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19415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C8DB0FF-7BA4-4A03-9AE9-018ECAE91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041193"/>
              </p:ext>
            </p:extLst>
          </p:nvPr>
        </p:nvGraphicFramePr>
        <p:xfrm>
          <a:off x="338846" y="4946810"/>
          <a:ext cx="8628693" cy="13475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76231">
                  <a:extLst>
                    <a:ext uri="{9D8B030D-6E8A-4147-A177-3AD203B41FA5}">
                      <a16:colId xmlns:a16="http://schemas.microsoft.com/office/drawing/2014/main" val="2584764514"/>
                    </a:ext>
                  </a:extLst>
                </a:gridCol>
                <a:gridCol w="2876231">
                  <a:extLst>
                    <a:ext uri="{9D8B030D-6E8A-4147-A177-3AD203B41FA5}">
                      <a16:colId xmlns:a16="http://schemas.microsoft.com/office/drawing/2014/main" val="722681179"/>
                    </a:ext>
                  </a:extLst>
                </a:gridCol>
                <a:gridCol w="2876231">
                  <a:extLst>
                    <a:ext uri="{9D8B030D-6E8A-4147-A177-3AD203B41FA5}">
                      <a16:colId xmlns:a16="http://schemas.microsoft.com/office/drawing/2014/main" val="1047334801"/>
                    </a:ext>
                  </a:extLst>
                </a:gridCol>
              </a:tblGrid>
              <a:tr h="3368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Tipo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Uso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Exemplo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2894"/>
                  </a:ext>
                </a:extLst>
              </a:tr>
              <a:tr h="3368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VARCHAR(n)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Textos de tamanho variável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Nome de cliente, cidade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06434"/>
                  </a:ext>
                </a:extLst>
              </a:tr>
              <a:tr h="3368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CHAR(n)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Textos de tamanho fixo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Sigla de estado (CHAR(2) para SP, RJ, etc.)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251087"/>
                  </a:ext>
                </a:extLst>
              </a:tr>
              <a:tr h="3368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TEXT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Textos muito grandes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Observações, descrições longas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01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093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6" y="1965159"/>
            <a:ext cx="9435947" cy="4275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Tipos Numéricos (para números)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Tipos de Texto (</a:t>
            </a:r>
            <a:r>
              <a:rPr lang="pt-BR" b="1" dirty="0" err="1"/>
              <a:t>Strings</a:t>
            </a:r>
            <a:r>
              <a:rPr lang="pt-BR" b="1" dirty="0"/>
              <a:t>):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3E84230-AF27-4875-892D-B1B70CDF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496216"/>
            <a:ext cx="10954796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 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1.1 - Tipos de Dados no MySQL</a:t>
            </a:r>
            <a:endParaRPr lang="pt-BR" sz="4000" dirty="0">
              <a:solidFill>
                <a:srgbClr val="F39211"/>
              </a:solidFill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8861A41-86B4-438B-8A2B-31170F785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307856"/>
              </p:ext>
            </p:extLst>
          </p:nvPr>
        </p:nvGraphicFramePr>
        <p:xfrm>
          <a:off x="338845" y="2451552"/>
          <a:ext cx="8596608" cy="1325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5536">
                  <a:extLst>
                    <a:ext uri="{9D8B030D-6E8A-4147-A177-3AD203B41FA5}">
                      <a16:colId xmlns:a16="http://schemas.microsoft.com/office/drawing/2014/main" val="591668577"/>
                    </a:ext>
                  </a:extLst>
                </a:gridCol>
                <a:gridCol w="2865536">
                  <a:extLst>
                    <a:ext uri="{9D8B030D-6E8A-4147-A177-3AD203B41FA5}">
                      <a16:colId xmlns:a16="http://schemas.microsoft.com/office/drawing/2014/main" val="2891365747"/>
                    </a:ext>
                  </a:extLst>
                </a:gridCol>
                <a:gridCol w="2865536">
                  <a:extLst>
                    <a:ext uri="{9D8B030D-6E8A-4147-A177-3AD203B41FA5}">
                      <a16:colId xmlns:a16="http://schemas.microsoft.com/office/drawing/2014/main" val="3240972748"/>
                    </a:ext>
                  </a:extLst>
                </a:gridCol>
              </a:tblGrid>
              <a:tr h="3313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Tipo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Uso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Exemplo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114164"/>
                  </a:ext>
                </a:extLst>
              </a:tr>
              <a:tr h="331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DATE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Somente data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2025-06-14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071053"/>
                  </a:ext>
                </a:extLst>
              </a:tr>
              <a:tr h="331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DATETIME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Data + hora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2025-06-14 14:30:00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916247"/>
                  </a:ext>
                </a:extLst>
              </a:tr>
              <a:tr h="331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TIMESTAMP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Registro automático de data/hora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Usado para logs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703666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1BAD3F-9773-4C4B-B9B1-88B81C2EA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000107"/>
              </p:ext>
            </p:extLst>
          </p:nvPr>
        </p:nvGraphicFramePr>
        <p:xfrm>
          <a:off x="340729" y="4233212"/>
          <a:ext cx="8594724" cy="1325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4908">
                  <a:extLst>
                    <a:ext uri="{9D8B030D-6E8A-4147-A177-3AD203B41FA5}">
                      <a16:colId xmlns:a16="http://schemas.microsoft.com/office/drawing/2014/main" val="278304000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4042796258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1386373986"/>
                    </a:ext>
                  </a:extLst>
                </a:gridCol>
              </a:tblGrid>
              <a:tr h="662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Tipo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Uso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Exemplo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895217"/>
                  </a:ext>
                </a:extLst>
              </a:tr>
              <a:tr h="6627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BOOLEAN (ou TINYINT(1))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Dados tipo Sim/Não, Ativo/Inativo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Coluna ativo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582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160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9ECB1-6759-4AE2-AF77-F3A17EE2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46" y="1965159"/>
            <a:ext cx="9435947" cy="4275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Tipos Numéricos (para números)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Tipos de Texto (</a:t>
            </a:r>
            <a:r>
              <a:rPr lang="pt-BR" b="1" dirty="0" err="1"/>
              <a:t>Strings</a:t>
            </a:r>
            <a:r>
              <a:rPr lang="pt-BR" b="1" dirty="0"/>
              <a:t>):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3E84230-AF27-4875-892D-B1B70CDF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496216"/>
            <a:ext cx="10954796" cy="1325562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Iniciando o Projeto: 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1.1 - Tipos de Dados no MySQL</a:t>
            </a:r>
            <a:endParaRPr lang="pt-BR" sz="4000" dirty="0">
              <a:solidFill>
                <a:srgbClr val="F39211"/>
              </a:solidFill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8861A41-86B4-438B-8A2B-31170F7859D0}"/>
              </a:ext>
            </a:extLst>
          </p:cNvPr>
          <p:cNvGraphicFramePr>
            <a:graphicFrameLocks noGrp="1"/>
          </p:cNvGraphicFramePr>
          <p:nvPr/>
        </p:nvGraphicFramePr>
        <p:xfrm>
          <a:off x="338845" y="2451552"/>
          <a:ext cx="8596608" cy="1325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5536">
                  <a:extLst>
                    <a:ext uri="{9D8B030D-6E8A-4147-A177-3AD203B41FA5}">
                      <a16:colId xmlns:a16="http://schemas.microsoft.com/office/drawing/2014/main" val="591668577"/>
                    </a:ext>
                  </a:extLst>
                </a:gridCol>
                <a:gridCol w="2865536">
                  <a:extLst>
                    <a:ext uri="{9D8B030D-6E8A-4147-A177-3AD203B41FA5}">
                      <a16:colId xmlns:a16="http://schemas.microsoft.com/office/drawing/2014/main" val="2891365747"/>
                    </a:ext>
                  </a:extLst>
                </a:gridCol>
                <a:gridCol w="2865536">
                  <a:extLst>
                    <a:ext uri="{9D8B030D-6E8A-4147-A177-3AD203B41FA5}">
                      <a16:colId xmlns:a16="http://schemas.microsoft.com/office/drawing/2014/main" val="3240972748"/>
                    </a:ext>
                  </a:extLst>
                </a:gridCol>
              </a:tblGrid>
              <a:tr h="3313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Tipo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Uso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Exemplo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114164"/>
                  </a:ext>
                </a:extLst>
              </a:tr>
              <a:tr h="331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DATE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Somente data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2025-06-14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071053"/>
                  </a:ext>
                </a:extLst>
              </a:tr>
              <a:tr h="331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DATETIME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Data + hora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2025-06-14 14:30:00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916247"/>
                  </a:ext>
                </a:extLst>
              </a:tr>
              <a:tr h="331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TIMESTAMP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Registro automático de data/hora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Usado para logs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703666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1BAD3F-9773-4C4B-B9B1-88B81C2EAD94}"/>
              </a:ext>
            </a:extLst>
          </p:cNvPr>
          <p:cNvGraphicFramePr>
            <a:graphicFrameLocks noGrp="1"/>
          </p:cNvGraphicFramePr>
          <p:nvPr/>
        </p:nvGraphicFramePr>
        <p:xfrm>
          <a:off x="340729" y="4233212"/>
          <a:ext cx="8594724" cy="1325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4908">
                  <a:extLst>
                    <a:ext uri="{9D8B030D-6E8A-4147-A177-3AD203B41FA5}">
                      <a16:colId xmlns:a16="http://schemas.microsoft.com/office/drawing/2014/main" val="278304000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4042796258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1386373986"/>
                    </a:ext>
                  </a:extLst>
                </a:gridCol>
              </a:tblGrid>
              <a:tr h="662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Tipo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Uso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Exemplo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895217"/>
                  </a:ext>
                </a:extLst>
              </a:tr>
              <a:tr h="6627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BOOLEAN (ou TINYINT(1))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Dados tipo Sim/Não, Ativo/Inativo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Coluna ativo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582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320556"/>
      </p:ext>
    </p:extLst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388</TotalTime>
  <Words>817</Words>
  <Application>Microsoft Office PowerPoint</Application>
  <PresentationFormat>Widescreen</PresentationFormat>
  <Paragraphs>181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Schoolbook</vt:lpstr>
      <vt:lpstr>Times New Roman</vt:lpstr>
      <vt:lpstr>Wingdings 2</vt:lpstr>
      <vt:lpstr>Exibir</vt:lpstr>
      <vt:lpstr> Bem-Vindos!    MySQL: Aula 01</vt:lpstr>
      <vt:lpstr>Introdução ao MySQL:  O que é um Banco de Dados?</vt:lpstr>
      <vt:lpstr>Introdução ao MySQL:  O que é o MySQL?</vt:lpstr>
      <vt:lpstr>Introdução ao MySQL:  Por que aprender o MySQL?</vt:lpstr>
      <vt:lpstr>Iniciando o Projeto:  1.0 - Baixar, Configurar e Criar um Banco</vt:lpstr>
      <vt:lpstr>Iniciando o Projeto: 1.1 - Baixar, Configurar e Criar um Banco</vt:lpstr>
      <vt:lpstr>Iniciando o Projeto: 1.0 - Linguagem de Consulta SQL</vt:lpstr>
      <vt:lpstr>Iniciando o Projeto: 1.1 - Linguagem de Consulta SQL</vt:lpstr>
      <vt:lpstr>Iniciando o Projeto:  1.0 - Criando e Manipulando Usuários no MySQL</vt:lpstr>
      <vt:lpstr>Iniciando o Projeto:  1.1 - Criando e Manipulando Usuários no MySQL</vt:lpstr>
      <vt:lpstr>Iniciando o Projeto:  Requisitos para o Projeto</vt:lpstr>
      <vt:lpstr>Iniciando o Projeto:  1.0 - Tipos de Dados no MySQL</vt:lpstr>
      <vt:lpstr>Iniciando o Projeto:  1.1 - Tipos de Dados no MySQL</vt:lpstr>
      <vt:lpstr>Iniciando o Projeto:  1.1 - Tipos de Dados no MySQL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Bem-Vindos!    MySQL: Aula 01</dc:title>
  <dc:creator>Ruan Machado</dc:creator>
  <cp:lastModifiedBy>Ruan Machado</cp:lastModifiedBy>
  <cp:revision>25</cp:revision>
  <dcterms:created xsi:type="dcterms:W3CDTF">2025-06-14T16:47:44Z</dcterms:created>
  <dcterms:modified xsi:type="dcterms:W3CDTF">2025-06-15T20:46:39Z</dcterms:modified>
</cp:coreProperties>
</file>