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65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74" r:id="rId11"/>
    <p:sldId id="276" r:id="rId12"/>
    <p:sldId id="277" r:id="rId13"/>
    <p:sldId id="278" r:id="rId14"/>
    <p:sldId id="279" r:id="rId15"/>
    <p:sldId id="280" r:id="rId16"/>
    <p:sldId id="281" r:id="rId17"/>
    <p:sldId id="282" r:id="rId18"/>
    <p:sldId id="283" r:id="rId19"/>
    <p:sldId id="284" r:id="rId20"/>
    <p:sldId id="285" r:id="rId21"/>
    <p:sldId id="28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9211"/>
    <a:srgbClr val="0000FF"/>
    <a:srgbClr val="00758F"/>
    <a:srgbClr val="79B6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1" d="100"/>
          <a:sy n="71" d="100"/>
        </p:scale>
        <p:origin x="84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9E016143-E03C-4CFD-AFDC-14E5BDEA754C}" type="datetimeFigureOut">
              <a:rPr lang="en-US" dirty="0"/>
              <a:t>7/5/2025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94063-DF36-4330-A365-08DA1FA5B7D6}" type="datetimeFigureOut">
              <a:rPr lang="en-US" dirty="0"/>
              <a:t>7/5/2025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A7C6C-0F39-4D70-8E8D-FE5B9C95FA73}" type="datetimeFigureOut">
              <a:rPr lang="en-US" dirty="0"/>
              <a:t>7/5/2025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FA4AC-08CC-42CE-BD01-C191750A04EC}" type="datetimeFigureOut">
              <a:rPr lang="en-US" dirty="0"/>
              <a:t>7/5/2025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7A723-92A7-435B-B681-F25B092FEFEB}" type="datetimeFigureOut">
              <a:rPr lang="en-US" dirty="0"/>
              <a:t>7/5/2025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70639-886C-4FCF-9EAB-ABB5DA3F3F4A}" type="datetimeFigureOut">
              <a:rPr lang="en-US" dirty="0"/>
              <a:t>7/5/2025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30651-31F4-45D2-98AE-A2108F41BC07}" type="datetimeFigureOut">
              <a:rPr lang="en-US" dirty="0"/>
              <a:t>7/5/2025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3789A-C914-4DB1-8815-80B5EC7335C5}" type="datetimeFigureOut">
              <a:rPr lang="en-US" dirty="0"/>
              <a:t>7/5/2025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440AA-91A0-436F-8FDB-C0F939DCAE21}" type="datetimeFigureOut">
              <a:rPr lang="en-US" dirty="0"/>
              <a:t>7/5/2025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3E54A-A8CA-48C1-9504-691B58049D29}" type="datetimeFigureOut">
              <a:rPr lang="en-US" dirty="0"/>
              <a:t>7/5/2025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6C806-BBF7-471C-9527-881CE2266695}" type="datetimeFigureOut">
              <a:rPr lang="en-US" dirty="0"/>
              <a:t>7/5/2025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0E59FD0C-5451-4CA0-86AF-E70AE3279989}" type="datetimeFigureOut">
              <a:rPr lang="en-US" dirty="0"/>
              <a:t>7/5/2025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C20E8B-B665-4276-9EE8-B82B29DF1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1872" y="1331920"/>
            <a:ext cx="9418320" cy="3063240"/>
          </a:xfrm>
        </p:spPr>
        <p:txBody>
          <a:bodyPr>
            <a:normAutofit fontScale="90000"/>
          </a:bodyPr>
          <a:lstStyle/>
          <a:p>
            <a:br>
              <a:rPr lang="pt-BR" dirty="0"/>
            </a:br>
            <a:r>
              <a:rPr lang="pt-BR" dirty="0">
                <a:solidFill>
                  <a:srgbClr val="00758F"/>
                </a:solidFill>
              </a:rPr>
              <a:t>Bem-Vindos novamente! </a:t>
            </a:r>
            <a:br>
              <a:rPr lang="pt-BR" dirty="0"/>
            </a:br>
            <a:br>
              <a:rPr lang="pt-BR" dirty="0"/>
            </a:br>
            <a:br>
              <a:rPr lang="pt-BR" dirty="0"/>
            </a:br>
            <a:r>
              <a:rPr lang="pt-BR" dirty="0">
                <a:solidFill>
                  <a:srgbClr val="00758F"/>
                </a:solidFill>
              </a:rPr>
              <a:t>My</a:t>
            </a:r>
            <a:r>
              <a:rPr lang="pt-BR" dirty="0">
                <a:solidFill>
                  <a:srgbClr val="F39211"/>
                </a:solidFill>
              </a:rPr>
              <a:t>SQL</a:t>
            </a:r>
            <a:r>
              <a:rPr lang="pt-BR" dirty="0"/>
              <a:t>: Aula 03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7E03497-30AD-4754-A43A-72A8D0158E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pt-BR" sz="2000" dirty="0"/>
              <a:t>Professor: Ruan Machado</a:t>
            </a:r>
          </a:p>
          <a:p>
            <a:r>
              <a:rPr lang="pt-BR" sz="2000" dirty="0"/>
              <a:t>Desenvolvedor Python – RPA, Experiência com Bancos de Dados Relacionais.</a:t>
            </a:r>
          </a:p>
        </p:txBody>
      </p:sp>
      <p:pic>
        <p:nvPicPr>
          <p:cNvPr id="14" name="Picture 6" descr="https://www.mysql.com/common/logos/logo-mysql-170x115.png">
            <a:extLst>
              <a:ext uri="{FF2B5EF4-FFF2-40B4-BE49-F238E27FC236}">
                <a16:creationId xmlns:a16="http://schemas.microsoft.com/office/drawing/2014/main" id="{14C8504F-8DD4-4170-A866-8452D0C109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793" y="5753675"/>
            <a:ext cx="1385775" cy="936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69532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BF4364-A6CD-4460-A48D-6779B48AD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845" y="763819"/>
            <a:ext cx="9692640" cy="936973"/>
          </a:xfrm>
        </p:spPr>
        <p:txBody>
          <a:bodyPr>
            <a:noAutofit/>
          </a:bodyPr>
          <a:lstStyle/>
          <a:p>
            <a:r>
              <a:rPr lang="pt-BR" sz="4000" b="1" dirty="0">
                <a:solidFill>
                  <a:srgbClr val="00758F"/>
                </a:solidFill>
              </a:rPr>
              <a:t>O que vamos aprender hoje?</a:t>
            </a:r>
            <a:br>
              <a:rPr lang="pt-BR" sz="4000" b="1" dirty="0">
                <a:solidFill>
                  <a:srgbClr val="00758F"/>
                </a:solidFill>
              </a:rPr>
            </a:br>
            <a:r>
              <a:rPr lang="pt-BR" sz="4000" b="1" dirty="0">
                <a:solidFill>
                  <a:srgbClr val="F39211"/>
                </a:solidFill>
              </a:rPr>
              <a:t>Serão os seguintes tópicos:</a:t>
            </a:r>
            <a:endParaRPr lang="pt-BR" sz="4000" dirty="0">
              <a:solidFill>
                <a:srgbClr val="F39211"/>
              </a:solidFill>
            </a:endParaRPr>
          </a:p>
        </p:txBody>
      </p:sp>
      <p:pic>
        <p:nvPicPr>
          <p:cNvPr id="4" name="Picture 6" descr="https://www.mysql.com/common/logos/logo-mysql-170x115.png">
            <a:extLst>
              <a:ext uri="{FF2B5EF4-FFF2-40B4-BE49-F238E27FC236}">
                <a16:creationId xmlns:a16="http://schemas.microsoft.com/office/drawing/2014/main" id="{441DFD02-E8A2-4690-9CD7-1CC407F20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793" y="5753675"/>
            <a:ext cx="1385775" cy="936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90DD339-B99C-43BD-99AF-28040E9B3E9C}"/>
              </a:ext>
            </a:extLst>
          </p:cNvPr>
          <p:cNvSpPr txBox="1"/>
          <p:nvPr/>
        </p:nvSpPr>
        <p:spPr>
          <a:xfrm>
            <a:off x="338845" y="1842085"/>
            <a:ext cx="9270376" cy="4765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400"/>
              </a:spcAft>
            </a:pPr>
            <a:r>
              <a:rPr lang="pt-BR" sz="2000" b="1" dirty="0"/>
              <a:t>Consultas com Funções:</a:t>
            </a:r>
          </a:p>
          <a:p>
            <a:pPr marL="342900" lvl="0" indent="-342900">
              <a:lnSpc>
                <a:spcPct val="107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pt-BR" sz="2000" dirty="0"/>
              <a:t>Funções de agregação;</a:t>
            </a:r>
          </a:p>
          <a:p>
            <a:pPr marL="342900" lvl="0" indent="-342900">
              <a:lnSpc>
                <a:spcPct val="107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pt-BR" sz="2000" dirty="0"/>
              <a:t>Funções de </a:t>
            </a:r>
            <a:r>
              <a:rPr lang="pt-BR" sz="2000" dirty="0" err="1"/>
              <a:t>string</a:t>
            </a:r>
            <a:r>
              <a:rPr lang="pt-BR" sz="2000" dirty="0"/>
              <a:t>;</a:t>
            </a:r>
          </a:p>
          <a:p>
            <a:pPr marL="342900" lvl="0" indent="-342900">
              <a:lnSpc>
                <a:spcPct val="107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pt-BR" sz="2000" dirty="0"/>
              <a:t>Funções de cálculos e operadores aritméticos;</a:t>
            </a:r>
          </a:p>
          <a:p>
            <a:pPr marL="342900" lvl="0" indent="-342900">
              <a:lnSpc>
                <a:spcPct val="107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pt-BR" sz="2000" dirty="0"/>
              <a:t>Operadores aritméticos;</a:t>
            </a:r>
          </a:p>
          <a:p>
            <a:r>
              <a:rPr lang="pt-BR" sz="2000" dirty="0"/>
              <a:t>________________________________________</a:t>
            </a:r>
          </a:p>
          <a:p>
            <a:r>
              <a:rPr lang="pt-BR" sz="2000" b="1" dirty="0"/>
              <a:t>Procedures e </a:t>
            </a:r>
            <a:r>
              <a:rPr lang="pt-BR" sz="2000" b="1" dirty="0" err="1"/>
              <a:t>Functions</a:t>
            </a:r>
            <a:r>
              <a:rPr lang="pt-BR" sz="2000" b="1" dirty="0"/>
              <a:t>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000" dirty="0"/>
              <a:t>Deixando o banco processar com </a:t>
            </a:r>
            <a:r>
              <a:rPr lang="pt-BR" sz="2000" dirty="0" err="1"/>
              <a:t>stored</a:t>
            </a:r>
            <a:r>
              <a:rPr lang="pt-BR" sz="2000" dirty="0"/>
              <a:t> procedures;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000" dirty="0"/>
              <a:t>Processando e retornando com </a:t>
            </a:r>
            <a:r>
              <a:rPr lang="pt-BR" sz="2000" dirty="0" err="1"/>
              <a:t>functions</a:t>
            </a:r>
            <a:r>
              <a:rPr lang="pt-BR" sz="2000" dirty="0"/>
              <a:t>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000" dirty="0"/>
              <a:t>Tabela dual;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000" dirty="0"/>
              <a:t>Automatizando o processo através de </a:t>
            </a:r>
            <a:r>
              <a:rPr lang="pt-BR" sz="2000" dirty="0" err="1"/>
              <a:t>event</a:t>
            </a:r>
            <a:r>
              <a:rPr lang="pt-BR" sz="2000" dirty="0"/>
              <a:t> </a:t>
            </a:r>
            <a:r>
              <a:rPr lang="pt-BR" sz="2000" dirty="0" err="1"/>
              <a:t>scheduler</a:t>
            </a:r>
            <a:r>
              <a:rPr lang="pt-BR" sz="2000" dirty="0"/>
              <a:t>.</a:t>
            </a:r>
          </a:p>
          <a:p>
            <a:r>
              <a:rPr lang="pt-BR" sz="2000" dirty="0"/>
              <a:t>________________________________________</a:t>
            </a:r>
          </a:p>
          <a:p>
            <a:r>
              <a:rPr lang="pt-BR" sz="2000" b="1" dirty="0"/>
              <a:t>Exercícios sobre o assunto passado:</a:t>
            </a:r>
          </a:p>
          <a:p>
            <a:pPr lvl="0"/>
            <a:r>
              <a:rPr lang="pt-BR" sz="2000" dirty="0"/>
              <a:t>•   </a:t>
            </a:r>
            <a:r>
              <a:rPr lang="pt-BR" dirty="0">
                <a:solidFill>
                  <a:srgbClr val="0000FF"/>
                </a:solidFill>
              </a:rPr>
              <a:t>COUNT</a:t>
            </a:r>
            <a:r>
              <a:rPr lang="pt-BR" dirty="0"/>
              <a:t>, </a:t>
            </a:r>
            <a:r>
              <a:rPr lang="pt-BR" dirty="0">
                <a:solidFill>
                  <a:srgbClr val="0000FF"/>
                </a:solidFill>
              </a:rPr>
              <a:t>SUM</a:t>
            </a:r>
            <a:r>
              <a:rPr lang="pt-BR" dirty="0"/>
              <a:t>, </a:t>
            </a:r>
            <a:r>
              <a:rPr lang="pt-BR" dirty="0">
                <a:solidFill>
                  <a:srgbClr val="0000FF"/>
                </a:solidFill>
              </a:rPr>
              <a:t>AVG</a:t>
            </a:r>
            <a:r>
              <a:rPr lang="pt-BR" dirty="0"/>
              <a:t>, </a:t>
            </a:r>
            <a:r>
              <a:rPr lang="pt-BR" dirty="0">
                <a:solidFill>
                  <a:srgbClr val="0000FF"/>
                </a:solidFill>
              </a:rPr>
              <a:t>MIN</a:t>
            </a:r>
            <a:r>
              <a:rPr lang="pt-BR" dirty="0"/>
              <a:t> e </a:t>
            </a:r>
            <a:r>
              <a:rPr lang="pt-BR" dirty="0">
                <a:solidFill>
                  <a:srgbClr val="0000FF"/>
                </a:solidFill>
              </a:rPr>
              <a:t>MAX</a:t>
            </a:r>
            <a:r>
              <a:rPr lang="pt-BR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345492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BF4364-A6CD-4460-A48D-6779B48AD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845" y="167353"/>
            <a:ext cx="9692640" cy="1533440"/>
          </a:xfrm>
        </p:spPr>
        <p:txBody>
          <a:bodyPr>
            <a:noAutofit/>
          </a:bodyPr>
          <a:lstStyle/>
          <a:p>
            <a:r>
              <a:rPr lang="pt-BR" b="1" dirty="0">
                <a:solidFill>
                  <a:srgbClr val="00758F"/>
                </a:solidFill>
              </a:rPr>
              <a:t>Consultas com Funções: </a:t>
            </a:r>
            <a:br>
              <a:rPr lang="pt-BR" b="1" dirty="0"/>
            </a:br>
            <a:r>
              <a:rPr lang="pt-BR" b="1" dirty="0">
                <a:solidFill>
                  <a:srgbClr val="F39211"/>
                </a:solidFill>
              </a:rPr>
              <a:t>1.0 Funções de agregação</a:t>
            </a:r>
            <a:endParaRPr lang="pt-BR" sz="3600" dirty="0">
              <a:solidFill>
                <a:srgbClr val="F39211"/>
              </a:solidFill>
            </a:endParaRPr>
          </a:p>
        </p:txBody>
      </p:sp>
      <p:pic>
        <p:nvPicPr>
          <p:cNvPr id="4" name="Picture 6" descr="https://www.mysql.com/common/logos/logo-mysql-170x115.png">
            <a:extLst>
              <a:ext uri="{FF2B5EF4-FFF2-40B4-BE49-F238E27FC236}">
                <a16:creationId xmlns:a16="http://schemas.microsoft.com/office/drawing/2014/main" id="{441DFD02-E8A2-4690-9CD7-1CC407F20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793" y="5753675"/>
            <a:ext cx="1385775" cy="936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90DD339-B99C-43BD-99AF-28040E9B3E9C}"/>
              </a:ext>
            </a:extLst>
          </p:cNvPr>
          <p:cNvSpPr txBox="1"/>
          <p:nvPr/>
        </p:nvSpPr>
        <p:spPr>
          <a:xfrm>
            <a:off x="338845" y="1794928"/>
            <a:ext cx="943594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1 - Exemplo: Quantidade total de clientes na tabela ‘clientes’</a:t>
            </a:r>
            <a:endParaRPr lang="pt-BR" sz="2000" dirty="0"/>
          </a:p>
          <a:p>
            <a:r>
              <a:rPr lang="pt-BR" sz="2000" b="1" dirty="0">
                <a:solidFill>
                  <a:srgbClr val="0000FF"/>
                </a:solidFill>
              </a:rPr>
              <a:t>SELECT</a:t>
            </a:r>
            <a:r>
              <a:rPr lang="pt-BR" sz="2000" dirty="0">
                <a:solidFill>
                  <a:srgbClr val="0000FF"/>
                </a:solidFill>
              </a:rPr>
              <a:t> </a:t>
            </a:r>
            <a:r>
              <a:rPr lang="pt-BR" sz="2000" b="1" dirty="0">
                <a:solidFill>
                  <a:srgbClr val="0000FF"/>
                </a:solidFill>
              </a:rPr>
              <a:t>COUNT</a:t>
            </a:r>
            <a:r>
              <a:rPr lang="pt-BR" sz="2000" b="1" dirty="0"/>
              <a:t>(*)</a:t>
            </a:r>
            <a:r>
              <a:rPr lang="pt-BR" sz="2000" dirty="0"/>
              <a:t> </a:t>
            </a:r>
            <a:r>
              <a:rPr lang="pt-BR" sz="2000" b="1" dirty="0">
                <a:solidFill>
                  <a:srgbClr val="0000FF"/>
                </a:solidFill>
              </a:rPr>
              <a:t>AS</a:t>
            </a:r>
            <a:r>
              <a:rPr lang="pt-BR" sz="2000" dirty="0"/>
              <a:t> </a:t>
            </a:r>
            <a:r>
              <a:rPr lang="pt-BR" sz="2000" dirty="0" err="1"/>
              <a:t>total_clientes</a:t>
            </a:r>
            <a:r>
              <a:rPr lang="pt-BR" sz="2000" dirty="0"/>
              <a:t> </a:t>
            </a:r>
            <a:r>
              <a:rPr lang="pt-BR" sz="2000" b="1" dirty="0">
                <a:solidFill>
                  <a:srgbClr val="0000FF"/>
                </a:solidFill>
              </a:rPr>
              <a:t>FROM</a:t>
            </a:r>
            <a:r>
              <a:rPr lang="pt-BR" sz="2000" dirty="0"/>
              <a:t> clientes</a:t>
            </a:r>
            <a:r>
              <a:rPr lang="pt-BR" sz="2000" b="1" dirty="0"/>
              <a:t>;</a:t>
            </a:r>
            <a:endParaRPr lang="pt-BR" sz="2000" dirty="0"/>
          </a:p>
          <a:p>
            <a:r>
              <a:rPr lang="pt-BR" sz="2000" b="1" dirty="0"/>
              <a:t> </a:t>
            </a:r>
            <a:endParaRPr lang="pt-BR" sz="2000" dirty="0"/>
          </a:p>
          <a:p>
            <a:r>
              <a:rPr lang="pt-BR" sz="2000" b="1" dirty="0"/>
              <a:t>2 - Exemplo: Soma total das vendas</a:t>
            </a:r>
            <a:endParaRPr lang="pt-BR" sz="2000" dirty="0"/>
          </a:p>
          <a:p>
            <a:r>
              <a:rPr lang="pt-BR" sz="2000" b="1" dirty="0">
                <a:solidFill>
                  <a:srgbClr val="0000FF"/>
                </a:solidFill>
              </a:rPr>
              <a:t>SELECT</a:t>
            </a:r>
            <a:r>
              <a:rPr lang="pt-BR" sz="2000" dirty="0"/>
              <a:t> </a:t>
            </a:r>
            <a:r>
              <a:rPr lang="pt-BR" sz="2000" b="1" dirty="0">
                <a:solidFill>
                  <a:srgbClr val="0000FF"/>
                </a:solidFill>
              </a:rPr>
              <a:t>SUM</a:t>
            </a:r>
            <a:r>
              <a:rPr lang="pt-BR" sz="2000" b="1" dirty="0"/>
              <a:t>(</a:t>
            </a:r>
            <a:r>
              <a:rPr lang="pt-BR" sz="2000" dirty="0" err="1"/>
              <a:t>valor_total</a:t>
            </a:r>
            <a:r>
              <a:rPr lang="pt-BR" sz="2000" b="1" dirty="0"/>
              <a:t>)</a:t>
            </a:r>
            <a:r>
              <a:rPr lang="pt-BR" sz="2000" dirty="0"/>
              <a:t> </a:t>
            </a:r>
            <a:r>
              <a:rPr lang="pt-BR" sz="2000" b="1" dirty="0">
                <a:solidFill>
                  <a:srgbClr val="0000FF"/>
                </a:solidFill>
              </a:rPr>
              <a:t>AS</a:t>
            </a:r>
            <a:r>
              <a:rPr lang="pt-BR" sz="2000" dirty="0"/>
              <a:t> </a:t>
            </a:r>
            <a:r>
              <a:rPr lang="pt-BR" sz="2000" dirty="0" err="1"/>
              <a:t>total_vendas</a:t>
            </a:r>
            <a:r>
              <a:rPr lang="pt-BR" sz="2000" dirty="0"/>
              <a:t> </a:t>
            </a:r>
            <a:r>
              <a:rPr lang="pt-BR" sz="2000" b="1" dirty="0">
                <a:solidFill>
                  <a:srgbClr val="0000FF"/>
                </a:solidFill>
              </a:rPr>
              <a:t>FROM</a:t>
            </a:r>
            <a:r>
              <a:rPr lang="pt-BR" sz="2000" dirty="0"/>
              <a:t> vendas</a:t>
            </a:r>
            <a:r>
              <a:rPr lang="pt-BR" sz="2000" b="1" dirty="0"/>
              <a:t>;</a:t>
            </a:r>
            <a:endParaRPr lang="pt-BR" sz="2000" dirty="0"/>
          </a:p>
          <a:p>
            <a:r>
              <a:rPr lang="pt-BR" sz="2000" b="1" dirty="0"/>
              <a:t> </a:t>
            </a:r>
          </a:p>
          <a:p>
            <a:endParaRPr lang="pt-BR" b="1" dirty="0"/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85939773-382C-4806-8707-051C102AE7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716671"/>
              </p:ext>
            </p:extLst>
          </p:nvPr>
        </p:nvGraphicFramePr>
        <p:xfrm>
          <a:off x="338845" y="3801188"/>
          <a:ext cx="8594724" cy="27120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64908">
                  <a:extLst>
                    <a:ext uri="{9D8B030D-6E8A-4147-A177-3AD203B41FA5}">
                      <a16:colId xmlns:a16="http://schemas.microsoft.com/office/drawing/2014/main" val="860545237"/>
                    </a:ext>
                  </a:extLst>
                </a:gridCol>
                <a:gridCol w="2864908">
                  <a:extLst>
                    <a:ext uri="{9D8B030D-6E8A-4147-A177-3AD203B41FA5}">
                      <a16:colId xmlns:a16="http://schemas.microsoft.com/office/drawing/2014/main" val="51013667"/>
                    </a:ext>
                  </a:extLst>
                </a:gridCol>
                <a:gridCol w="2864908">
                  <a:extLst>
                    <a:ext uri="{9D8B030D-6E8A-4147-A177-3AD203B41FA5}">
                      <a16:colId xmlns:a16="http://schemas.microsoft.com/office/drawing/2014/main" val="1784211563"/>
                    </a:ext>
                  </a:extLst>
                </a:gridCol>
              </a:tblGrid>
              <a:tr h="45224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200" dirty="0">
                          <a:effectLst/>
                        </a:rPr>
                        <a:t>Função</a:t>
                      </a:r>
                      <a:endParaRPr lang="pt-B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0075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200" dirty="0">
                          <a:effectLst/>
                        </a:rPr>
                        <a:t>Descrição</a:t>
                      </a:r>
                      <a:endParaRPr lang="pt-B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0075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200" dirty="0">
                          <a:effectLst/>
                        </a:rPr>
                        <a:t>Exemplo prático</a:t>
                      </a:r>
                      <a:endParaRPr lang="pt-B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0075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1144372"/>
                  </a:ext>
                </a:extLst>
              </a:tr>
              <a:tr h="45196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400" dirty="0">
                          <a:solidFill>
                            <a:schemeClr val="bg1"/>
                          </a:solidFill>
                          <a:effectLst/>
                        </a:rPr>
                        <a:t>COUNT()</a:t>
                      </a:r>
                      <a:endParaRPr lang="pt-BR" sz="14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solidFill>
                            <a:schemeClr val="bg1"/>
                          </a:solidFill>
                          <a:effectLst/>
                        </a:rPr>
                        <a:t>Conta a quantidade de registros</a:t>
                      </a:r>
                      <a:endParaRPr lang="pt-BR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solidFill>
                            <a:schemeClr val="bg1"/>
                          </a:solidFill>
                          <a:effectLst/>
                        </a:rPr>
                        <a:t>Quantos clientes existem</a:t>
                      </a:r>
                      <a:endParaRPr lang="pt-BR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4649595"/>
                  </a:ext>
                </a:extLst>
              </a:tr>
              <a:tr h="45196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solidFill>
                            <a:schemeClr val="bg1"/>
                          </a:solidFill>
                          <a:effectLst/>
                        </a:rPr>
                        <a:t>SUM()</a:t>
                      </a:r>
                      <a:endParaRPr lang="pt-BR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solidFill>
                            <a:schemeClr val="bg1"/>
                          </a:solidFill>
                          <a:effectLst/>
                        </a:rPr>
                        <a:t>Soma os valores de uma coluna</a:t>
                      </a:r>
                      <a:endParaRPr lang="pt-BR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solidFill>
                            <a:schemeClr val="bg1"/>
                          </a:solidFill>
                          <a:effectLst/>
                        </a:rPr>
                        <a:t>Total de vendas no mês</a:t>
                      </a:r>
                      <a:endParaRPr lang="pt-BR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5773997"/>
                  </a:ext>
                </a:extLst>
              </a:tr>
              <a:tr h="45196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solidFill>
                            <a:schemeClr val="bg1"/>
                          </a:solidFill>
                          <a:effectLst/>
                        </a:rPr>
                        <a:t>AVG()</a:t>
                      </a:r>
                      <a:endParaRPr lang="pt-BR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solidFill>
                            <a:schemeClr val="bg1"/>
                          </a:solidFill>
                          <a:effectLst/>
                        </a:rPr>
                        <a:t>Média dos valores</a:t>
                      </a:r>
                      <a:endParaRPr lang="pt-BR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solidFill>
                            <a:schemeClr val="bg1"/>
                          </a:solidFill>
                          <a:effectLst/>
                        </a:rPr>
                        <a:t>Preço médio dos produtos</a:t>
                      </a:r>
                      <a:endParaRPr lang="pt-BR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1179789"/>
                  </a:ext>
                </a:extLst>
              </a:tr>
              <a:tr h="45196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solidFill>
                            <a:schemeClr val="bg1"/>
                          </a:solidFill>
                          <a:effectLst/>
                        </a:rPr>
                        <a:t>MIN()</a:t>
                      </a:r>
                      <a:endParaRPr lang="pt-BR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400" dirty="0">
                          <a:solidFill>
                            <a:schemeClr val="bg1"/>
                          </a:solidFill>
                          <a:effectLst/>
                        </a:rPr>
                        <a:t>Retorna o menor valor</a:t>
                      </a:r>
                      <a:endParaRPr lang="pt-BR" sz="14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solidFill>
                            <a:schemeClr val="bg1"/>
                          </a:solidFill>
                          <a:effectLst/>
                        </a:rPr>
                        <a:t>Produto mais barato</a:t>
                      </a:r>
                      <a:endParaRPr lang="pt-BR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8927436"/>
                  </a:ext>
                </a:extLst>
              </a:tr>
              <a:tr h="45196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400" dirty="0">
                          <a:solidFill>
                            <a:schemeClr val="bg1"/>
                          </a:solidFill>
                          <a:effectLst/>
                        </a:rPr>
                        <a:t>MAX()</a:t>
                      </a:r>
                      <a:endParaRPr lang="pt-BR" sz="14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solidFill>
                            <a:schemeClr val="bg1"/>
                          </a:solidFill>
                          <a:effectLst/>
                        </a:rPr>
                        <a:t>Retorna o maior valor</a:t>
                      </a:r>
                      <a:endParaRPr lang="pt-BR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400" dirty="0">
                          <a:solidFill>
                            <a:schemeClr val="bg1"/>
                          </a:solidFill>
                          <a:effectLst/>
                        </a:rPr>
                        <a:t>Maior valor de venda</a:t>
                      </a:r>
                      <a:endParaRPr lang="pt-BR" sz="14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15933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8528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BF4364-A6CD-4460-A48D-6779B48AD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845" y="167353"/>
            <a:ext cx="9692640" cy="1533440"/>
          </a:xfrm>
        </p:spPr>
        <p:txBody>
          <a:bodyPr>
            <a:noAutofit/>
          </a:bodyPr>
          <a:lstStyle/>
          <a:p>
            <a:r>
              <a:rPr lang="pt-BR" b="1" dirty="0">
                <a:solidFill>
                  <a:srgbClr val="00758F"/>
                </a:solidFill>
              </a:rPr>
              <a:t>Consultas com Funções: </a:t>
            </a:r>
            <a:br>
              <a:rPr lang="pt-BR" b="1" dirty="0"/>
            </a:br>
            <a:r>
              <a:rPr lang="pt-BR" b="1" dirty="0">
                <a:solidFill>
                  <a:srgbClr val="F39211"/>
                </a:solidFill>
              </a:rPr>
              <a:t>1.1 Funções de agregação</a:t>
            </a:r>
            <a:endParaRPr lang="pt-BR" sz="3600" dirty="0">
              <a:solidFill>
                <a:srgbClr val="F39211"/>
              </a:solidFill>
            </a:endParaRPr>
          </a:p>
        </p:txBody>
      </p:sp>
      <p:pic>
        <p:nvPicPr>
          <p:cNvPr id="4" name="Picture 6" descr="https://www.mysql.com/common/logos/logo-mysql-170x115.png">
            <a:extLst>
              <a:ext uri="{FF2B5EF4-FFF2-40B4-BE49-F238E27FC236}">
                <a16:creationId xmlns:a16="http://schemas.microsoft.com/office/drawing/2014/main" id="{441DFD02-E8A2-4690-9CD7-1CC407F20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793" y="5753675"/>
            <a:ext cx="1385775" cy="936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90DD339-B99C-43BD-99AF-28040E9B3E9C}"/>
              </a:ext>
            </a:extLst>
          </p:cNvPr>
          <p:cNvSpPr txBox="1"/>
          <p:nvPr/>
        </p:nvSpPr>
        <p:spPr>
          <a:xfrm>
            <a:off x="338845" y="1813173"/>
            <a:ext cx="943594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3. Média de preço dos produtos</a:t>
            </a:r>
            <a:endParaRPr lang="pt-BR" sz="2000" dirty="0"/>
          </a:p>
          <a:p>
            <a:r>
              <a:rPr lang="pt-BR" sz="2000" b="1" dirty="0">
                <a:solidFill>
                  <a:srgbClr val="0000FF"/>
                </a:solidFill>
              </a:rPr>
              <a:t>SELECT</a:t>
            </a:r>
            <a:r>
              <a:rPr lang="pt-BR" sz="2000" dirty="0"/>
              <a:t> </a:t>
            </a:r>
            <a:r>
              <a:rPr lang="pt-BR" sz="2000" b="1" dirty="0">
                <a:solidFill>
                  <a:srgbClr val="0000FF"/>
                </a:solidFill>
              </a:rPr>
              <a:t>AVG</a:t>
            </a:r>
            <a:r>
              <a:rPr lang="pt-BR" sz="2000" b="1" dirty="0"/>
              <a:t>(</a:t>
            </a:r>
            <a:r>
              <a:rPr lang="pt-BR" sz="2000" dirty="0" err="1"/>
              <a:t>preco_unitario</a:t>
            </a:r>
            <a:r>
              <a:rPr lang="pt-BR" sz="2000" b="1" dirty="0"/>
              <a:t>)</a:t>
            </a:r>
            <a:r>
              <a:rPr lang="pt-BR" sz="2000" dirty="0"/>
              <a:t> </a:t>
            </a:r>
            <a:r>
              <a:rPr lang="pt-BR" sz="2000" b="1" dirty="0"/>
              <a:t>AS</a:t>
            </a:r>
            <a:r>
              <a:rPr lang="pt-BR" sz="2000" dirty="0"/>
              <a:t> </a:t>
            </a:r>
            <a:r>
              <a:rPr lang="pt-BR" sz="2000" dirty="0" err="1"/>
              <a:t>media_precos</a:t>
            </a:r>
            <a:r>
              <a:rPr lang="pt-BR" sz="2000" dirty="0"/>
              <a:t> </a:t>
            </a:r>
            <a:r>
              <a:rPr lang="pt-BR" sz="2000" b="1" dirty="0">
                <a:solidFill>
                  <a:srgbClr val="0000FF"/>
                </a:solidFill>
              </a:rPr>
              <a:t>FROM</a:t>
            </a:r>
            <a:r>
              <a:rPr lang="pt-BR" sz="2000" dirty="0"/>
              <a:t> produtos</a:t>
            </a:r>
            <a:r>
              <a:rPr lang="pt-BR" sz="2000" b="1" dirty="0"/>
              <a:t>;</a:t>
            </a:r>
            <a:endParaRPr lang="pt-BR" sz="2000" dirty="0"/>
          </a:p>
          <a:p>
            <a:r>
              <a:rPr lang="pt-BR" sz="2000" b="1" dirty="0"/>
              <a:t> </a:t>
            </a:r>
          </a:p>
          <a:p>
            <a:endParaRPr lang="pt-BR" sz="2000" dirty="0"/>
          </a:p>
          <a:p>
            <a:r>
              <a:rPr lang="pt-BR" sz="2000" b="1" dirty="0"/>
              <a:t>4. Menor valor de uma venda</a:t>
            </a:r>
            <a:endParaRPr lang="pt-BR" sz="2000" dirty="0"/>
          </a:p>
          <a:p>
            <a:r>
              <a:rPr lang="pt-BR" sz="2000" b="1" dirty="0">
                <a:solidFill>
                  <a:srgbClr val="0000FF"/>
                </a:solidFill>
              </a:rPr>
              <a:t>SELECT</a:t>
            </a:r>
            <a:r>
              <a:rPr lang="pt-BR" sz="2000" dirty="0"/>
              <a:t> </a:t>
            </a:r>
            <a:r>
              <a:rPr lang="pt-BR" sz="2000" b="1" dirty="0">
                <a:solidFill>
                  <a:srgbClr val="0000FF"/>
                </a:solidFill>
              </a:rPr>
              <a:t>MIN</a:t>
            </a:r>
            <a:r>
              <a:rPr lang="pt-BR" sz="2000" b="1" dirty="0"/>
              <a:t>(</a:t>
            </a:r>
            <a:r>
              <a:rPr lang="pt-BR" sz="2000" dirty="0" err="1"/>
              <a:t>valor_total</a:t>
            </a:r>
            <a:r>
              <a:rPr lang="pt-BR" sz="2000" b="1" dirty="0"/>
              <a:t>)</a:t>
            </a:r>
            <a:r>
              <a:rPr lang="pt-BR" sz="2000" dirty="0"/>
              <a:t> </a:t>
            </a:r>
            <a:r>
              <a:rPr lang="pt-BR" sz="2000" b="1" dirty="0"/>
              <a:t>AS</a:t>
            </a:r>
            <a:r>
              <a:rPr lang="pt-BR" sz="2000" dirty="0"/>
              <a:t> </a:t>
            </a:r>
            <a:r>
              <a:rPr lang="pt-BR" sz="2000" dirty="0" err="1"/>
              <a:t>menor_venda</a:t>
            </a:r>
            <a:r>
              <a:rPr lang="pt-BR" sz="2000" dirty="0"/>
              <a:t> </a:t>
            </a:r>
            <a:r>
              <a:rPr lang="pt-BR" sz="2000" b="1" dirty="0">
                <a:solidFill>
                  <a:srgbClr val="0000FF"/>
                </a:solidFill>
              </a:rPr>
              <a:t>FROM</a:t>
            </a:r>
            <a:r>
              <a:rPr lang="pt-BR" sz="2000" dirty="0"/>
              <a:t> vendas</a:t>
            </a:r>
            <a:r>
              <a:rPr lang="pt-BR" sz="2000" b="1" dirty="0"/>
              <a:t>;</a:t>
            </a:r>
            <a:endParaRPr lang="pt-BR" sz="2000" dirty="0"/>
          </a:p>
          <a:p>
            <a:r>
              <a:rPr lang="pt-BR" sz="2000" b="1" dirty="0"/>
              <a:t> </a:t>
            </a:r>
          </a:p>
          <a:p>
            <a:endParaRPr lang="pt-BR" sz="2000" dirty="0"/>
          </a:p>
          <a:p>
            <a:r>
              <a:rPr lang="pt-BR" sz="2000" b="1" dirty="0"/>
              <a:t>5. Maior quantidade vendida em um item</a:t>
            </a:r>
            <a:endParaRPr lang="pt-BR" sz="2000" dirty="0"/>
          </a:p>
          <a:p>
            <a:r>
              <a:rPr lang="pt-BR" sz="2000" b="1" dirty="0">
                <a:solidFill>
                  <a:srgbClr val="0000FF"/>
                </a:solidFill>
              </a:rPr>
              <a:t>SELECT</a:t>
            </a:r>
            <a:r>
              <a:rPr lang="pt-BR" sz="2000" dirty="0"/>
              <a:t> </a:t>
            </a:r>
            <a:r>
              <a:rPr lang="pt-BR" sz="2000" b="1" dirty="0">
                <a:solidFill>
                  <a:srgbClr val="0000FF"/>
                </a:solidFill>
              </a:rPr>
              <a:t>MAX</a:t>
            </a:r>
            <a:r>
              <a:rPr lang="pt-BR" sz="2000" b="1" dirty="0"/>
              <a:t>(</a:t>
            </a:r>
            <a:r>
              <a:rPr lang="pt-BR" sz="2000" dirty="0"/>
              <a:t>quantidade</a:t>
            </a:r>
            <a:r>
              <a:rPr lang="pt-BR" sz="2000" b="1" dirty="0"/>
              <a:t>)</a:t>
            </a:r>
            <a:r>
              <a:rPr lang="pt-BR" sz="2000" dirty="0"/>
              <a:t> </a:t>
            </a:r>
            <a:r>
              <a:rPr lang="pt-BR" sz="2000" b="1" dirty="0">
                <a:solidFill>
                  <a:srgbClr val="0000FF"/>
                </a:solidFill>
              </a:rPr>
              <a:t>AS</a:t>
            </a:r>
            <a:r>
              <a:rPr lang="pt-BR" sz="2000" dirty="0"/>
              <a:t> </a:t>
            </a:r>
            <a:r>
              <a:rPr lang="pt-BR" sz="2000" dirty="0" err="1"/>
              <a:t>maior_qtd_vendida</a:t>
            </a:r>
            <a:r>
              <a:rPr lang="pt-BR" sz="2000" dirty="0"/>
              <a:t> </a:t>
            </a:r>
            <a:r>
              <a:rPr lang="pt-BR" sz="2000" b="1" dirty="0">
                <a:solidFill>
                  <a:srgbClr val="0000FF"/>
                </a:solidFill>
              </a:rPr>
              <a:t>FROM</a:t>
            </a:r>
            <a:r>
              <a:rPr lang="pt-BR" sz="2000" dirty="0"/>
              <a:t> </a:t>
            </a:r>
            <a:r>
              <a:rPr lang="pt-BR" sz="2000" dirty="0" err="1"/>
              <a:t>itens_venda</a:t>
            </a:r>
            <a:r>
              <a:rPr lang="pt-BR" sz="2000" b="1" dirty="0"/>
              <a:t>;</a:t>
            </a:r>
            <a:endParaRPr lang="pt-BR" sz="2000" dirty="0"/>
          </a:p>
          <a:p>
            <a:r>
              <a:rPr lang="pt-BR" sz="2000" b="1" dirty="0"/>
              <a:t> </a:t>
            </a:r>
          </a:p>
          <a:p>
            <a:endParaRPr lang="pt-BR" sz="2000" b="1" dirty="0"/>
          </a:p>
        </p:txBody>
      </p:sp>
    </p:spTree>
    <p:extLst>
      <p:ext uri="{BB962C8B-B14F-4D97-AF65-F5344CB8AC3E}">
        <p14:creationId xmlns:p14="http://schemas.microsoft.com/office/powerpoint/2010/main" val="1344661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BF4364-A6CD-4460-A48D-6779B48AD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845" y="167353"/>
            <a:ext cx="9692640" cy="1533440"/>
          </a:xfrm>
        </p:spPr>
        <p:txBody>
          <a:bodyPr>
            <a:noAutofit/>
          </a:bodyPr>
          <a:lstStyle/>
          <a:p>
            <a:r>
              <a:rPr lang="pt-BR" b="1" dirty="0">
                <a:solidFill>
                  <a:srgbClr val="00758F"/>
                </a:solidFill>
              </a:rPr>
              <a:t>Consultas com Funções: </a:t>
            </a:r>
            <a:br>
              <a:rPr lang="pt-BR" b="1" dirty="0"/>
            </a:br>
            <a:r>
              <a:rPr lang="pt-BR" b="1" dirty="0">
                <a:solidFill>
                  <a:srgbClr val="F39211"/>
                </a:solidFill>
              </a:rPr>
              <a:t>1.2 Funções de agregação</a:t>
            </a:r>
            <a:endParaRPr lang="pt-BR" sz="3600" dirty="0">
              <a:solidFill>
                <a:srgbClr val="F39211"/>
              </a:solidFill>
            </a:endParaRPr>
          </a:p>
        </p:txBody>
      </p:sp>
      <p:pic>
        <p:nvPicPr>
          <p:cNvPr id="4" name="Picture 6" descr="https://www.mysql.com/common/logos/logo-mysql-170x115.png">
            <a:extLst>
              <a:ext uri="{FF2B5EF4-FFF2-40B4-BE49-F238E27FC236}">
                <a16:creationId xmlns:a16="http://schemas.microsoft.com/office/drawing/2014/main" id="{441DFD02-E8A2-4690-9CD7-1CC407F20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793" y="5753675"/>
            <a:ext cx="1385775" cy="936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90DD339-B99C-43BD-99AF-28040E9B3E9C}"/>
              </a:ext>
            </a:extLst>
          </p:cNvPr>
          <p:cNvSpPr txBox="1"/>
          <p:nvPr/>
        </p:nvSpPr>
        <p:spPr>
          <a:xfrm>
            <a:off x="338845" y="1813173"/>
            <a:ext cx="943594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3. Média de preço dos produtos</a:t>
            </a:r>
            <a:endParaRPr lang="pt-BR" sz="2000" dirty="0"/>
          </a:p>
          <a:p>
            <a:r>
              <a:rPr lang="pt-BR" sz="2000" b="1" dirty="0">
                <a:solidFill>
                  <a:srgbClr val="0000FF"/>
                </a:solidFill>
              </a:rPr>
              <a:t>SELECT</a:t>
            </a:r>
            <a:r>
              <a:rPr lang="pt-BR" sz="2000" dirty="0"/>
              <a:t> </a:t>
            </a:r>
            <a:r>
              <a:rPr lang="pt-BR" sz="2000" b="1" dirty="0">
                <a:solidFill>
                  <a:srgbClr val="0000FF"/>
                </a:solidFill>
              </a:rPr>
              <a:t>AVG</a:t>
            </a:r>
            <a:r>
              <a:rPr lang="pt-BR" sz="2000" b="1" dirty="0"/>
              <a:t>(</a:t>
            </a:r>
            <a:r>
              <a:rPr lang="pt-BR" sz="2000" dirty="0" err="1"/>
              <a:t>preco_unitario</a:t>
            </a:r>
            <a:r>
              <a:rPr lang="pt-BR" sz="2000" b="1" dirty="0"/>
              <a:t>)</a:t>
            </a:r>
            <a:r>
              <a:rPr lang="pt-BR" sz="2000" dirty="0"/>
              <a:t> </a:t>
            </a:r>
            <a:r>
              <a:rPr lang="pt-BR" sz="2000" b="1" dirty="0"/>
              <a:t>AS</a:t>
            </a:r>
            <a:r>
              <a:rPr lang="pt-BR" sz="2000" dirty="0"/>
              <a:t> </a:t>
            </a:r>
            <a:r>
              <a:rPr lang="pt-BR" sz="2000" dirty="0" err="1"/>
              <a:t>media_precos</a:t>
            </a:r>
            <a:r>
              <a:rPr lang="pt-BR" sz="2000" dirty="0"/>
              <a:t> </a:t>
            </a:r>
            <a:r>
              <a:rPr lang="pt-BR" sz="2000" b="1" dirty="0">
                <a:solidFill>
                  <a:srgbClr val="0000FF"/>
                </a:solidFill>
              </a:rPr>
              <a:t>FROM</a:t>
            </a:r>
            <a:r>
              <a:rPr lang="pt-BR" sz="2000" dirty="0"/>
              <a:t> produtos</a:t>
            </a:r>
            <a:r>
              <a:rPr lang="pt-BR" sz="2000" b="1" dirty="0"/>
              <a:t>;</a:t>
            </a:r>
            <a:endParaRPr lang="pt-BR" sz="2000" dirty="0"/>
          </a:p>
          <a:p>
            <a:r>
              <a:rPr lang="pt-BR" sz="2000" b="1" dirty="0"/>
              <a:t> </a:t>
            </a:r>
          </a:p>
          <a:p>
            <a:endParaRPr lang="pt-BR" sz="2000" dirty="0"/>
          </a:p>
          <a:p>
            <a:r>
              <a:rPr lang="pt-BR" sz="2000" b="1" dirty="0"/>
              <a:t>4. Menor valor de uma venda</a:t>
            </a:r>
            <a:endParaRPr lang="pt-BR" sz="2000" dirty="0"/>
          </a:p>
          <a:p>
            <a:r>
              <a:rPr lang="pt-BR" sz="2000" b="1" dirty="0">
                <a:solidFill>
                  <a:srgbClr val="0000FF"/>
                </a:solidFill>
              </a:rPr>
              <a:t>SELECT</a:t>
            </a:r>
            <a:r>
              <a:rPr lang="pt-BR" sz="2000" dirty="0"/>
              <a:t> </a:t>
            </a:r>
            <a:r>
              <a:rPr lang="pt-BR" sz="2000" b="1" dirty="0">
                <a:solidFill>
                  <a:srgbClr val="0000FF"/>
                </a:solidFill>
              </a:rPr>
              <a:t>MIN</a:t>
            </a:r>
            <a:r>
              <a:rPr lang="pt-BR" sz="2000" b="1" dirty="0"/>
              <a:t>(</a:t>
            </a:r>
            <a:r>
              <a:rPr lang="pt-BR" sz="2000" dirty="0" err="1"/>
              <a:t>valor_total</a:t>
            </a:r>
            <a:r>
              <a:rPr lang="pt-BR" sz="2000" b="1" dirty="0"/>
              <a:t>)</a:t>
            </a:r>
            <a:r>
              <a:rPr lang="pt-BR" sz="2000" dirty="0"/>
              <a:t> </a:t>
            </a:r>
            <a:r>
              <a:rPr lang="pt-BR" sz="2000" b="1" dirty="0"/>
              <a:t>AS</a:t>
            </a:r>
            <a:r>
              <a:rPr lang="pt-BR" sz="2000" dirty="0"/>
              <a:t> </a:t>
            </a:r>
            <a:r>
              <a:rPr lang="pt-BR" sz="2000" dirty="0" err="1"/>
              <a:t>menor_venda</a:t>
            </a:r>
            <a:r>
              <a:rPr lang="pt-BR" sz="2000" dirty="0"/>
              <a:t> </a:t>
            </a:r>
            <a:r>
              <a:rPr lang="pt-BR" sz="2000" b="1" dirty="0">
                <a:solidFill>
                  <a:srgbClr val="0000FF"/>
                </a:solidFill>
              </a:rPr>
              <a:t>FROM</a:t>
            </a:r>
            <a:r>
              <a:rPr lang="pt-BR" sz="2000" dirty="0"/>
              <a:t> vendas</a:t>
            </a:r>
            <a:r>
              <a:rPr lang="pt-BR" sz="2000" b="1" dirty="0"/>
              <a:t>;</a:t>
            </a:r>
            <a:endParaRPr lang="pt-BR" sz="2000" dirty="0"/>
          </a:p>
          <a:p>
            <a:r>
              <a:rPr lang="pt-BR" sz="2000" b="1" dirty="0"/>
              <a:t> </a:t>
            </a:r>
          </a:p>
          <a:p>
            <a:endParaRPr lang="pt-BR" sz="2000" dirty="0"/>
          </a:p>
          <a:p>
            <a:r>
              <a:rPr lang="pt-BR" sz="2000" b="1" dirty="0"/>
              <a:t>5. Maior quantidade vendida em um item</a:t>
            </a:r>
            <a:endParaRPr lang="pt-BR" sz="2000" dirty="0"/>
          </a:p>
          <a:p>
            <a:r>
              <a:rPr lang="pt-BR" sz="2000" b="1" dirty="0">
                <a:solidFill>
                  <a:srgbClr val="0000FF"/>
                </a:solidFill>
              </a:rPr>
              <a:t>SELECT</a:t>
            </a:r>
            <a:r>
              <a:rPr lang="pt-BR" sz="2000" dirty="0"/>
              <a:t> </a:t>
            </a:r>
            <a:r>
              <a:rPr lang="pt-BR" sz="2000" b="1" dirty="0">
                <a:solidFill>
                  <a:srgbClr val="0000FF"/>
                </a:solidFill>
              </a:rPr>
              <a:t>MAX</a:t>
            </a:r>
            <a:r>
              <a:rPr lang="pt-BR" sz="2000" b="1" dirty="0"/>
              <a:t>(</a:t>
            </a:r>
            <a:r>
              <a:rPr lang="pt-BR" sz="2000" dirty="0"/>
              <a:t>quantidade</a:t>
            </a:r>
            <a:r>
              <a:rPr lang="pt-BR" sz="2000" b="1" dirty="0"/>
              <a:t>)</a:t>
            </a:r>
            <a:r>
              <a:rPr lang="pt-BR" sz="2000" dirty="0"/>
              <a:t> </a:t>
            </a:r>
            <a:r>
              <a:rPr lang="pt-BR" sz="2000" b="1" dirty="0">
                <a:solidFill>
                  <a:srgbClr val="0000FF"/>
                </a:solidFill>
              </a:rPr>
              <a:t>AS</a:t>
            </a:r>
            <a:r>
              <a:rPr lang="pt-BR" sz="2000" dirty="0"/>
              <a:t> </a:t>
            </a:r>
            <a:r>
              <a:rPr lang="pt-BR" sz="2000" dirty="0" err="1"/>
              <a:t>maior_qtd_vendida</a:t>
            </a:r>
            <a:r>
              <a:rPr lang="pt-BR" sz="2000" dirty="0"/>
              <a:t> </a:t>
            </a:r>
            <a:r>
              <a:rPr lang="pt-BR" sz="2000" b="1" dirty="0">
                <a:solidFill>
                  <a:srgbClr val="0000FF"/>
                </a:solidFill>
              </a:rPr>
              <a:t>FROM</a:t>
            </a:r>
            <a:r>
              <a:rPr lang="pt-BR" sz="2000" dirty="0"/>
              <a:t> </a:t>
            </a:r>
            <a:r>
              <a:rPr lang="pt-BR" sz="2000" dirty="0" err="1"/>
              <a:t>itens_venda</a:t>
            </a:r>
            <a:r>
              <a:rPr lang="pt-BR" sz="2000" b="1" dirty="0"/>
              <a:t>;</a:t>
            </a:r>
            <a:endParaRPr lang="pt-BR" sz="2000" dirty="0"/>
          </a:p>
          <a:p>
            <a:r>
              <a:rPr lang="pt-BR" sz="2000" b="1" dirty="0"/>
              <a:t> </a:t>
            </a:r>
          </a:p>
          <a:p>
            <a:endParaRPr lang="pt-BR" sz="2000" b="1" dirty="0"/>
          </a:p>
        </p:txBody>
      </p:sp>
    </p:spTree>
    <p:extLst>
      <p:ext uri="{BB962C8B-B14F-4D97-AF65-F5344CB8AC3E}">
        <p14:creationId xmlns:p14="http://schemas.microsoft.com/office/powerpoint/2010/main" val="3058069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BF4364-A6CD-4460-A48D-6779B48AD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845" y="167353"/>
            <a:ext cx="9692640" cy="1533440"/>
          </a:xfrm>
        </p:spPr>
        <p:txBody>
          <a:bodyPr>
            <a:noAutofit/>
          </a:bodyPr>
          <a:lstStyle/>
          <a:p>
            <a:r>
              <a:rPr lang="pt-BR" b="1" dirty="0">
                <a:solidFill>
                  <a:srgbClr val="00758F"/>
                </a:solidFill>
              </a:rPr>
              <a:t>Consultas com Funções: </a:t>
            </a:r>
            <a:br>
              <a:rPr lang="pt-BR" b="1" dirty="0"/>
            </a:br>
            <a:r>
              <a:rPr lang="pt-BR" b="1" dirty="0">
                <a:solidFill>
                  <a:srgbClr val="F39211"/>
                </a:solidFill>
              </a:rPr>
              <a:t>1.3 Funções de agregação</a:t>
            </a:r>
            <a:endParaRPr lang="pt-BR" sz="3600" dirty="0">
              <a:solidFill>
                <a:srgbClr val="F39211"/>
              </a:solidFill>
            </a:endParaRPr>
          </a:p>
        </p:txBody>
      </p:sp>
      <p:pic>
        <p:nvPicPr>
          <p:cNvPr id="4" name="Picture 6" descr="https://www.mysql.com/common/logos/logo-mysql-170x115.png">
            <a:extLst>
              <a:ext uri="{FF2B5EF4-FFF2-40B4-BE49-F238E27FC236}">
                <a16:creationId xmlns:a16="http://schemas.microsoft.com/office/drawing/2014/main" id="{441DFD02-E8A2-4690-9CD7-1CC407F20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793" y="5753675"/>
            <a:ext cx="1385775" cy="936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90DD339-B99C-43BD-99AF-28040E9B3E9C}"/>
              </a:ext>
            </a:extLst>
          </p:cNvPr>
          <p:cNvSpPr txBox="1"/>
          <p:nvPr/>
        </p:nvSpPr>
        <p:spPr>
          <a:xfrm>
            <a:off x="338844" y="1813173"/>
            <a:ext cx="10088523" cy="643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900" dirty="0"/>
              <a:t>Você pode usar </a:t>
            </a:r>
            <a:r>
              <a:rPr lang="pt-BR" sz="1900" b="1" dirty="0">
                <a:solidFill>
                  <a:srgbClr val="0000FF"/>
                </a:solidFill>
              </a:rPr>
              <a:t>WHERE</a:t>
            </a:r>
            <a:r>
              <a:rPr lang="pt-BR" sz="1900" dirty="0"/>
              <a:t> para aplicar filtros antes da agregação.</a:t>
            </a:r>
          </a:p>
          <a:p>
            <a:r>
              <a:rPr lang="pt-BR" sz="1900" dirty="0"/>
              <a:t>Também pode usar </a:t>
            </a:r>
            <a:r>
              <a:rPr lang="pt-BR" sz="1900" b="1" dirty="0">
                <a:solidFill>
                  <a:srgbClr val="0000FF"/>
                </a:solidFill>
              </a:rPr>
              <a:t>GROUP</a:t>
            </a:r>
            <a:r>
              <a:rPr lang="pt-BR" sz="1900" dirty="0"/>
              <a:t> </a:t>
            </a:r>
            <a:r>
              <a:rPr lang="pt-BR" sz="1900" b="1" dirty="0">
                <a:solidFill>
                  <a:srgbClr val="0000FF"/>
                </a:solidFill>
              </a:rPr>
              <a:t>BY</a:t>
            </a:r>
            <a:r>
              <a:rPr lang="pt-BR" sz="1900" dirty="0"/>
              <a:t> para agrupar os dados e aplicar funções de agregação por grupo (isso será aprofundado mais adiante).</a:t>
            </a:r>
          </a:p>
          <a:p>
            <a:endParaRPr lang="pt-BR" sz="1900" dirty="0"/>
          </a:p>
          <a:p>
            <a:r>
              <a:rPr lang="pt-BR" sz="1900" b="1" dirty="0"/>
              <a:t>1. Usando </a:t>
            </a:r>
            <a:r>
              <a:rPr lang="pt-BR" sz="1900" b="1" dirty="0">
                <a:solidFill>
                  <a:srgbClr val="0000FF"/>
                </a:solidFill>
              </a:rPr>
              <a:t>WHERE</a:t>
            </a:r>
            <a:r>
              <a:rPr lang="pt-BR" sz="1900" b="1" dirty="0"/>
              <a:t> com funções de agregação</a:t>
            </a:r>
            <a:endParaRPr lang="pt-BR" sz="1900" dirty="0"/>
          </a:p>
          <a:p>
            <a:br>
              <a:rPr lang="pt-BR" sz="1900" dirty="0"/>
            </a:br>
            <a:r>
              <a:rPr lang="pt-BR" sz="1900" b="1" dirty="0"/>
              <a:t>Exemplo: </a:t>
            </a:r>
            <a:r>
              <a:rPr lang="pt-BR" sz="1900" dirty="0"/>
              <a:t>total de vendas apenas no ano de 2025</a:t>
            </a:r>
            <a:br>
              <a:rPr lang="pt-BR" sz="1900" dirty="0"/>
            </a:br>
            <a:r>
              <a:rPr lang="pt-BR" sz="1900" b="1" dirty="0">
                <a:solidFill>
                  <a:srgbClr val="0000FF"/>
                </a:solidFill>
              </a:rPr>
              <a:t>SELECT</a:t>
            </a:r>
            <a:r>
              <a:rPr lang="pt-BR" sz="1900" dirty="0"/>
              <a:t> </a:t>
            </a:r>
            <a:r>
              <a:rPr lang="pt-BR" sz="1900" b="1" dirty="0">
                <a:solidFill>
                  <a:srgbClr val="0000FF"/>
                </a:solidFill>
              </a:rPr>
              <a:t>SUM</a:t>
            </a:r>
            <a:r>
              <a:rPr lang="pt-BR" sz="1900" b="1" dirty="0"/>
              <a:t>(</a:t>
            </a:r>
            <a:r>
              <a:rPr lang="pt-BR" sz="1900" dirty="0" err="1">
                <a:solidFill>
                  <a:schemeClr val="bg1">
                    <a:lumMod val="50000"/>
                  </a:schemeClr>
                </a:solidFill>
              </a:rPr>
              <a:t>valor_total</a:t>
            </a:r>
            <a:r>
              <a:rPr lang="pt-BR" sz="1900" b="1" dirty="0"/>
              <a:t>)</a:t>
            </a:r>
            <a:r>
              <a:rPr lang="pt-BR" sz="1900" dirty="0"/>
              <a:t> </a:t>
            </a:r>
            <a:r>
              <a:rPr lang="pt-BR" sz="1900" b="1" dirty="0">
                <a:solidFill>
                  <a:srgbClr val="0000FF"/>
                </a:solidFill>
              </a:rPr>
              <a:t>AS</a:t>
            </a:r>
            <a:r>
              <a:rPr lang="pt-BR" sz="1900" dirty="0"/>
              <a:t> </a:t>
            </a:r>
            <a:r>
              <a:rPr lang="pt-BR" sz="1900" dirty="0">
                <a:solidFill>
                  <a:schemeClr val="bg1">
                    <a:lumMod val="50000"/>
                  </a:schemeClr>
                </a:solidFill>
              </a:rPr>
              <a:t>total_vendas_2025</a:t>
            </a:r>
          </a:p>
          <a:p>
            <a:r>
              <a:rPr lang="pt-BR" sz="1900" b="1" dirty="0">
                <a:solidFill>
                  <a:srgbClr val="0000FF"/>
                </a:solidFill>
              </a:rPr>
              <a:t>FROM</a:t>
            </a:r>
            <a:r>
              <a:rPr lang="pt-BR" sz="1900" dirty="0"/>
              <a:t> vendas</a:t>
            </a:r>
          </a:p>
          <a:p>
            <a:r>
              <a:rPr lang="pt-BR" sz="1900" b="1" dirty="0">
                <a:solidFill>
                  <a:srgbClr val="0000FF"/>
                </a:solidFill>
              </a:rPr>
              <a:t>WHERE</a:t>
            </a:r>
            <a:r>
              <a:rPr lang="pt-BR" sz="1900" dirty="0"/>
              <a:t> YEAR</a:t>
            </a:r>
            <a:r>
              <a:rPr lang="pt-BR" sz="1900" b="1" dirty="0"/>
              <a:t>(</a:t>
            </a:r>
            <a:r>
              <a:rPr lang="pt-BR" sz="1900" dirty="0" err="1">
                <a:solidFill>
                  <a:schemeClr val="bg1">
                    <a:lumMod val="50000"/>
                  </a:schemeClr>
                </a:solidFill>
              </a:rPr>
              <a:t>data_venda</a:t>
            </a:r>
            <a:r>
              <a:rPr lang="pt-BR" sz="1900" b="1" dirty="0"/>
              <a:t>)</a:t>
            </a:r>
            <a:r>
              <a:rPr lang="pt-BR" sz="1900" dirty="0"/>
              <a:t> </a:t>
            </a:r>
            <a:r>
              <a:rPr lang="pt-BR" sz="1900" b="1" dirty="0"/>
              <a:t>=</a:t>
            </a:r>
            <a:r>
              <a:rPr lang="pt-BR" sz="1900" dirty="0"/>
              <a:t> </a:t>
            </a:r>
            <a:r>
              <a:rPr lang="pt-BR" sz="1900" dirty="0">
                <a:solidFill>
                  <a:srgbClr val="F39211"/>
                </a:solidFill>
              </a:rPr>
              <a:t>2025</a:t>
            </a:r>
            <a:r>
              <a:rPr lang="pt-BR" sz="1900" b="1" dirty="0"/>
              <a:t>;</a:t>
            </a:r>
            <a:endParaRPr lang="pt-BR" sz="1900" dirty="0"/>
          </a:p>
          <a:p>
            <a:r>
              <a:rPr lang="pt-BR" sz="1900" b="1" dirty="0"/>
              <a:t>Obs.: </a:t>
            </a:r>
            <a:r>
              <a:rPr lang="pt-BR" sz="1900" dirty="0"/>
              <a:t>O filtro é aplicado antes da agregação, então só as vendas de 2025 são somadas.</a:t>
            </a:r>
          </a:p>
          <a:p>
            <a:r>
              <a:rPr lang="pt-BR" sz="1900" dirty="0"/>
              <a:t> </a:t>
            </a:r>
          </a:p>
          <a:p>
            <a:r>
              <a:rPr lang="pt-BR" sz="1900" b="1" dirty="0"/>
              <a:t>Exemplo:</a:t>
            </a:r>
            <a:r>
              <a:rPr lang="pt-BR" sz="1900" dirty="0"/>
              <a:t> quantidade de clientes </a:t>
            </a:r>
            <a:r>
              <a:rPr lang="pt-BR" sz="1900" b="1" dirty="0"/>
              <a:t>do estado de SP</a:t>
            </a:r>
            <a:br>
              <a:rPr lang="pt-BR" sz="1900" b="1" dirty="0"/>
            </a:br>
            <a:r>
              <a:rPr lang="pt-BR" sz="1900" b="1" dirty="0">
                <a:solidFill>
                  <a:srgbClr val="0000FF"/>
                </a:solidFill>
              </a:rPr>
              <a:t>SELECT</a:t>
            </a:r>
            <a:r>
              <a:rPr lang="pt-BR" sz="1900" dirty="0"/>
              <a:t> </a:t>
            </a:r>
            <a:r>
              <a:rPr lang="pt-BR" sz="1900" b="1" dirty="0">
                <a:solidFill>
                  <a:srgbClr val="0000FF"/>
                </a:solidFill>
              </a:rPr>
              <a:t>COUNT</a:t>
            </a:r>
            <a:r>
              <a:rPr lang="pt-BR" sz="1900" b="1" dirty="0"/>
              <a:t>(*)</a:t>
            </a:r>
            <a:r>
              <a:rPr lang="pt-BR" sz="1900" dirty="0"/>
              <a:t> </a:t>
            </a:r>
            <a:r>
              <a:rPr lang="pt-BR" sz="1900" b="1" dirty="0">
                <a:solidFill>
                  <a:srgbClr val="0000FF"/>
                </a:solidFill>
              </a:rPr>
              <a:t>AS</a:t>
            </a:r>
            <a:r>
              <a:rPr lang="pt-BR" sz="1900" dirty="0"/>
              <a:t> </a:t>
            </a:r>
            <a:r>
              <a:rPr lang="pt-BR" sz="1900" dirty="0" err="1">
                <a:solidFill>
                  <a:schemeClr val="bg1">
                    <a:lumMod val="50000"/>
                  </a:schemeClr>
                </a:solidFill>
              </a:rPr>
              <a:t>clientes_sp</a:t>
            </a:r>
            <a:endParaRPr lang="pt-BR" sz="19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pt-BR" sz="1900" b="1" dirty="0">
                <a:solidFill>
                  <a:srgbClr val="0000FF"/>
                </a:solidFill>
              </a:rPr>
              <a:t>FROM</a:t>
            </a:r>
            <a:r>
              <a:rPr lang="pt-BR" sz="1900" dirty="0"/>
              <a:t> </a:t>
            </a:r>
            <a:r>
              <a:rPr lang="pt-BR" sz="1900" dirty="0">
                <a:solidFill>
                  <a:schemeClr val="bg1">
                    <a:lumMod val="50000"/>
                  </a:schemeClr>
                </a:solidFill>
              </a:rPr>
              <a:t>clientes</a:t>
            </a:r>
          </a:p>
          <a:p>
            <a:r>
              <a:rPr lang="pt-BR" sz="1900" b="1" dirty="0">
                <a:solidFill>
                  <a:srgbClr val="0000FF"/>
                </a:solidFill>
              </a:rPr>
              <a:t>WHERE</a:t>
            </a:r>
            <a:r>
              <a:rPr lang="pt-BR" sz="1900" dirty="0"/>
              <a:t> </a:t>
            </a:r>
            <a:r>
              <a:rPr lang="pt-BR" sz="1900" dirty="0">
                <a:solidFill>
                  <a:schemeClr val="bg1">
                    <a:lumMod val="50000"/>
                  </a:schemeClr>
                </a:solidFill>
              </a:rPr>
              <a:t>estado</a:t>
            </a:r>
            <a:r>
              <a:rPr lang="pt-BR" sz="1900" dirty="0"/>
              <a:t> </a:t>
            </a:r>
            <a:r>
              <a:rPr lang="pt-BR" sz="1900" b="1" dirty="0"/>
              <a:t>=</a:t>
            </a:r>
            <a:r>
              <a:rPr lang="pt-BR" sz="1900" dirty="0"/>
              <a:t> </a:t>
            </a:r>
            <a:r>
              <a:rPr lang="pt-BR" sz="1900" dirty="0">
                <a:solidFill>
                  <a:schemeClr val="bg1">
                    <a:lumMod val="50000"/>
                  </a:schemeClr>
                </a:solidFill>
              </a:rPr>
              <a:t>'SP'</a:t>
            </a:r>
            <a:r>
              <a:rPr lang="pt-BR" sz="1900" b="1" dirty="0"/>
              <a:t>;</a:t>
            </a:r>
            <a:endParaRPr lang="pt-BR" sz="1900" dirty="0"/>
          </a:p>
          <a:p>
            <a:br>
              <a:rPr lang="pt-BR" dirty="0"/>
            </a:br>
            <a:br>
              <a:rPr lang="pt-BR" dirty="0"/>
            </a:br>
            <a:br>
              <a:rPr lang="pt-BR" dirty="0"/>
            </a:br>
            <a:br>
              <a:rPr lang="pt-BR" dirty="0"/>
            </a:b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527405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BF4364-A6CD-4460-A48D-6779B48AD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845" y="167353"/>
            <a:ext cx="9692640" cy="1533440"/>
          </a:xfrm>
        </p:spPr>
        <p:txBody>
          <a:bodyPr>
            <a:noAutofit/>
          </a:bodyPr>
          <a:lstStyle/>
          <a:p>
            <a:r>
              <a:rPr lang="pt-BR" b="1" dirty="0">
                <a:solidFill>
                  <a:srgbClr val="00758F"/>
                </a:solidFill>
              </a:rPr>
              <a:t>Consultas com Funções: </a:t>
            </a:r>
            <a:br>
              <a:rPr lang="pt-BR" b="1" dirty="0"/>
            </a:br>
            <a:r>
              <a:rPr lang="pt-BR" b="1" dirty="0">
                <a:solidFill>
                  <a:srgbClr val="F39211"/>
                </a:solidFill>
              </a:rPr>
              <a:t>1.4 Funções de agregação</a:t>
            </a:r>
            <a:endParaRPr lang="pt-BR" sz="3600" dirty="0">
              <a:solidFill>
                <a:srgbClr val="F39211"/>
              </a:solidFill>
            </a:endParaRPr>
          </a:p>
        </p:txBody>
      </p:sp>
      <p:pic>
        <p:nvPicPr>
          <p:cNvPr id="4" name="Picture 6" descr="https://www.mysql.com/common/logos/logo-mysql-170x115.png">
            <a:extLst>
              <a:ext uri="{FF2B5EF4-FFF2-40B4-BE49-F238E27FC236}">
                <a16:creationId xmlns:a16="http://schemas.microsoft.com/office/drawing/2014/main" id="{441DFD02-E8A2-4690-9CD7-1CC407F20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793" y="5753675"/>
            <a:ext cx="1385775" cy="936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AF06CEA4-1D6A-4FB2-B738-A9362ADA1CCA}"/>
              </a:ext>
            </a:extLst>
          </p:cNvPr>
          <p:cNvSpPr txBox="1"/>
          <p:nvPr/>
        </p:nvSpPr>
        <p:spPr>
          <a:xfrm>
            <a:off x="338844" y="1813173"/>
            <a:ext cx="10088523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2. Usando GROUP BY com funções de agregação</a:t>
            </a:r>
            <a:br>
              <a:rPr lang="pt-BR" b="1" dirty="0"/>
            </a:br>
            <a:r>
              <a:rPr lang="pt-BR" dirty="0"/>
              <a:t>O GROUP BY agrupa os dados </a:t>
            </a:r>
            <a:r>
              <a:rPr lang="pt-BR" b="1" dirty="0"/>
              <a:t>por uma ou mais colunas</a:t>
            </a:r>
            <a:r>
              <a:rPr lang="pt-BR" dirty="0"/>
              <a:t>, permitindo aplicar a função de agregação em </a:t>
            </a:r>
            <a:r>
              <a:rPr lang="pt-BR" b="1" dirty="0"/>
              <a:t>cada grupo separadamente</a:t>
            </a:r>
            <a:r>
              <a:rPr lang="pt-BR" dirty="0"/>
              <a:t>.</a:t>
            </a:r>
          </a:p>
          <a:p>
            <a:endParaRPr lang="pt-BR" dirty="0"/>
          </a:p>
          <a:p>
            <a:r>
              <a:rPr lang="pt-BR" sz="2000" b="1" dirty="0"/>
              <a:t>Exemplo:</a:t>
            </a:r>
            <a:r>
              <a:rPr lang="pt-BR" sz="2000" dirty="0"/>
              <a:t> total de vendas por cliente</a:t>
            </a:r>
          </a:p>
          <a:p>
            <a:r>
              <a:rPr lang="pt-BR" sz="2000" b="1" dirty="0">
                <a:solidFill>
                  <a:srgbClr val="0000FF"/>
                </a:solidFill>
              </a:rPr>
              <a:t>SELECT</a:t>
            </a:r>
            <a:r>
              <a:rPr lang="pt-BR" sz="2000" dirty="0"/>
              <a:t> </a:t>
            </a:r>
            <a:r>
              <a:rPr lang="pt-BR" sz="2000" dirty="0" err="1">
                <a:solidFill>
                  <a:schemeClr val="bg1">
                    <a:lumMod val="50000"/>
                  </a:schemeClr>
                </a:solidFill>
              </a:rPr>
              <a:t>id_cliente</a:t>
            </a:r>
            <a:r>
              <a:rPr lang="pt-BR" sz="2000" dirty="0"/>
              <a:t>, </a:t>
            </a:r>
            <a:r>
              <a:rPr lang="pt-BR" sz="2000" b="1" dirty="0">
                <a:solidFill>
                  <a:srgbClr val="0000FF"/>
                </a:solidFill>
              </a:rPr>
              <a:t>SUM</a:t>
            </a:r>
            <a:r>
              <a:rPr lang="pt-BR" sz="2000" dirty="0"/>
              <a:t>(</a:t>
            </a:r>
            <a:r>
              <a:rPr lang="pt-BR" sz="2000" dirty="0" err="1">
                <a:solidFill>
                  <a:schemeClr val="bg1">
                    <a:lumMod val="50000"/>
                  </a:schemeClr>
                </a:solidFill>
              </a:rPr>
              <a:t>valor_total</a:t>
            </a:r>
            <a:r>
              <a:rPr lang="pt-BR" sz="2000" dirty="0"/>
              <a:t>) </a:t>
            </a:r>
            <a:r>
              <a:rPr lang="pt-BR" sz="2000" b="1" dirty="0">
                <a:solidFill>
                  <a:srgbClr val="0000FF"/>
                </a:solidFill>
              </a:rPr>
              <a:t>AS</a:t>
            </a:r>
            <a:r>
              <a:rPr lang="pt-BR" sz="2000" dirty="0"/>
              <a:t> </a:t>
            </a:r>
            <a:r>
              <a:rPr lang="pt-BR" sz="2000" dirty="0" err="1">
                <a:solidFill>
                  <a:schemeClr val="bg1">
                    <a:lumMod val="50000"/>
                  </a:schemeClr>
                </a:solidFill>
              </a:rPr>
              <a:t>total_por_cliente</a:t>
            </a:r>
            <a:endParaRPr lang="pt-BR" sz="20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pt-BR" sz="2000" b="1" dirty="0">
                <a:solidFill>
                  <a:srgbClr val="0000FF"/>
                </a:solidFill>
              </a:rPr>
              <a:t>FROM</a:t>
            </a:r>
            <a:r>
              <a:rPr lang="pt-BR" sz="2000" dirty="0"/>
              <a:t>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</a:rPr>
              <a:t>vendas</a:t>
            </a:r>
          </a:p>
          <a:p>
            <a:r>
              <a:rPr lang="pt-BR" sz="2000" b="1" dirty="0">
                <a:solidFill>
                  <a:srgbClr val="0000FF"/>
                </a:solidFill>
              </a:rPr>
              <a:t>GROUP</a:t>
            </a:r>
            <a:r>
              <a:rPr lang="pt-BR" sz="2000" dirty="0"/>
              <a:t> </a:t>
            </a:r>
            <a:r>
              <a:rPr lang="pt-BR" sz="2000" b="1" dirty="0">
                <a:solidFill>
                  <a:srgbClr val="0000FF"/>
                </a:solidFill>
              </a:rPr>
              <a:t>BY</a:t>
            </a:r>
            <a:r>
              <a:rPr lang="pt-BR" sz="2000" dirty="0"/>
              <a:t> </a:t>
            </a:r>
            <a:r>
              <a:rPr lang="pt-BR" sz="2000" dirty="0" err="1">
                <a:solidFill>
                  <a:schemeClr val="bg1">
                    <a:lumMod val="50000"/>
                  </a:schemeClr>
                </a:solidFill>
              </a:rPr>
              <a:t>id_cliente</a:t>
            </a:r>
            <a:r>
              <a:rPr lang="pt-BR" sz="2000" dirty="0"/>
              <a:t>;</a:t>
            </a:r>
          </a:p>
          <a:p>
            <a:r>
              <a:rPr lang="pt-BR" sz="2000" dirty="0"/>
              <a:t>Obs.: Aqui, o </a:t>
            </a:r>
            <a:r>
              <a:rPr lang="pt-BR" sz="2000" b="1" dirty="0">
                <a:solidFill>
                  <a:srgbClr val="0000FF"/>
                </a:solidFill>
              </a:rPr>
              <a:t>SUM</a:t>
            </a:r>
            <a:r>
              <a:rPr lang="pt-BR" sz="2000" dirty="0"/>
              <a:t> será feito para cada </a:t>
            </a:r>
            <a:r>
              <a:rPr lang="pt-BR" sz="2000" dirty="0" err="1"/>
              <a:t>id_cliente</a:t>
            </a:r>
            <a:r>
              <a:rPr lang="pt-BR" sz="2000" dirty="0"/>
              <a:t> individualmente.</a:t>
            </a:r>
          </a:p>
          <a:p>
            <a:endParaRPr lang="pt-BR" sz="2000" dirty="0"/>
          </a:p>
          <a:p>
            <a:r>
              <a:rPr lang="pt-BR" sz="2000" b="1" dirty="0"/>
              <a:t>Exemplo: </a:t>
            </a:r>
            <a:r>
              <a:rPr lang="pt-BR" sz="2000" dirty="0"/>
              <a:t>quantidade de clientes por estado</a:t>
            </a:r>
          </a:p>
          <a:p>
            <a:r>
              <a:rPr lang="pt-BR" sz="2000" b="1" dirty="0">
                <a:solidFill>
                  <a:srgbClr val="0000FF"/>
                </a:solidFill>
              </a:rPr>
              <a:t>SELECT</a:t>
            </a:r>
            <a:r>
              <a:rPr lang="pt-BR" sz="2000" dirty="0"/>
              <a:t>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</a:rPr>
              <a:t>estado</a:t>
            </a:r>
            <a:r>
              <a:rPr lang="pt-BR" sz="2000" dirty="0"/>
              <a:t>, </a:t>
            </a:r>
            <a:r>
              <a:rPr lang="pt-BR" sz="2000" b="1" dirty="0">
                <a:solidFill>
                  <a:srgbClr val="0000FF"/>
                </a:solidFill>
              </a:rPr>
              <a:t>COUNT</a:t>
            </a:r>
            <a:r>
              <a:rPr lang="pt-BR" sz="2000" dirty="0"/>
              <a:t>(*) </a:t>
            </a:r>
            <a:r>
              <a:rPr lang="pt-BR" sz="2000" b="1" dirty="0">
                <a:solidFill>
                  <a:srgbClr val="0000FF"/>
                </a:solidFill>
              </a:rPr>
              <a:t>AS</a:t>
            </a:r>
            <a:r>
              <a:rPr lang="pt-BR" sz="2000" dirty="0"/>
              <a:t> </a:t>
            </a:r>
            <a:r>
              <a:rPr lang="pt-BR" sz="2000" dirty="0" err="1">
                <a:solidFill>
                  <a:schemeClr val="bg1">
                    <a:lumMod val="50000"/>
                  </a:schemeClr>
                </a:solidFill>
              </a:rPr>
              <a:t>total_por_estado</a:t>
            </a:r>
            <a:endParaRPr lang="pt-BR" sz="20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pt-BR" sz="2000" b="1" dirty="0">
                <a:solidFill>
                  <a:srgbClr val="0000FF"/>
                </a:solidFill>
              </a:rPr>
              <a:t>FROM</a:t>
            </a:r>
            <a:r>
              <a:rPr lang="pt-BR" sz="2000" dirty="0"/>
              <a:t>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</a:rPr>
              <a:t>clientes</a:t>
            </a:r>
          </a:p>
          <a:p>
            <a:r>
              <a:rPr lang="pt-BR" sz="2000" b="1" dirty="0">
                <a:solidFill>
                  <a:srgbClr val="0000FF"/>
                </a:solidFill>
              </a:rPr>
              <a:t>GROUP</a:t>
            </a:r>
            <a:r>
              <a:rPr lang="pt-BR" sz="2000" dirty="0"/>
              <a:t> </a:t>
            </a:r>
            <a:r>
              <a:rPr lang="pt-BR" sz="2000" b="1" dirty="0">
                <a:solidFill>
                  <a:srgbClr val="0000FF"/>
                </a:solidFill>
              </a:rPr>
              <a:t>BY</a:t>
            </a:r>
            <a:r>
              <a:rPr lang="pt-BR" sz="2000" dirty="0"/>
              <a:t>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</a:rPr>
              <a:t>estado</a:t>
            </a:r>
            <a:r>
              <a:rPr lang="pt-BR" sz="2000" dirty="0"/>
              <a:t>;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422654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BF4364-A6CD-4460-A48D-6779B48AD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845" y="167353"/>
            <a:ext cx="9692640" cy="1533440"/>
          </a:xfrm>
        </p:spPr>
        <p:txBody>
          <a:bodyPr>
            <a:noAutofit/>
          </a:bodyPr>
          <a:lstStyle/>
          <a:p>
            <a:r>
              <a:rPr lang="pt-BR" b="1" dirty="0">
                <a:solidFill>
                  <a:srgbClr val="00758F"/>
                </a:solidFill>
              </a:rPr>
              <a:t>Consultas com Funções: </a:t>
            </a:r>
            <a:br>
              <a:rPr lang="pt-BR" b="1" dirty="0"/>
            </a:br>
            <a:r>
              <a:rPr lang="pt-BR" b="1" dirty="0">
                <a:solidFill>
                  <a:srgbClr val="F39211"/>
                </a:solidFill>
              </a:rPr>
              <a:t>1.5 Funções de agregação</a:t>
            </a:r>
            <a:endParaRPr lang="pt-BR" sz="3600" dirty="0">
              <a:solidFill>
                <a:srgbClr val="F39211"/>
              </a:solidFill>
            </a:endParaRPr>
          </a:p>
        </p:txBody>
      </p:sp>
      <p:pic>
        <p:nvPicPr>
          <p:cNvPr id="4" name="Picture 6" descr="https://www.mysql.com/common/logos/logo-mysql-170x115.png">
            <a:extLst>
              <a:ext uri="{FF2B5EF4-FFF2-40B4-BE49-F238E27FC236}">
                <a16:creationId xmlns:a16="http://schemas.microsoft.com/office/drawing/2014/main" id="{441DFD02-E8A2-4690-9CD7-1CC407F20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793" y="5753675"/>
            <a:ext cx="1385775" cy="936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AF06CEA4-1D6A-4FB2-B738-A9362ADA1CCA}"/>
              </a:ext>
            </a:extLst>
          </p:cNvPr>
          <p:cNvSpPr txBox="1"/>
          <p:nvPr/>
        </p:nvSpPr>
        <p:spPr>
          <a:xfrm>
            <a:off x="338844" y="1813173"/>
            <a:ext cx="10088523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Exemplo:</a:t>
            </a:r>
            <a:r>
              <a:rPr lang="pt-BR" sz="2000" dirty="0"/>
              <a:t> estoque total por produto ativo/inativo</a:t>
            </a:r>
          </a:p>
          <a:p>
            <a:r>
              <a:rPr lang="pt-BR" sz="2000" dirty="0"/>
              <a:t>SELECT ativo, SUM(estoque) AS </a:t>
            </a:r>
            <a:r>
              <a:rPr lang="pt-BR" sz="2000" dirty="0" err="1"/>
              <a:t>estoque_total</a:t>
            </a:r>
            <a:endParaRPr lang="pt-BR" sz="2000" dirty="0"/>
          </a:p>
          <a:p>
            <a:r>
              <a:rPr lang="pt-BR" sz="2000" dirty="0"/>
              <a:t>FROM produtos</a:t>
            </a:r>
          </a:p>
          <a:p>
            <a:r>
              <a:rPr lang="pt-BR" sz="2000" dirty="0"/>
              <a:t>GROUP BY ativo;</a:t>
            </a:r>
          </a:p>
          <a:p>
            <a:endParaRPr lang="pt-BR" sz="2000" dirty="0"/>
          </a:p>
          <a:p>
            <a:r>
              <a:rPr lang="pt-BR" sz="2000" b="1" dirty="0"/>
              <a:t>Exercício rápido:</a:t>
            </a:r>
            <a:r>
              <a:rPr lang="pt-BR" sz="2000" dirty="0"/>
              <a:t> Aplicar </a:t>
            </a:r>
            <a:r>
              <a:rPr lang="pt-BR" sz="2000" dirty="0">
                <a:solidFill>
                  <a:srgbClr val="0000FF"/>
                </a:solidFill>
              </a:rPr>
              <a:t>WHERE</a:t>
            </a:r>
            <a:r>
              <a:rPr lang="pt-BR" sz="2000" dirty="0"/>
              <a:t> + </a:t>
            </a:r>
            <a:r>
              <a:rPr lang="pt-BR" sz="2000" dirty="0">
                <a:solidFill>
                  <a:srgbClr val="0000FF"/>
                </a:solidFill>
              </a:rPr>
              <a:t>GROUP BY</a:t>
            </a:r>
          </a:p>
          <a:p>
            <a:r>
              <a:rPr lang="pt-BR" sz="2000" dirty="0"/>
              <a:t>Liste o total de vendas por cliente apenas do ano de 2025.</a:t>
            </a:r>
          </a:p>
          <a:p>
            <a:endParaRPr lang="pt-BR" sz="2000" dirty="0"/>
          </a:p>
          <a:p>
            <a:r>
              <a:rPr lang="pt-BR" sz="2000" dirty="0">
                <a:solidFill>
                  <a:srgbClr val="0000FF"/>
                </a:solidFill>
              </a:rPr>
              <a:t>SELECT</a:t>
            </a:r>
            <a:r>
              <a:rPr lang="pt-BR" sz="2000" dirty="0"/>
              <a:t> </a:t>
            </a:r>
            <a:r>
              <a:rPr lang="pt-BR" sz="2000" dirty="0" err="1">
                <a:solidFill>
                  <a:schemeClr val="bg1">
                    <a:lumMod val="50000"/>
                  </a:schemeClr>
                </a:solidFill>
              </a:rPr>
              <a:t>id_cliente</a:t>
            </a:r>
            <a:r>
              <a:rPr lang="pt-BR" sz="2000" dirty="0"/>
              <a:t>, </a:t>
            </a:r>
            <a:r>
              <a:rPr lang="pt-BR" sz="2000" dirty="0">
                <a:solidFill>
                  <a:srgbClr val="0000FF"/>
                </a:solidFill>
              </a:rPr>
              <a:t>SUM</a:t>
            </a:r>
            <a:r>
              <a:rPr lang="pt-BR" sz="2000" dirty="0"/>
              <a:t>(</a:t>
            </a:r>
            <a:r>
              <a:rPr lang="pt-BR" sz="2000" dirty="0" err="1">
                <a:solidFill>
                  <a:schemeClr val="bg1">
                    <a:lumMod val="50000"/>
                  </a:schemeClr>
                </a:solidFill>
              </a:rPr>
              <a:t>valor_total</a:t>
            </a:r>
            <a:r>
              <a:rPr lang="pt-BR" sz="2000" dirty="0"/>
              <a:t>) </a:t>
            </a:r>
            <a:r>
              <a:rPr lang="pt-BR" sz="2000" dirty="0">
                <a:solidFill>
                  <a:srgbClr val="0000FF"/>
                </a:solidFill>
              </a:rPr>
              <a:t>AS</a:t>
            </a:r>
            <a:r>
              <a:rPr lang="pt-BR" sz="2000" dirty="0"/>
              <a:t>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</a:rPr>
              <a:t>total_2025</a:t>
            </a:r>
          </a:p>
          <a:p>
            <a:r>
              <a:rPr lang="pt-BR" sz="2000" dirty="0">
                <a:solidFill>
                  <a:srgbClr val="0000FF"/>
                </a:solidFill>
              </a:rPr>
              <a:t>FROM</a:t>
            </a:r>
            <a:r>
              <a:rPr lang="pt-BR" sz="2000" dirty="0"/>
              <a:t>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</a:rPr>
              <a:t>vendas</a:t>
            </a:r>
          </a:p>
          <a:p>
            <a:r>
              <a:rPr lang="pt-BR" sz="2000" dirty="0">
                <a:solidFill>
                  <a:srgbClr val="0000FF"/>
                </a:solidFill>
              </a:rPr>
              <a:t>WHERE</a:t>
            </a:r>
            <a:r>
              <a:rPr lang="pt-BR" sz="2000" dirty="0"/>
              <a:t> </a:t>
            </a:r>
            <a:r>
              <a:rPr lang="pt-BR" sz="2000" dirty="0">
                <a:solidFill>
                  <a:srgbClr val="0000FF"/>
                </a:solidFill>
              </a:rPr>
              <a:t>YEAR</a:t>
            </a:r>
            <a:r>
              <a:rPr lang="pt-BR" sz="2000" dirty="0"/>
              <a:t>(</a:t>
            </a:r>
            <a:r>
              <a:rPr lang="pt-BR" sz="2000" dirty="0" err="1">
                <a:solidFill>
                  <a:schemeClr val="bg1">
                    <a:lumMod val="50000"/>
                  </a:schemeClr>
                </a:solidFill>
              </a:rPr>
              <a:t>data_venda</a:t>
            </a:r>
            <a:r>
              <a:rPr lang="pt-BR" sz="2000" dirty="0"/>
              <a:t>) = </a:t>
            </a:r>
            <a:r>
              <a:rPr lang="pt-BR" sz="2000" dirty="0">
                <a:solidFill>
                  <a:srgbClr val="F39211"/>
                </a:solidFill>
              </a:rPr>
              <a:t>2025</a:t>
            </a:r>
          </a:p>
          <a:p>
            <a:r>
              <a:rPr lang="pt-BR" sz="2000" dirty="0">
                <a:solidFill>
                  <a:srgbClr val="0000FF"/>
                </a:solidFill>
              </a:rPr>
              <a:t>GROUP</a:t>
            </a:r>
            <a:r>
              <a:rPr lang="pt-BR" sz="2000" dirty="0"/>
              <a:t> </a:t>
            </a:r>
            <a:r>
              <a:rPr lang="pt-BR" sz="2000" dirty="0">
                <a:solidFill>
                  <a:srgbClr val="0000FF"/>
                </a:solidFill>
              </a:rPr>
              <a:t>BY</a:t>
            </a:r>
            <a:r>
              <a:rPr lang="pt-BR" sz="2000" dirty="0"/>
              <a:t> </a:t>
            </a:r>
            <a:r>
              <a:rPr lang="pt-BR" sz="2000" dirty="0" err="1">
                <a:solidFill>
                  <a:schemeClr val="bg1">
                    <a:lumMod val="50000"/>
                  </a:schemeClr>
                </a:solidFill>
              </a:rPr>
              <a:t>id_cliente</a:t>
            </a:r>
            <a:r>
              <a:rPr lang="pt-BR" sz="2000" dirty="0"/>
              <a:t>;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000301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BF4364-A6CD-4460-A48D-6779B48AD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845" y="167353"/>
            <a:ext cx="9692640" cy="1533440"/>
          </a:xfrm>
        </p:spPr>
        <p:txBody>
          <a:bodyPr>
            <a:noAutofit/>
          </a:bodyPr>
          <a:lstStyle/>
          <a:p>
            <a:r>
              <a:rPr lang="pt-BR" b="1" dirty="0">
                <a:solidFill>
                  <a:srgbClr val="00758F"/>
                </a:solidFill>
              </a:rPr>
              <a:t>Consultas com Funções: </a:t>
            </a:r>
            <a:br>
              <a:rPr lang="pt-BR" b="1" dirty="0">
                <a:solidFill>
                  <a:srgbClr val="00758F"/>
                </a:solidFill>
              </a:rPr>
            </a:br>
            <a:r>
              <a:rPr lang="pt-BR" b="1" dirty="0">
                <a:solidFill>
                  <a:srgbClr val="F39211"/>
                </a:solidFill>
              </a:rPr>
              <a:t>1.0</a:t>
            </a:r>
            <a:r>
              <a:rPr lang="pt-BR" b="1" dirty="0">
                <a:solidFill>
                  <a:srgbClr val="00758F"/>
                </a:solidFill>
              </a:rPr>
              <a:t> </a:t>
            </a:r>
            <a:r>
              <a:rPr lang="pt-BR" b="1" dirty="0">
                <a:solidFill>
                  <a:srgbClr val="F39211"/>
                </a:solidFill>
              </a:rPr>
              <a:t>Funções de </a:t>
            </a:r>
            <a:r>
              <a:rPr lang="pt-BR" b="1" dirty="0" err="1">
                <a:solidFill>
                  <a:srgbClr val="F39211"/>
                </a:solidFill>
              </a:rPr>
              <a:t>String</a:t>
            </a:r>
            <a:endParaRPr lang="pt-BR" sz="3600" dirty="0">
              <a:solidFill>
                <a:srgbClr val="F39211"/>
              </a:solidFill>
            </a:endParaRPr>
          </a:p>
        </p:txBody>
      </p:sp>
      <p:pic>
        <p:nvPicPr>
          <p:cNvPr id="4" name="Picture 6" descr="https://www.mysql.com/common/logos/logo-mysql-170x115.png">
            <a:extLst>
              <a:ext uri="{FF2B5EF4-FFF2-40B4-BE49-F238E27FC236}">
                <a16:creationId xmlns:a16="http://schemas.microsoft.com/office/drawing/2014/main" id="{441DFD02-E8A2-4690-9CD7-1CC407F20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793" y="5753675"/>
            <a:ext cx="1385775" cy="936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AF06CEA4-1D6A-4FB2-B738-A9362ADA1CCA}"/>
              </a:ext>
            </a:extLst>
          </p:cNvPr>
          <p:cNvSpPr txBox="1"/>
          <p:nvPr/>
        </p:nvSpPr>
        <p:spPr>
          <a:xfrm>
            <a:off x="338844" y="1813173"/>
            <a:ext cx="100885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Em SQL, </a:t>
            </a:r>
            <a:r>
              <a:rPr lang="pt-BR" dirty="0" err="1"/>
              <a:t>string</a:t>
            </a:r>
            <a:r>
              <a:rPr lang="pt-BR" dirty="0"/>
              <a:t> é qualquer valor textual (</a:t>
            </a:r>
            <a:r>
              <a:rPr lang="pt-BR" dirty="0" err="1"/>
              <a:t>ex</a:t>
            </a:r>
            <a:r>
              <a:rPr lang="pt-BR" dirty="0"/>
              <a:t>: nomes, cidades, e-mails, </a:t>
            </a:r>
            <a:r>
              <a:rPr lang="pt-BR" dirty="0" err="1"/>
              <a:t>etc</a:t>
            </a:r>
            <a:r>
              <a:rPr lang="pt-BR" dirty="0"/>
              <a:t>). Em MySQL, </a:t>
            </a:r>
            <a:r>
              <a:rPr lang="pt-BR" dirty="0" err="1"/>
              <a:t>strings</a:t>
            </a:r>
            <a:r>
              <a:rPr lang="pt-BR" dirty="0"/>
              <a:t> são armazenadas com tipos como </a:t>
            </a:r>
            <a:r>
              <a:rPr lang="pt-BR" b="1" dirty="0">
                <a:solidFill>
                  <a:srgbClr val="0000FF"/>
                </a:solidFill>
              </a:rPr>
              <a:t>VARCHAR</a:t>
            </a:r>
            <a:r>
              <a:rPr lang="pt-BR" dirty="0"/>
              <a:t>, </a:t>
            </a:r>
            <a:r>
              <a:rPr lang="pt-BR" b="1" dirty="0">
                <a:solidFill>
                  <a:srgbClr val="0000FF"/>
                </a:solidFill>
              </a:rPr>
              <a:t>CHAR</a:t>
            </a:r>
            <a:r>
              <a:rPr lang="pt-BR" dirty="0"/>
              <a:t>, </a:t>
            </a:r>
            <a:r>
              <a:rPr lang="pt-BR" b="1" dirty="0">
                <a:solidFill>
                  <a:srgbClr val="0000FF"/>
                </a:solidFill>
              </a:rPr>
              <a:t>TEXT</a:t>
            </a:r>
            <a:r>
              <a:rPr lang="pt-BR" dirty="0"/>
              <a:t>, etc.</a:t>
            </a:r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C215DBA9-AC1D-4F2E-BF52-FFF7BD9317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2794422"/>
              </p:ext>
            </p:extLst>
          </p:nvPr>
        </p:nvGraphicFramePr>
        <p:xfrm>
          <a:off x="338843" y="2571884"/>
          <a:ext cx="9270378" cy="387704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86210">
                  <a:extLst>
                    <a:ext uri="{9D8B030D-6E8A-4147-A177-3AD203B41FA5}">
                      <a16:colId xmlns:a16="http://schemas.microsoft.com/office/drawing/2014/main" val="3484781549"/>
                    </a:ext>
                  </a:extLst>
                </a:gridCol>
                <a:gridCol w="4594042">
                  <a:extLst>
                    <a:ext uri="{9D8B030D-6E8A-4147-A177-3AD203B41FA5}">
                      <a16:colId xmlns:a16="http://schemas.microsoft.com/office/drawing/2014/main" val="483442425"/>
                    </a:ext>
                  </a:extLst>
                </a:gridCol>
                <a:gridCol w="3090126">
                  <a:extLst>
                    <a:ext uri="{9D8B030D-6E8A-4147-A177-3AD203B41FA5}">
                      <a16:colId xmlns:a16="http://schemas.microsoft.com/office/drawing/2014/main" val="4021107593"/>
                    </a:ext>
                  </a:extLst>
                </a:gridCol>
              </a:tblGrid>
              <a:tr h="38792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</a:rPr>
                        <a:t>Função</a:t>
                      </a:r>
                      <a:endParaRPr lang="pt-B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0075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</a:rPr>
                        <a:t>Uso</a:t>
                      </a:r>
                      <a:endParaRPr lang="pt-B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0075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400" dirty="0">
                          <a:effectLst/>
                        </a:rPr>
                        <a:t>Exemplo</a:t>
                      </a:r>
                      <a:endParaRPr lang="pt-B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0075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5355184"/>
                  </a:ext>
                </a:extLst>
              </a:tr>
              <a:tr h="38768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solidFill>
                            <a:schemeClr val="bg1"/>
                          </a:solidFill>
                          <a:effectLst/>
                        </a:rPr>
                        <a:t>UPPER()</a:t>
                      </a:r>
                      <a:endParaRPr lang="pt-BR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solidFill>
                            <a:schemeClr val="bg1"/>
                          </a:solidFill>
                          <a:effectLst/>
                        </a:rPr>
                        <a:t>Converte tudo para maiúsculo</a:t>
                      </a:r>
                      <a:endParaRPr lang="pt-BR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solidFill>
                            <a:schemeClr val="bg1"/>
                          </a:solidFill>
                          <a:effectLst/>
                        </a:rPr>
                        <a:t>UPPER(nome_cliente)</a:t>
                      </a:r>
                      <a:endParaRPr lang="pt-BR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0637061"/>
                  </a:ext>
                </a:extLst>
              </a:tr>
              <a:tr h="38768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solidFill>
                            <a:schemeClr val="bg1"/>
                          </a:solidFill>
                          <a:effectLst/>
                        </a:rPr>
                        <a:t>LOWER()</a:t>
                      </a:r>
                      <a:endParaRPr lang="pt-BR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solidFill>
                            <a:schemeClr val="bg1"/>
                          </a:solidFill>
                          <a:effectLst/>
                        </a:rPr>
                        <a:t>Converte tudo para minúsculo</a:t>
                      </a:r>
                      <a:endParaRPr lang="pt-BR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solidFill>
                            <a:schemeClr val="bg1"/>
                          </a:solidFill>
                          <a:effectLst/>
                        </a:rPr>
                        <a:t>LOWER(cidade)</a:t>
                      </a:r>
                      <a:endParaRPr lang="pt-BR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0019340"/>
                  </a:ext>
                </a:extLst>
              </a:tr>
              <a:tr h="38768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solidFill>
                            <a:schemeClr val="bg1"/>
                          </a:solidFill>
                          <a:effectLst/>
                        </a:rPr>
                        <a:t>LENGTH()</a:t>
                      </a:r>
                      <a:endParaRPr lang="pt-BR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solidFill>
                            <a:schemeClr val="bg1"/>
                          </a:solidFill>
                          <a:effectLst/>
                        </a:rPr>
                        <a:t>Retorna o número de caracteres</a:t>
                      </a:r>
                      <a:endParaRPr lang="pt-BR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solidFill>
                            <a:schemeClr val="bg1"/>
                          </a:solidFill>
                          <a:effectLst/>
                        </a:rPr>
                        <a:t>LENGTH(nome_cliente)</a:t>
                      </a:r>
                      <a:endParaRPr lang="pt-BR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3457285"/>
                  </a:ext>
                </a:extLst>
              </a:tr>
              <a:tr h="38768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solidFill>
                            <a:schemeClr val="bg1"/>
                          </a:solidFill>
                          <a:effectLst/>
                        </a:rPr>
                        <a:t>CONCAT()</a:t>
                      </a:r>
                      <a:endParaRPr lang="pt-BR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solidFill>
                            <a:schemeClr val="bg1"/>
                          </a:solidFill>
                          <a:effectLst/>
                        </a:rPr>
                        <a:t>Junta (concatena) strings</a:t>
                      </a:r>
                      <a:endParaRPr lang="pt-BR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solidFill>
                            <a:schemeClr val="bg1"/>
                          </a:solidFill>
                          <a:effectLst/>
                        </a:rPr>
                        <a:t>CONCAT(nome, ' - ', cidade)</a:t>
                      </a:r>
                      <a:endParaRPr lang="pt-BR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6265920"/>
                  </a:ext>
                </a:extLst>
              </a:tr>
              <a:tr h="38768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solidFill>
                            <a:schemeClr val="bg1"/>
                          </a:solidFill>
                          <a:effectLst/>
                        </a:rPr>
                        <a:t>LEFT()</a:t>
                      </a:r>
                      <a:endParaRPr lang="pt-BR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solidFill>
                            <a:schemeClr val="bg1"/>
                          </a:solidFill>
                          <a:effectLst/>
                        </a:rPr>
                        <a:t>Retorna os primeiros N caracteres</a:t>
                      </a:r>
                      <a:endParaRPr lang="pt-BR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solidFill>
                            <a:schemeClr val="bg1"/>
                          </a:solidFill>
                          <a:effectLst/>
                        </a:rPr>
                        <a:t>LEFT(cpf, 3)</a:t>
                      </a:r>
                      <a:endParaRPr lang="pt-BR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1911351"/>
                  </a:ext>
                </a:extLst>
              </a:tr>
              <a:tr h="38768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solidFill>
                            <a:schemeClr val="bg1"/>
                          </a:solidFill>
                          <a:effectLst/>
                        </a:rPr>
                        <a:t>RIGHT()</a:t>
                      </a:r>
                      <a:endParaRPr lang="pt-BR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solidFill>
                            <a:schemeClr val="bg1"/>
                          </a:solidFill>
                          <a:effectLst/>
                        </a:rPr>
                        <a:t>Retorna os últimos N caracteres</a:t>
                      </a:r>
                      <a:endParaRPr lang="pt-BR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400" dirty="0">
                          <a:solidFill>
                            <a:schemeClr val="bg1"/>
                          </a:solidFill>
                          <a:effectLst/>
                        </a:rPr>
                        <a:t>RIGHT(telefone, 4)</a:t>
                      </a:r>
                      <a:endParaRPr lang="pt-BR" sz="14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1694066"/>
                  </a:ext>
                </a:extLst>
              </a:tr>
              <a:tr h="38768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solidFill>
                            <a:schemeClr val="bg1"/>
                          </a:solidFill>
                          <a:effectLst/>
                        </a:rPr>
                        <a:t>SUBSTRING()</a:t>
                      </a:r>
                      <a:endParaRPr lang="pt-BR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solidFill>
                            <a:schemeClr val="bg1"/>
                          </a:solidFill>
                          <a:effectLst/>
                        </a:rPr>
                        <a:t>Retorna um trecho de texto</a:t>
                      </a:r>
                      <a:endParaRPr lang="pt-BR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solidFill>
                            <a:schemeClr val="bg1"/>
                          </a:solidFill>
                          <a:effectLst/>
                        </a:rPr>
                        <a:t>SUBSTRING(cidade, 1, 3)</a:t>
                      </a:r>
                      <a:endParaRPr lang="pt-BR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5158306"/>
                  </a:ext>
                </a:extLst>
              </a:tr>
              <a:tr h="38768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solidFill>
                            <a:schemeClr val="bg1"/>
                          </a:solidFill>
                          <a:effectLst/>
                        </a:rPr>
                        <a:t>TRIM()</a:t>
                      </a:r>
                      <a:endParaRPr lang="pt-BR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solidFill>
                            <a:schemeClr val="bg1"/>
                          </a:solidFill>
                          <a:effectLst/>
                        </a:rPr>
                        <a:t>Remove espaços extras nas pontas</a:t>
                      </a:r>
                      <a:endParaRPr lang="pt-BR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solidFill>
                            <a:schemeClr val="bg1"/>
                          </a:solidFill>
                          <a:effectLst/>
                        </a:rPr>
                        <a:t>TRIM(nome_cliente)</a:t>
                      </a:r>
                      <a:endParaRPr lang="pt-BR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5937881"/>
                  </a:ext>
                </a:extLst>
              </a:tr>
              <a:tr h="38768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solidFill>
                            <a:schemeClr val="bg1"/>
                          </a:solidFill>
                          <a:effectLst/>
                        </a:rPr>
                        <a:t>REPLACE()</a:t>
                      </a:r>
                      <a:endParaRPr lang="pt-BR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solidFill>
                            <a:schemeClr val="bg1"/>
                          </a:solidFill>
                          <a:effectLst/>
                        </a:rPr>
                        <a:t>Substitui texto</a:t>
                      </a:r>
                      <a:endParaRPr lang="pt-BR" sz="14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400" dirty="0">
                          <a:solidFill>
                            <a:schemeClr val="bg1"/>
                          </a:solidFill>
                          <a:effectLst/>
                        </a:rPr>
                        <a:t>REPLACE(cidade, 'São', 'S.')</a:t>
                      </a:r>
                      <a:endParaRPr lang="pt-BR" sz="14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37971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33767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BF4364-A6CD-4460-A48D-6779B48AD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845" y="167353"/>
            <a:ext cx="9692640" cy="1533440"/>
          </a:xfrm>
        </p:spPr>
        <p:txBody>
          <a:bodyPr>
            <a:noAutofit/>
          </a:bodyPr>
          <a:lstStyle/>
          <a:p>
            <a:r>
              <a:rPr lang="pt-BR" b="1" dirty="0">
                <a:solidFill>
                  <a:srgbClr val="00758F"/>
                </a:solidFill>
              </a:rPr>
              <a:t>Consultas com Funções: </a:t>
            </a:r>
            <a:br>
              <a:rPr lang="pt-BR" b="1" dirty="0">
                <a:solidFill>
                  <a:srgbClr val="00758F"/>
                </a:solidFill>
              </a:rPr>
            </a:br>
            <a:r>
              <a:rPr lang="pt-BR" b="1" dirty="0">
                <a:solidFill>
                  <a:srgbClr val="F39211"/>
                </a:solidFill>
              </a:rPr>
              <a:t>1.1</a:t>
            </a:r>
            <a:r>
              <a:rPr lang="pt-BR" b="1" dirty="0">
                <a:solidFill>
                  <a:srgbClr val="00758F"/>
                </a:solidFill>
              </a:rPr>
              <a:t> </a:t>
            </a:r>
            <a:r>
              <a:rPr lang="pt-BR" b="1" dirty="0">
                <a:solidFill>
                  <a:srgbClr val="F39211"/>
                </a:solidFill>
              </a:rPr>
              <a:t>Funções de </a:t>
            </a:r>
            <a:r>
              <a:rPr lang="pt-BR" b="1" dirty="0" err="1">
                <a:solidFill>
                  <a:srgbClr val="F39211"/>
                </a:solidFill>
              </a:rPr>
              <a:t>String</a:t>
            </a:r>
            <a:endParaRPr lang="pt-BR" sz="3600" dirty="0">
              <a:solidFill>
                <a:srgbClr val="F39211"/>
              </a:solidFill>
            </a:endParaRPr>
          </a:p>
        </p:txBody>
      </p:sp>
      <p:pic>
        <p:nvPicPr>
          <p:cNvPr id="4" name="Picture 6" descr="https://www.mysql.com/common/logos/logo-mysql-170x115.png">
            <a:extLst>
              <a:ext uri="{FF2B5EF4-FFF2-40B4-BE49-F238E27FC236}">
                <a16:creationId xmlns:a16="http://schemas.microsoft.com/office/drawing/2014/main" id="{441DFD02-E8A2-4690-9CD7-1CC407F20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793" y="5753675"/>
            <a:ext cx="1385775" cy="936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AF06CEA4-1D6A-4FB2-B738-A9362ADA1CCA}"/>
              </a:ext>
            </a:extLst>
          </p:cNvPr>
          <p:cNvSpPr txBox="1"/>
          <p:nvPr/>
        </p:nvSpPr>
        <p:spPr>
          <a:xfrm>
            <a:off x="338844" y="1813173"/>
            <a:ext cx="10088523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Exemplos práticos com o </a:t>
            </a:r>
            <a:r>
              <a:rPr lang="pt-BR" sz="2000" b="1" dirty="0" err="1"/>
              <a:t>sistema_loja</a:t>
            </a:r>
            <a:r>
              <a:rPr lang="pt-BR" sz="2000" b="1" dirty="0"/>
              <a:t>:</a:t>
            </a:r>
          </a:p>
          <a:p>
            <a:endParaRPr lang="pt-BR" sz="2000" dirty="0"/>
          </a:p>
          <a:p>
            <a:r>
              <a:rPr lang="pt-BR" sz="2000" b="1" dirty="0"/>
              <a:t>1 - Mostrar os nomes dos clientes em letras maiúsculas:</a:t>
            </a:r>
            <a:br>
              <a:rPr lang="pt-BR" sz="2000" dirty="0"/>
            </a:br>
            <a:r>
              <a:rPr lang="pt-BR" sz="2000" b="1" dirty="0">
                <a:solidFill>
                  <a:srgbClr val="0000FF"/>
                </a:solidFill>
              </a:rPr>
              <a:t>SELECT</a:t>
            </a:r>
            <a:r>
              <a:rPr lang="pt-BR" sz="2000" dirty="0"/>
              <a:t> </a:t>
            </a:r>
            <a:r>
              <a:rPr lang="pt-BR" sz="2000" b="1" dirty="0">
                <a:solidFill>
                  <a:srgbClr val="0000FF"/>
                </a:solidFill>
              </a:rPr>
              <a:t>UPPER</a:t>
            </a:r>
            <a:r>
              <a:rPr lang="pt-BR" sz="2000" b="1" dirty="0"/>
              <a:t>(</a:t>
            </a:r>
            <a:r>
              <a:rPr lang="pt-BR" sz="2000" dirty="0" err="1">
                <a:solidFill>
                  <a:schemeClr val="bg1">
                    <a:lumMod val="50000"/>
                  </a:schemeClr>
                </a:solidFill>
              </a:rPr>
              <a:t>nome_cliente</a:t>
            </a:r>
            <a:r>
              <a:rPr lang="pt-BR" sz="2000" b="1" dirty="0"/>
              <a:t>)</a:t>
            </a:r>
            <a:r>
              <a:rPr lang="pt-BR" sz="2000" dirty="0"/>
              <a:t> </a:t>
            </a:r>
            <a:r>
              <a:rPr lang="pt-BR" sz="2000" b="1" dirty="0">
                <a:solidFill>
                  <a:srgbClr val="0000FF"/>
                </a:solidFill>
              </a:rPr>
              <a:t>AS</a:t>
            </a:r>
            <a:r>
              <a:rPr lang="pt-BR" sz="2000" dirty="0"/>
              <a:t> </a:t>
            </a:r>
            <a:r>
              <a:rPr lang="pt-BR" sz="2000" dirty="0" err="1">
                <a:solidFill>
                  <a:schemeClr val="bg1">
                    <a:lumMod val="50000"/>
                  </a:schemeClr>
                </a:solidFill>
              </a:rPr>
              <a:t>nome_maiusculo</a:t>
            </a:r>
            <a:br>
              <a:rPr lang="pt-BR" sz="2000" dirty="0"/>
            </a:br>
            <a:r>
              <a:rPr lang="pt-BR" sz="2000" b="1" dirty="0">
                <a:solidFill>
                  <a:srgbClr val="0000FF"/>
                </a:solidFill>
              </a:rPr>
              <a:t>FROM</a:t>
            </a:r>
            <a:r>
              <a:rPr lang="pt-BR" sz="2000" dirty="0"/>
              <a:t>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</a:rPr>
              <a:t>clientes</a:t>
            </a:r>
            <a:r>
              <a:rPr lang="pt-BR" sz="2000" b="1" dirty="0"/>
              <a:t>;</a:t>
            </a:r>
          </a:p>
          <a:p>
            <a:endParaRPr lang="pt-BR" sz="2000" dirty="0"/>
          </a:p>
          <a:p>
            <a:r>
              <a:rPr lang="pt-BR" sz="2000" b="1" dirty="0"/>
              <a:t>2 - Mostrar a quantidade de caracteres do nome do cliente:</a:t>
            </a:r>
            <a:br>
              <a:rPr lang="pt-BR" sz="2000" b="1" dirty="0"/>
            </a:br>
            <a:r>
              <a:rPr lang="pt-BR" sz="2000" b="1" dirty="0">
                <a:solidFill>
                  <a:srgbClr val="0000FF"/>
                </a:solidFill>
              </a:rPr>
              <a:t>SELECT</a:t>
            </a:r>
            <a:r>
              <a:rPr lang="pt-BR" sz="2000" dirty="0"/>
              <a:t> </a:t>
            </a:r>
            <a:r>
              <a:rPr lang="pt-BR" sz="2000" dirty="0" err="1">
                <a:solidFill>
                  <a:schemeClr val="bg1">
                    <a:lumMod val="50000"/>
                  </a:schemeClr>
                </a:solidFill>
              </a:rPr>
              <a:t>nome_cliente</a:t>
            </a:r>
            <a:r>
              <a:rPr lang="pt-BR" sz="2000" b="1" dirty="0"/>
              <a:t>,</a:t>
            </a:r>
            <a:r>
              <a:rPr lang="pt-BR" sz="2000" dirty="0"/>
              <a:t> </a:t>
            </a:r>
            <a:r>
              <a:rPr lang="pt-BR" sz="2000" b="1" dirty="0">
                <a:solidFill>
                  <a:srgbClr val="0000FF"/>
                </a:solidFill>
              </a:rPr>
              <a:t>LENGTH</a:t>
            </a:r>
            <a:r>
              <a:rPr lang="pt-BR" sz="2000" b="1" dirty="0"/>
              <a:t>(</a:t>
            </a:r>
            <a:r>
              <a:rPr lang="pt-BR" sz="2000" dirty="0" err="1">
                <a:solidFill>
                  <a:schemeClr val="bg1">
                    <a:lumMod val="50000"/>
                  </a:schemeClr>
                </a:solidFill>
              </a:rPr>
              <a:t>nome_cliente</a:t>
            </a:r>
            <a:r>
              <a:rPr lang="pt-BR" sz="2000" b="1" dirty="0"/>
              <a:t>)</a:t>
            </a:r>
            <a:r>
              <a:rPr lang="pt-BR" sz="2000" dirty="0"/>
              <a:t> </a:t>
            </a:r>
            <a:r>
              <a:rPr lang="pt-BR" sz="2000" b="1" dirty="0">
                <a:solidFill>
                  <a:srgbClr val="0000FF"/>
                </a:solidFill>
              </a:rPr>
              <a:t>AS</a:t>
            </a:r>
            <a:r>
              <a:rPr lang="pt-BR" sz="2000" dirty="0"/>
              <a:t> </a:t>
            </a:r>
            <a:r>
              <a:rPr lang="pt-BR" sz="2000" dirty="0" err="1">
                <a:solidFill>
                  <a:schemeClr val="bg1">
                    <a:lumMod val="50000"/>
                  </a:schemeClr>
                </a:solidFill>
              </a:rPr>
              <a:t>qtde_letras</a:t>
            </a:r>
            <a:br>
              <a:rPr lang="pt-BR" sz="2000" dirty="0"/>
            </a:br>
            <a:r>
              <a:rPr lang="pt-BR" sz="2000" b="1" dirty="0">
                <a:solidFill>
                  <a:srgbClr val="0000FF"/>
                </a:solidFill>
              </a:rPr>
              <a:t>FROM</a:t>
            </a:r>
            <a:r>
              <a:rPr lang="pt-BR" sz="2000" dirty="0"/>
              <a:t>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</a:rPr>
              <a:t>clientes</a:t>
            </a:r>
            <a:r>
              <a:rPr lang="pt-BR" sz="2000" b="1" dirty="0"/>
              <a:t>;</a:t>
            </a:r>
          </a:p>
          <a:p>
            <a:endParaRPr lang="pt-BR" sz="2000" dirty="0"/>
          </a:p>
          <a:p>
            <a:r>
              <a:rPr lang="pt-BR" sz="2000" b="1" dirty="0"/>
              <a:t>3 - Concatenar nome e cidade:</a:t>
            </a:r>
            <a:br>
              <a:rPr lang="pt-BR" sz="2000" b="1" dirty="0"/>
            </a:br>
            <a:r>
              <a:rPr lang="pt-BR" sz="2000" b="1" dirty="0">
                <a:solidFill>
                  <a:srgbClr val="0000FF"/>
                </a:solidFill>
              </a:rPr>
              <a:t>SELECT</a:t>
            </a:r>
            <a:r>
              <a:rPr lang="pt-BR" sz="2000" dirty="0"/>
              <a:t> </a:t>
            </a:r>
            <a:r>
              <a:rPr lang="pt-BR" sz="2000" b="1" dirty="0">
                <a:solidFill>
                  <a:srgbClr val="0000FF"/>
                </a:solidFill>
              </a:rPr>
              <a:t>CONCAT</a:t>
            </a:r>
            <a:r>
              <a:rPr lang="pt-BR" sz="2000" b="1" dirty="0"/>
              <a:t>(</a:t>
            </a:r>
            <a:r>
              <a:rPr lang="pt-BR" sz="2000" dirty="0" err="1">
                <a:solidFill>
                  <a:schemeClr val="bg1">
                    <a:lumMod val="50000"/>
                  </a:schemeClr>
                </a:solidFill>
              </a:rPr>
              <a:t>nome_cliente</a:t>
            </a:r>
            <a:r>
              <a:rPr lang="pt-BR" sz="2000" b="1" dirty="0"/>
              <a:t>,</a:t>
            </a:r>
            <a:r>
              <a:rPr lang="pt-BR" sz="2000" dirty="0"/>
              <a:t>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</a:rPr>
              <a:t>' - '</a:t>
            </a:r>
            <a:r>
              <a:rPr lang="pt-BR" sz="2000" b="1" dirty="0"/>
              <a:t>,</a:t>
            </a:r>
            <a:r>
              <a:rPr lang="pt-BR" sz="2000" dirty="0"/>
              <a:t>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</a:rPr>
              <a:t>cidade</a:t>
            </a:r>
            <a:r>
              <a:rPr lang="pt-BR" sz="2000" b="1" dirty="0"/>
              <a:t>)</a:t>
            </a:r>
            <a:r>
              <a:rPr lang="pt-BR" sz="2000" dirty="0"/>
              <a:t> </a:t>
            </a:r>
            <a:r>
              <a:rPr lang="pt-BR" sz="2000" b="1" dirty="0">
                <a:solidFill>
                  <a:srgbClr val="0000FF"/>
                </a:solidFill>
              </a:rPr>
              <a:t>AS</a:t>
            </a:r>
            <a:r>
              <a:rPr lang="pt-BR" sz="2000" dirty="0"/>
              <a:t> </a:t>
            </a:r>
            <a:r>
              <a:rPr lang="pt-BR" sz="2000" dirty="0" err="1">
                <a:solidFill>
                  <a:schemeClr val="bg1">
                    <a:lumMod val="50000"/>
                  </a:schemeClr>
                </a:solidFill>
              </a:rPr>
              <a:t>cliente_local</a:t>
            </a:r>
            <a:br>
              <a:rPr lang="pt-BR" sz="2000" dirty="0"/>
            </a:br>
            <a:r>
              <a:rPr lang="pt-BR" sz="2000" b="1" dirty="0">
                <a:solidFill>
                  <a:srgbClr val="0000FF"/>
                </a:solidFill>
              </a:rPr>
              <a:t>FROM</a:t>
            </a:r>
            <a:r>
              <a:rPr lang="pt-BR" sz="2000" dirty="0"/>
              <a:t>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</a:rPr>
              <a:t>clientes</a:t>
            </a:r>
            <a:r>
              <a:rPr lang="pt-BR" sz="2000" b="1" dirty="0"/>
              <a:t>;</a:t>
            </a:r>
            <a:endParaRPr lang="pt-BR" sz="2000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635271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BF4364-A6CD-4460-A48D-6779B48AD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845" y="167353"/>
            <a:ext cx="9692640" cy="1533440"/>
          </a:xfrm>
        </p:spPr>
        <p:txBody>
          <a:bodyPr>
            <a:noAutofit/>
          </a:bodyPr>
          <a:lstStyle/>
          <a:p>
            <a:r>
              <a:rPr lang="pt-BR" b="1" dirty="0">
                <a:solidFill>
                  <a:srgbClr val="00758F"/>
                </a:solidFill>
              </a:rPr>
              <a:t>Consultas com Funções: </a:t>
            </a:r>
            <a:br>
              <a:rPr lang="pt-BR" b="1" dirty="0">
                <a:solidFill>
                  <a:srgbClr val="00758F"/>
                </a:solidFill>
              </a:rPr>
            </a:br>
            <a:r>
              <a:rPr lang="pt-BR" b="1" dirty="0">
                <a:solidFill>
                  <a:srgbClr val="F39211"/>
                </a:solidFill>
              </a:rPr>
              <a:t>1.2</a:t>
            </a:r>
            <a:r>
              <a:rPr lang="pt-BR" b="1" dirty="0">
                <a:solidFill>
                  <a:srgbClr val="00758F"/>
                </a:solidFill>
              </a:rPr>
              <a:t> </a:t>
            </a:r>
            <a:r>
              <a:rPr lang="pt-BR" b="1" dirty="0">
                <a:solidFill>
                  <a:srgbClr val="F39211"/>
                </a:solidFill>
              </a:rPr>
              <a:t>Funções de </a:t>
            </a:r>
            <a:r>
              <a:rPr lang="pt-BR" b="1" dirty="0" err="1">
                <a:solidFill>
                  <a:srgbClr val="F39211"/>
                </a:solidFill>
              </a:rPr>
              <a:t>String</a:t>
            </a:r>
            <a:endParaRPr lang="pt-BR" sz="3600" dirty="0">
              <a:solidFill>
                <a:srgbClr val="F39211"/>
              </a:solidFill>
            </a:endParaRPr>
          </a:p>
        </p:txBody>
      </p:sp>
      <p:pic>
        <p:nvPicPr>
          <p:cNvPr id="4" name="Picture 6" descr="https://www.mysql.com/common/logos/logo-mysql-170x115.png">
            <a:extLst>
              <a:ext uri="{FF2B5EF4-FFF2-40B4-BE49-F238E27FC236}">
                <a16:creationId xmlns:a16="http://schemas.microsoft.com/office/drawing/2014/main" id="{441DFD02-E8A2-4690-9CD7-1CC407F20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793" y="5753675"/>
            <a:ext cx="1385775" cy="936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AF06CEA4-1D6A-4FB2-B738-A9362ADA1CCA}"/>
              </a:ext>
            </a:extLst>
          </p:cNvPr>
          <p:cNvSpPr txBox="1"/>
          <p:nvPr/>
        </p:nvSpPr>
        <p:spPr>
          <a:xfrm>
            <a:off x="338844" y="1799726"/>
            <a:ext cx="10088523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4 - Mostrar apenas os 3 primeiros dígitos do CPF:</a:t>
            </a:r>
            <a:br>
              <a:rPr lang="pt-BR" sz="2000" b="1" dirty="0"/>
            </a:br>
            <a:r>
              <a:rPr lang="pt-BR" sz="2000" b="1" dirty="0">
                <a:solidFill>
                  <a:srgbClr val="0000FF"/>
                </a:solidFill>
              </a:rPr>
              <a:t>SELECT</a:t>
            </a:r>
            <a:r>
              <a:rPr lang="pt-BR" sz="2000" dirty="0"/>
              <a:t> </a:t>
            </a:r>
            <a:r>
              <a:rPr lang="pt-BR" sz="2000" dirty="0" err="1">
                <a:solidFill>
                  <a:schemeClr val="bg1">
                    <a:lumMod val="50000"/>
                  </a:schemeClr>
                </a:solidFill>
              </a:rPr>
              <a:t>nome_cliente</a:t>
            </a:r>
            <a:r>
              <a:rPr lang="pt-BR" sz="2000" b="1" dirty="0"/>
              <a:t>,</a:t>
            </a:r>
            <a:r>
              <a:rPr lang="pt-BR" sz="2000" dirty="0"/>
              <a:t> </a:t>
            </a:r>
            <a:r>
              <a:rPr lang="pt-BR" sz="2000" b="1" dirty="0">
                <a:solidFill>
                  <a:srgbClr val="0000FF"/>
                </a:solidFill>
              </a:rPr>
              <a:t>LEFT</a:t>
            </a:r>
            <a:r>
              <a:rPr lang="pt-BR" sz="2000" b="1" dirty="0"/>
              <a:t>(</a:t>
            </a:r>
            <a:r>
              <a:rPr lang="pt-BR" sz="2000" dirty="0" err="1">
                <a:solidFill>
                  <a:schemeClr val="bg1">
                    <a:lumMod val="50000"/>
                  </a:schemeClr>
                </a:solidFill>
              </a:rPr>
              <a:t>cpf</a:t>
            </a:r>
            <a:r>
              <a:rPr lang="pt-BR" sz="2000" b="1" dirty="0"/>
              <a:t>,</a:t>
            </a:r>
            <a:r>
              <a:rPr lang="pt-BR" sz="2000" dirty="0"/>
              <a:t> </a:t>
            </a:r>
            <a:r>
              <a:rPr lang="pt-BR" sz="2000" dirty="0">
                <a:solidFill>
                  <a:srgbClr val="F39211"/>
                </a:solidFill>
              </a:rPr>
              <a:t>3</a:t>
            </a:r>
            <a:r>
              <a:rPr lang="pt-BR" sz="2000" b="1" dirty="0"/>
              <a:t>)</a:t>
            </a:r>
            <a:r>
              <a:rPr lang="pt-BR" sz="2000" dirty="0"/>
              <a:t> </a:t>
            </a:r>
            <a:r>
              <a:rPr lang="pt-BR" sz="2000" b="1" dirty="0">
                <a:solidFill>
                  <a:srgbClr val="0000FF"/>
                </a:solidFill>
              </a:rPr>
              <a:t>AS</a:t>
            </a:r>
            <a:r>
              <a:rPr lang="pt-BR" sz="2000" dirty="0"/>
              <a:t> </a:t>
            </a:r>
            <a:r>
              <a:rPr lang="pt-BR" sz="2000" dirty="0" err="1">
                <a:solidFill>
                  <a:schemeClr val="bg1">
                    <a:lumMod val="50000"/>
                  </a:schemeClr>
                </a:solidFill>
              </a:rPr>
              <a:t>inicio_cpf</a:t>
            </a:r>
            <a:br>
              <a:rPr lang="pt-BR" sz="2000" dirty="0"/>
            </a:br>
            <a:r>
              <a:rPr lang="pt-BR" sz="2000" b="1" dirty="0">
                <a:solidFill>
                  <a:srgbClr val="0000FF"/>
                </a:solidFill>
              </a:rPr>
              <a:t>FROM</a:t>
            </a:r>
            <a:r>
              <a:rPr lang="pt-BR" sz="2000" dirty="0"/>
              <a:t>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</a:rPr>
              <a:t>clientes</a:t>
            </a:r>
            <a:r>
              <a:rPr lang="pt-BR" sz="2000" b="1" dirty="0"/>
              <a:t>;</a:t>
            </a:r>
          </a:p>
          <a:p>
            <a:endParaRPr lang="pt-BR" sz="2000" dirty="0"/>
          </a:p>
          <a:p>
            <a:r>
              <a:rPr lang="pt-BR" sz="2000" b="1" dirty="0"/>
              <a:t>5 - Mostrar o DDD do telefone (assumindo formato padrão):</a:t>
            </a:r>
            <a:br>
              <a:rPr lang="pt-BR" sz="2000" b="1" dirty="0"/>
            </a:br>
            <a:r>
              <a:rPr lang="pt-BR" sz="2000" b="1" dirty="0">
                <a:solidFill>
                  <a:srgbClr val="0000FF"/>
                </a:solidFill>
              </a:rPr>
              <a:t>SELECT</a:t>
            </a:r>
            <a:r>
              <a:rPr lang="pt-BR" sz="2000" dirty="0"/>
              <a:t> </a:t>
            </a:r>
            <a:r>
              <a:rPr lang="pt-BR" sz="2000" dirty="0" err="1">
                <a:solidFill>
                  <a:schemeClr val="bg1">
                    <a:lumMod val="50000"/>
                  </a:schemeClr>
                </a:solidFill>
              </a:rPr>
              <a:t>nome_cliente</a:t>
            </a:r>
            <a:r>
              <a:rPr lang="pt-BR" sz="2000" b="1" dirty="0"/>
              <a:t>,</a:t>
            </a:r>
            <a:r>
              <a:rPr lang="pt-BR" sz="2000" dirty="0"/>
              <a:t> </a:t>
            </a:r>
            <a:r>
              <a:rPr lang="pt-BR" sz="2000" b="1" dirty="0">
                <a:solidFill>
                  <a:srgbClr val="0000FF"/>
                </a:solidFill>
              </a:rPr>
              <a:t>SUBSTRING</a:t>
            </a:r>
            <a:r>
              <a:rPr lang="pt-BR" sz="2000" b="1" dirty="0"/>
              <a:t>(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</a:rPr>
              <a:t>telefone</a:t>
            </a:r>
            <a:r>
              <a:rPr lang="pt-BR" sz="2000" b="1" dirty="0"/>
              <a:t>,</a:t>
            </a:r>
            <a:r>
              <a:rPr lang="pt-BR" sz="2000" dirty="0"/>
              <a:t> </a:t>
            </a:r>
            <a:r>
              <a:rPr lang="pt-BR" sz="2000" dirty="0">
                <a:solidFill>
                  <a:srgbClr val="F39211"/>
                </a:solidFill>
              </a:rPr>
              <a:t>2</a:t>
            </a:r>
            <a:r>
              <a:rPr lang="pt-BR" sz="2000" b="1" dirty="0"/>
              <a:t>,</a:t>
            </a:r>
            <a:r>
              <a:rPr lang="pt-BR" sz="2000" dirty="0"/>
              <a:t> 2</a:t>
            </a:r>
            <a:r>
              <a:rPr lang="pt-BR" sz="2000" b="1" dirty="0">
                <a:solidFill>
                  <a:srgbClr val="F39211"/>
                </a:solidFill>
              </a:rPr>
              <a:t>)</a:t>
            </a:r>
            <a:r>
              <a:rPr lang="pt-BR" sz="2000" dirty="0"/>
              <a:t> </a:t>
            </a:r>
            <a:r>
              <a:rPr lang="pt-BR" sz="2000" b="1" dirty="0">
                <a:solidFill>
                  <a:srgbClr val="0000FF"/>
                </a:solidFill>
              </a:rPr>
              <a:t>AS</a:t>
            </a:r>
            <a:r>
              <a:rPr lang="pt-BR" sz="2000" dirty="0"/>
              <a:t> </a:t>
            </a:r>
            <a:r>
              <a:rPr lang="pt-BR" sz="2000" dirty="0" err="1">
                <a:solidFill>
                  <a:schemeClr val="bg1">
                    <a:lumMod val="50000"/>
                  </a:schemeClr>
                </a:solidFill>
              </a:rPr>
              <a:t>ddd</a:t>
            </a:r>
            <a:br>
              <a:rPr lang="pt-BR" sz="2000" dirty="0"/>
            </a:br>
            <a:r>
              <a:rPr lang="pt-BR" sz="2000" b="1" dirty="0">
                <a:solidFill>
                  <a:srgbClr val="0000FF"/>
                </a:solidFill>
              </a:rPr>
              <a:t>FROM</a:t>
            </a:r>
            <a:r>
              <a:rPr lang="pt-BR" sz="2000" dirty="0"/>
              <a:t>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</a:rPr>
              <a:t>clientes</a:t>
            </a:r>
            <a:r>
              <a:rPr lang="pt-BR" sz="2000" b="1" dirty="0"/>
              <a:t>;</a:t>
            </a:r>
          </a:p>
          <a:p>
            <a:endParaRPr lang="pt-BR" sz="2000" b="1" dirty="0"/>
          </a:p>
          <a:p>
            <a:r>
              <a:rPr lang="pt-BR" b="1" dirty="0"/>
              <a:t>6 - Mostrar nome do produto com “Monitor” substituído por “Tela”:</a:t>
            </a:r>
            <a:endParaRPr lang="pt-BR" sz="2000" b="1" dirty="0"/>
          </a:p>
          <a:p>
            <a:r>
              <a:rPr lang="pt-BR" b="1" dirty="0">
                <a:solidFill>
                  <a:srgbClr val="0000FF"/>
                </a:solidFill>
              </a:rPr>
              <a:t>SELECT</a:t>
            </a:r>
            <a:r>
              <a:rPr lang="pt-BR" dirty="0"/>
              <a:t> </a:t>
            </a:r>
            <a:r>
              <a:rPr lang="pt-BR" b="1" dirty="0">
                <a:solidFill>
                  <a:srgbClr val="0000FF"/>
                </a:solidFill>
              </a:rPr>
              <a:t>REPLACE</a:t>
            </a:r>
            <a:r>
              <a:rPr lang="pt-BR" b="1" dirty="0"/>
              <a:t>(</a:t>
            </a:r>
            <a:r>
              <a:rPr lang="pt-BR" dirty="0" err="1">
                <a:solidFill>
                  <a:schemeClr val="bg1">
                    <a:lumMod val="50000"/>
                  </a:schemeClr>
                </a:solidFill>
              </a:rPr>
              <a:t>nome_produto</a:t>
            </a:r>
            <a:r>
              <a:rPr lang="pt-BR" b="1" dirty="0"/>
              <a:t>,</a:t>
            </a:r>
            <a:r>
              <a:rPr lang="pt-BR" dirty="0"/>
              <a:t> '</a:t>
            </a:r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Monitor</a:t>
            </a:r>
            <a:r>
              <a:rPr lang="pt-BR" dirty="0"/>
              <a:t>'</a:t>
            </a:r>
            <a:r>
              <a:rPr lang="pt-BR" b="1" dirty="0"/>
              <a:t>,</a:t>
            </a:r>
            <a:r>
              <a:rPr lang="pt-BR" dirty="0"/>
              <a:t> </a:t>
            </a:r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'Tela</a:t>
            </a:r>
            <a:r>
              <a:rPr lang="pt-BR" dirty="0"/>
              <a:t>'</a:t>
            </a:r>
            <a:r>
              <a:rPr lang="pt-BR" b="1" dirty="0"/>
              <a:t>)</a:t>
            </a:r>
            <a:r>
              <a:rPr lang="pt-BR" dirty="0"/>
              <a:t> </a:t>
            </a:r>
            <a:r>
              <a:rPr lang="pt-BR" b="1" dirty="0">
                <a:solidFill>
                  <a:srgbClr val="0000FF"/>
                </a:solidFill>
              </a:rPr>
              <a:t>AS</a:t>
            </a:r>
            <a:r>
              <a:rPr lang="pt-BR" dirty="0"/>
              <a:t> </a:t>
            </a:r>
            <a:r>
              <a:rPr lang="pt-BR" dirty="0" err="1">
                <a:solidFill>
                  <a:schemeClr val="bg1">
                    <a:lumMod val="50000"/>
                  </a:schemeClr>
                </a:solidFill>
              </a:rPr>
              <a:t>nome_editado</a:t>
            </a:r>
            <a:br>
              <a:rPr lang="pt-BR" dirty="0"/>
            </a:br>
            <a:r>
              <a:rPr lang="pt-BR" b="1" dirty="0">
                <a:solidFill>
                  <a:srgbClr val="0000FF"/>
                </a:solidFill>
              </a:rPr>
              <a:t>FROM</a:t>
            </a:r>
            <a:r>
              <a:rPr lang="pt-BR" dirty="0"/>
              <a:t> </a:t>
            </a:r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produtos</a:t>
            </a:r>
            <a:r>
              <a:rPr lang="pt-BR" b="1" dirty="0"/>
              <a:t>;</a:t>
            </a:r>
            <a:endParaRPr lang="pt-BR" sz="2000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049008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BF4364-A6CD-4460-A48D-6779B48AD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845" y="167353"/>
            <a:ext cx="9692640" cy="1533440"/>
          </a:xfrm>
        </p:spPr>
        <p:txBody>
          <a:bodyPr>
            <a:noAutofit/>
          </a:bodyPr>
          <a:lstStyle/>
          <a:p>
            <a:r>
              <a:rPr lang="pt-BR" sz="4200" b="1" dirty="0">
                <a:solidFill>
                  <a:srgbClr val="00758F"/>
                </a:solidFill>
              </a:rPr>
              <a:t>Consultas com Funções: </a:t>
            </a:r>
            <a:br>
              <a:rPr lang="pt-BR" sz="4200" b="1" dirty="0">
                <a:solidFill>
                  <a:srgbClr val="00758F"/>
                </a:solidFill>
              </a:rPr>
            </a:br>
            <a:r>
              <a:rPr lang="pt-BR" sz="4200" b="1" dirty="0">
                <a:solidFill>
                  <a:srgbClr val="F39211"/>
                </a:solidFill>
              </a:rPr>
              <a:t>1.3</a:t>
            </a:r>
            <a:r>
              <a:rPr lang="pt-BR" sz="4200" b="1" dirty="0">
                <a:solidFill>
                  <a:srgbClr val="00758F"/>
                </a:solidFill>
              </a:rPr>
              <a:t> </a:t>
            </a:r>
            <a:r>
              <a:rPr lang="pt-BR" sz="4200" b="1" dirty="0">
                <a:solidFill>
                  <a:srgbClr val="F39211"/>
                </a:solidFill>
              </a:rPr>
              <a:t>Funções de </a:t>
            </a:r>
            <a:r>
              <a:rPr lang="pt-BR" sz="4200" b="1" dirty="0" err="1">
                <a:solidFill>
                  <a:srgbClr val="F39211"/>
                </a:solidFill>
              </a:rPr>
              <a:t>String</a:t>
            </a:r>
            <a:r>
              <a:rPr lang="pt-BR" sz="4200" b="1" dirty="0">
                <a:solidFill>
                  <a:srgbClr val="F39211"/>
                </a:solidFill>
              </a:rPr>
              <a:t> (Exercícios)</a:t>
            </a:r>
            <a:endParaRPr lang="pt-BR" sz="4200" dirty="0">
              <a:solidFill>
                <a:srgbClr val="F39211"/>
              </a:solidFill>
            </a:endParaRPr>
          </a:p>
        </p:txBody>
      </p:sp>
      <p:pic>
        <p:nvPicPr>
          <p:cNvPr id="4" name="Picture 6" descr="https://www.mysql.com/common/logos/logo-mysql-170x115.png">
            <a:extLst>
              <a:ext uri="{FF2B5EF4-FFF2-40B4-BE49-F238E27FC236}">
                <a16:creationId xmlns:a16="http://schemas.microsoft.com/office/drawing/2014/main" id="{441DFD02-E8A2-4690-9CD7-1CC407F20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793" y="5753675"/>
            <a:ext cx="1385775" cy="936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AF06CEA4-1D6A-4FB2-B738-A9362ADA1CCA}"/>
              </a:ext>
            </a:extLst>
          </p:cNvPr>
          <p:cNvSpPr txBox="1"/>
          <p:nvPr/>
        </p:nvSpPr>
        <p:spPr>
          <a:xfrm>
            <a:off x="338844" y="1799726"/>
            <a:ext cx="10088523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Exercício 1:</a:t>
            </a:r>
            <a:r>
              <a:rPr lang="pt-BR" sz="2400" dirty="0"/>
              <a:t> Mostre os nomes dos produtos em letras minúsculas.</a:t>
            </a:r>
            <a:br>
              <a:rPr lang="pt-BR" sz="2400" dirty="0"/>
            </a:br>
            <a:endParaRPr lang="pt-BR" sz="2400" dirty="0"/>
          </a:p>
          <a:p>
            <a:r>
              <a:rPr lang="pt-BR" sz="2400" b="1" dirty="0"/>
              <a:t>Exercício 2:</a:t>
            </a:r>
            <a:r>
              <a:rPr lang="pt-BR" sz="2400" dirty="0"/>
              <a:t> Mostre os 4 últimos caracteres do telefone de cada cliente.</a:t>
            </a:r>
            <a:br>
              <a:rPr lang="pt-BR" sz="2400" dirty="0"/>
            </a:br>
            <a:endParaRPr lang="pt-BR" sz="2400" dirty="0"/>
          </a:p>
          <a:p>
            <a:r>
              <a:rPr lang="pt-BR" sz="2400" b="1" dirty="0"/>
              <a:t>Exercício 3 (desafio):</a:t>
            </a:r>
            <a:r>
              <a:rPr lang="pt-BR" sz="2400" dirty="0"/>
              <a:t> Mostre uma coluna chamada </a:t>
            </a:r>
            <a:r>
              <a:rPr lang="pt-BR" sz="2400" dirty="0" err="1"/>
              <a:t>cliente_detalhe</a:t>
            </a:r>
            <a:r>
              <a:rPr lang="pt-BR" sz="2400" dirty="0"/>
              <a:t> contendo:</a:t>
            </a:r>
            <a:br>
              <a:rPr lang="pt-BR" sz="2400" dirty="0"/>
            </a:br>
            <a:r>
              <a:rPr lang="pt-BR" sz="2400" dirty="0"/>
              <a:t>“NOME (CIDADE - ESTADO)” → </a:t>
            </a:r>
            <a:r>
              <a:rPr lang="pt-BR" sz="2400" dirty="0" err="1"/>
              <a:t>Ex</a:t>
            </a:r>
            <a:r>
              <a:rPr lang="pt-BR" sz="2400" dirty="0"/>
              <a:t>: </a:t>
            </a:r>
            <a:r>
              <a:rPr lang="pt-BR" sz="2400" b="1" dirty="0"/>
              <a:t>Ana Souza (São Paulo - SP)</a:t>
            </a:r>
            <a:br>
              <a:rPr lang="pt-BR" b="1" dirty="0"/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653192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BF4364-A6CD-4460-A48D-6779B48AD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845" y="135597"/>
            <a:ext cx="9692640" cy="1533440"/>
          </a:xfrm>
        </p:spPr>
        <p:txBody>
          <a:bodyPr>
            <a:noAutofit/>
          </a:bodyPr>
          <a:lstStyle/>
          <a:p>
            <a:r>
              <a:rPr lang="pt-BR" sz="3400" b="1" dirty="0">
                <a:solidFill>
                  <a:srgbClr val="00758F"/>
                </a:solidFill>
              </a:rPr>
              <a:t>Consultas com Funções: </a:t>
            </a:r>
            <a:br>
              <a:rPr lang="pt-BR" sz="3400" b="1" dirty="0">
                <a:solidFill>
                  <a:srgbClr val="00758F"/>
                </a:solidFill>
              </a:rPr>
            </a:br>
            <a:r>
              <a:rPr lang="pt-BR" sz="3400" b="1" dirty="0">
                <a:solidFill>
                  <a:srgbClr val="F39211"/>
                </a:solidFill>
              </a:rPr>
              <a:t>1.4</a:t>
            </a:r>
            <a:r>
              <a:rPr lang="pt-BR" sz="3400" b="1" dirty="0">
                <a:solidFill>
                  <a:srgbClr val="00758F"/>
                </a:solidFill>
              </a:rPr>
              <a:t> </a:t>
            </a:r>
            <a:r>
              <a:rPr lang="pt-BR" sz="3400" b="1" dirty="0">
                <a:solidFill>
                  <a:srgbClr val="F39211"/>
                </a:solidFill>
              </a:rPr>
              <a:t>Funções de </a:t>
            </a:r>
            <a:r>
              <a:rPr lang="pt-BR" sz="3400" b="1" dirty="0" err="1">
                <a:solidFill>
                  <a:srgbClr val="F39211"/>
                </a:solidFill>
              </a:rPr>
              <a:t>String</a:t>
            </a:r>
            <a:r>
              <a:rPr lang="pt-BR" sz="3400" b="1" dirty="0">
                <a:solidFill>
                  <a:srgbClr val="F39211"/>
                </a:solidFill>
              </a:rPr>
              <a:t> (Exercícios - Respostas)</a:t>
            </a:r>
            <a:endParaRPr lang="pt-BR" sz="3400" dirty="0">
              <a:solidFill>
                <a:srgbClr val="F39211"/>
              </a:solidFill>
            </a:endParaRPr>
          </a:p>
        </p:txBody>
      </p:sp>
      <p:pic>
        <p:nvPicPr>
          <p:cNvPr id="4" name="Picture 6" descr="https://www.mysql.com/common/logos/logo-mysql-170x115.png">
            <a:extLst>
              <a:ext uri="{FF2B5EF4-FFF2-40B4-BE49-F238E27FC236}">
                <a16:creationId xmlns:a16="http://schemas.microsoft.com/office/drawing/2014/main" id="{441DFD02-E8A2-4690-9CD7-1CC407F20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793" y="5753675"/>
            <a:ext cx="1385775" cy="936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AF06CEA4-1D6A-4FB2-B738-A9362ADA1CCA}"/>
              </a:ext>
            </a:extLst>
          </p:cNvPr>
          <p:cNvSpPr txBox="1"/>
          <p:nvPr/>
        </p:nvSpPr>
        <p:spPr>
          <a:xfrm>
            <a:off x="338845" y="1669037"/>
            <a:ext cx="10088523" cy="52168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100" b="1" dirty="0"/>
              <a:t>Exercício 1:</a:t>
            </a:r>
            <a:r>
              <a:rPr lang="pt-BR" sz="2100" dirty="0"/>
              <a:t> Mostre os nomes dos produtos em letras minúsculas.</a:t>
            </a:r>
            <a:br>
              <a:rPr lang="pt-BR" sz="2100" dirty="0"/>
            </a:br>
            <a:r>
              <a:rPr lang="pt-BR" sz="2100" dirty="0"/>
              <a:t>Resposta:</a:t>
            </a:r>
            <a:br>
              <a:rPr lang="pt-BR" sz="2100" dirty="0"/>
            </a:br>
            <a:r>
              <a:rPr lang="pt-BR" sz="2100" b="1" dirty="0">
                <a:solidFill>
                  <a:srgbClr val="0000FF"/>
                </a:solidFill>
              </a:rPr>
              <a:t>SELECT</a:t>
            </a:r>
            <a:r>
              <a:rPr lang="pt-BR" sz="2100" dirty="0"/>
              <a:t> </a:t>
            </a:r>
            <a:r>
              <a:rPr lang="pt-BR" sz="2100" b="1" dirty="0">
                <a:solidFill>
                  <a:srgbClr val="0000FF"/>
                </a:solidFill>
              </a:rPr>
              <a:t>LOWER</a:t>
            </a:r>
            <a:r>
              <a:rPr lang="pt-BR" sz="2100" b="1" dirty="0"/>
              <a:t>(</a:t>
            </a:r>
            <a:r>
              <a:rPr lang="pt-BR" sz="2100" dirty="0" err="1">
                <a:solidFill>
                  <a:schemeClr val="bg1">
                    <a:lumMod val="50000"/>
                  </a:schemeClr>
                </a:solidFill>
              </a:rPr>
              <a:t>nome_produto</a:t>
            </a:r>
            <a:r>
              <a:rPr lang="pt-BR" sz="2100" b="1" dirty="0"/>
              <a:t>)</a:t>
            </a:r>
            <a:r>
              <a:rPr lang="pt-BR" sz="2100" dirty="0"/>
              <a:t> </a:t>
            </a:r>
            <a:r>
              <a:rPr lang="pt-BR" sz="2100" b="1" dirty="0">
                <a:solidFill>
                  <a:srgbClr val="0000FF"/>
                </a:solidFill>
              </a:rPr>
              <a:t>FROM</a:t>
            </a:r>
            <a:r>
              <a:rPr lang="pt-BR" sz="2100" dirty="0"/>
              <a:t> </a:t>
            </a:r>
            <a:r>
              <a:rPr lang="pt-BR" sz="2100" dirty="0">
                <a:solidFill>
                  <a:schemeClr val="bg1">
                    <a:lumMod val="50000"/>
                  </a:schemeClr>
                </a:solidFill>
              </a:rPr>
              <a:t>produtos</a:t>
            </a:r>
            <a:r>
              <a:rPr lang="pt-BR" sz="2100" b="1" dirty="0"/>
              <a:t>;</a:t>
            </a:r>
          </a:p>
          <a:p>
            <a:endParaRPr lang="pt-BR" sz="2100" dirty="0"/>
          </a:p>
          <a:p>
            <a:r>
              <a:rPr lang="pt-BR" sz="2100" b="1" dirty="0"/>
              <a:t>Exercício 2:</a:t>
            </a:r>
            <a:r>
              <a:rPr lang="pt-BR" sz="2100" dirty="0"/>
              <a:t> Mostre os 4 últimos caracteres do telefone de cada cliente.</a:t>
            </a:r>
            <a:br>
              <a:rPr lang="pt-BR" sz="2100" dirty="0"/>
            </a:br>
            <a:r>
              <a:rPr lang="pt-BR" sz="2100" dirty="0"/>
              <a:t>Resposta:</a:t>
            </a:r>
            <a:br>
              <a:rPr lang="pt-BR" sz="2100" dirty="0"/>
            </a:br>
            <a:r>
              <a:rPr lang="pt-BR" sz="2100" b="1" dirty="0">
                <a:solidFill>
                  <a:srgbClr val="0000FF"/>
                </a:solidFill>
              </a:rPr>
              <a:t>SELECT</a:t>
            </a:r>
            <a:r>
              <a:rPr lang="pt-BR" sz="2100" dirty="0"/>
              <a:t> </a:t>
            </a:r>
            <a:r>
              <a:rPr lang="pt-BR" sz="2100" dirty="0" err="1">
                <a:solidFill>
                  <a:schemeClr val="bg1">
                    <a:lumMod val="50000"/>
                  </a:schemeClr>
                </a:solidFill>
              </a:rPr>
              <a:t>nome_cliente</a:t>
            </a:r>
            <a:r>
              <a:rPr lang="pt-BR" sz="2100" b="1" dirty="0"/>
              <a:t>,</a:t>
            </a:r>
            <a:r>
              <a:rPr lang="pt-BR" sz="2100" dirty="0"/>
              <a:t> </a:t>
            </a:r>
            <a:r>
              <a:rPr lang="pt-BR" sz="2100" b="1" dirty="0">
                <a:solidFill>
                  <a:srgbClr val="0000FF"/>
                </a:solidFill>
              </a:rPr>
              <a:t>RIGHT</a:t>
            </a:r>
            <a:r>
              <a:rPr lang="pt-BR" sz="2100" b="1" dirty="0"/>
              <a:t>(</a:t>
            </a:r>
            <a:r>
              <a:rPr lang="pt-BR" sz="2100" dirty="0">
                <a:solidFill>
                  <a:schemeClr val="bg1">
                    <a:lumMod val="50000"/>
                  </a:schemeClr>
                </a:solidFill>
              </a:rPr>
              <a:t>telefone</a:t>
            </a:r>
            <a:r>
              <a:rPr lang="pt-BR" sz="2100" b="1" dirty="0"/>
              <a:t>,</a:t>
            </a:r>
            <a:r>
              <a:rPr lang="pt-BR" sz="2100" dirty="0"/>
              <a:t> 4</a:t>
            </a:r>
            <a:r>
              <a:rPr lang="pt-BR" sz="2100" b="1" dirty="0"/>
              <a:t>)</a:t>
            </a:r>
            <a:r>
              <a:rPr lang="pt-BR" sz="2100" dirty="0"/>
              <a:t> </a:t>
            </a:r>
            <a:r>
              <a:rPr lang="pt-BR" sz="2100" b="1" dirty="0">
                <a:solidFill>
                  <a:srgbClr val="0000FF"/>
                </a:solidFill>
              </a:rPr>
              <a:t>AS</a:t>
            </a:r>
            <a:r>
              <a:rPr lang="pt-BR" sz="2100" dirty="0"/>
              <a:t> </a:t>
            </a:r>
            <a:r>
              <a:rPr lang="pt-BR" sz="2100" dirty="0" err="1">
                <a:solidFill>
                  <a:schemeClr val="bg1">
                    <a:lumMod val="50000"/>
                  </a:schemeClr>
                </a:solidFill>
              </a:rPr>
              <a:t>final_telefone</a:t>
            </a:r>
            <a:br>
              <a:rPr lang="pt-BR" sz="2100" dirty="0"/>
            </a:br>
            <a:r>
              <a:rPr lang="pt-BR" sz="2100" b="1" dirty="0">
                <a:solidFill>
                  <a:srgbClr val="0000FF"/>
                </a:solidFill>
              </a:rPr>
              <a:t>FROM</a:t>
            </a:r>
            <a:r>
              <a:rPr lang="pt-BR" sz="2100" dirty="0"/>
              <a:t> </a:t>
            </a:r>
            <a:r>
              <a:rPr lang="pt-BR" sz="2100" dirty="0">
                <a:solidFill>
                  <a:schemeClr val="bg1">
                    <a:lumMod val="50000"/>
                  </a:schemeClr>
                </a:solidFill>
              </a:rPr>
              <a:t>clientes</a:t>
            </a:r>
            <a:r>
              <a:rPr lang="pt-BR" sz="2100" b="1" dirty="0"/>
              <a:t>;</a:t>
            </a:r>
          </a:p>
          <a:p>
            <a:endParaRPr lang="pt-BR" sz="2100" dirty="0"/>
          </a:p>
          <a:p>
            <a:r>
              <a:rPr lang="pt-BR" sz="2100" b="1" dirty="0"/>
              <a:t>Exercício 3 (desafio):</a:t>
            </a:r>
            <a:r>
              <a:rPr lang="pt-BR" sz="2100" dirty="0"/>
              <a:t> Mostre uma coluna chamada </a:t>
            </a:r>
            <a:r>
              <a:rPr lang="pt-BR" sz="2100" dirty="0" err="1"/>
              <a:t>cliente_detalhe</a:t>
            </a:r>
            <a:r>
              <a:rPr lang="pt-BR" sz="2100" dirty="0"/>
              <a:t> contendo:</a:t>
            </a:r>
            <a:br>
              <a:rPr lang="pt-BR" sz="2100" dirty="0"/>
            </a:br>
            <a:r>
              <a:rPr lang="pt-BR" sz="2100" dirty="0"/>
              <a:t>“NOME (CIDADE - ESTADO)” → </a:t>
            </a:r>
            <a:r>
              <a:rPr lang="pt-BR" sz="2100" dirty="0" err="1"/>
              <a:t>Ex</a:t>
            </a:r>
            <a:r>
              <a:rPr lang="pt-BR" sz="2100" dirty="0"/>
              <a:t>: </a:t>
            </a:r>
            <a:r>
              <a:rPr lang="pt-BR" sz="2100" b="1" dirty="0"/>
              <a:t>Ana Souza (São Paulo - SP)</a:t>
            </a:r>
          </a:p>
          <a:p>
            <a:br>
              <a:rPr lang="pt-BR" sz="2100" b="1" dirty="0"/>
            </a:br>
            <a:r>
              <a:rPr lang="pt-BR" sz="2100" b="1" dirty="0">
                <a:solidFill>
                  <a:srgbClr val="0000FF"/>
                </a:solidFill>
              </a:rPr>
              <a:t>SELECT</a:t>
            </a:r>
            <a:r>
              <a:rPr lang="pt-BR" sz="2100" dirty="0"/>
              <a:t> </a:t>
            </a:r>
            <a:br>
              <a:rPr lang="pt-BR" sz="2100" dirty="0"/>
            </a:br>
            <a:r>
              <a:rPr lang="pt-BR" sz="2100" dirty="0"/>
              <a:t>  </a:t>
            </a:r>
            <a:r>
              <a:rPr lang="pt-BR" sz="2100" b="1" dirty="0">
                <a:solidFill>
                  <a:srgbClr val="0000FF"/>
                </a:solidFill>
              </a:rPr>
              <a:t>CONCAT</a:t>
            </a:r>
            <a:r>
              <a:rPr lang="pt-BR" sz="2100" b="1" dirty="0"/>
              <a:t>(</a:t>
            </a:r>
            <a:r>
              <a:rPr lang="pt-BR" sz="2100" dirty="0" err="1">
                <a:solidFill>
                  <a:schemeClr val="bg1">
                    <a:lumMod val="50000"/>
                  </a:schemeClr>
                </a:solidFill>
              </a:rPr>
              <a:t>nome_cliente</a:t>
            </a:r>
            <a:r>
              <a:rPr lang="pt-BR" sz="2100" b="1" dirty="0"/>
              <a:t>,</a:t>
            </a:r>
            <a:r>
              <a:rPr lang="pt-BR" sz="2100" dirty="0"/>
              <a:t> ' ('</a:t>
            </a:r>
            <a:r>
              <a:rPr lang="pt-BR" sz="2100" b="1" dirty="0"/>
              <a:t>,</a:t>
            </a:r>
            <a:r>
              <a:rPr lang="pt-BR" sz="2100" dirty="0"/>
              <a:t> </a:t>
            </a:r>
            <a:r>
              <a:rPr lang="pt-BR" sz="2100" dirty="0">
                <a:solidFill>
                  <a:schemeClr val="bg1">
                    <a:lumMod val="50000"/>
                  </a:schemeClr>
                </a:solidFill>
              </a:rPr>
              <a:t>cidade</a:t>
            </a:r>
            <a:r>
              <a:rPr lang="pt-BR" sz="2100" b="1" dirty="0"/>
              <a:t>,</a:t>
            </a:r>
            <a:r>
              <a:rPr lang="pt-BR" sz="2100" dirty="0"/>
              <a:t> ' - '</a:t>
            </a:r>
            <a:r>
              <a:rPr lang="pt-BR" sz="2100" b="1" dirty="0"/>
              <a:t>,</a:t>
            </a:r>
            <a:r>
              <a:rPr lang="pt-BR" sz="2100" dirty="0"/>
              <a:t> </a:t>
            </a:r>
            <a:r>
              <a:rPr lang="pt-BR" sz="2100" dirty="0">
                <a:solidFill>
                  <a:schemeClr val="bg1">
                    <a:lumMod val="50000"/>
                  </a:schemeClr>
                </a:solidFill>
              </a:rPr>
              <a:t>estado</a:t>
            </a:r>
            <a:r>
              <a:rPr lang="pt-BR" sz="2100" b="1" dirty="0"/>
              <a:t>,</a:t>
            </a:r>
            <a:r>
              <a:rPr lang="pt-BR" sz="2100" dirty="0"/>
              <a:t> ')'</a:t>
            </a:r>
            <a:r>
              <a:rPr lang="pt-BR" sz="2100" b="1" dirty="0"/>
              <a:t>)</a:t>
            </a:r>
            <a:r>
              <a:rPr lang="pt-BR" sz="2100" dirty="0"/>
              <a:t> </a:t>
            </a:r>
            <a:r>
              <a:rPr lang="pt-BR" sz="2100" b="1" dirty="0">
                <a:solidFill>
                  <a:srgbClr val="0000FF"/>
                </a:solidFill>
              </a:rPr>
              <a:t>AS</a:t>
            </a:r>
            <a:r>
              <a:rPr lang="pt-BR" sz="2100" dirty="0"/>
              <a:t> </a:t>
            </a:r>
            <a:r>
              <a:rPr lang="pt-BR" sz="2100" dirty="0" err="1">
                <a:solidFill>
                  <a:schemeClr val="bg1">
                    <a:lumMod val="50000"/>
                  </a:schemeClr>
                </a:solidFill>
              </a:rPr>
              <a:t>cliente_detalhe</a:t>
            </a:r>
            <a:br>
              <a:rPr lang="pt-BR" sz="2100" dirty="0"/>
            </a:br>
            <a:r>
              <a:rPr lang="pt-BR" sz="2100" b="1" dirty="0">
                <a:solidFill>
                  <a:srgbClr val="0000FF"/>
                </a:solidFill>
              </a:rPr>
              <a:t>FROM</a:t>
            </a:r>
            <a:r>
              <a:rPr lang="pt-BR" sz="2100" dirty="0"/>
              <a:t> </a:t>
            </a:r>
            <a:r>
              <a:rPr lang="pt-BR" sz="2100" dirty="0">
                <a:solidFill>
                  <a:schemeClr val="bg1">
                    <a:lumMod val="50000"/>
                  </a:schemeClr>
                </a:solidFill>
              </a:rPr>
              <a:t>clientes</a:t>
            </a:r>
            <a:r>
              <a:rPr lang="pt-BR" sz="2100" b="1" dirty="0"/>
              <a:t>;</a:t>
            </a:r>
            <a:br>
              <a:rPr lang="pt-BR" b="1" dirty="0"/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16812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BF4364-A6CD-4460-A48D-6779B48AD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845" y="167352"/>
            <a:ext cx="9692640" cy="1533440"/>
          </a:xfrm>
        </p:spPr>
        <p:txBody>
          <a:bodyPr>
            <a:noAutofit/>
          </a:bodyPr>
          <a:lstStyle/>
          <a:p>
            <a:r>
              <a:rPr lang="pt-BR" sz="3400" b="1" dirty="0">
                <a:solidFill>
                  <a:srgbClr val="00758F"/>
                </a:solidFill>
              </a:rPr>
              <a:t>Consultas com Funções: </a:t>
            </a:r>
            <a:br>
              <a:rPr lang="pt-BR" sz="3400" b="1" dirty="0">
                <a:solidFill>
                  <a:srgbClr val="00758F"/>
                </a:solidFill>
              </a:rPr>
            </a:br>
            <a:r>
              <a:rPr lang="pt-BR" sz="3400" b="1" dirty="0">
                <a:solidFill>
                  <a:srgbClr val="F39211"/>
                </a:solidFill>
              </a:rPr>
              <a:t>1.0 Funções de Cálculo e Operadores Aritméticos no MySQL</a:t>
            </a:r>
            <a:endParaRPr lang="pt-BR" sz="3400" dirty="0">
              <a:solidFill>
                <a:srgbClr val="F39211"/>
              </a:solidFill>
            </a:endParaRPr>
          </a:p>
        </p:txBody>
      </p:sp>
      <p:pic>
        <p:nvPicPr>
          <p:cNvPr id="4" name="Picture 6" descr="https://www.mysql.com/common/logos/logo-mysql-170x115.png">
            <a:extLst>
              <a:ext uri="{FF2B5EF4-FFF2-40B4-BE49-F238E27FC236}">
                <a16:creationId xmlns:a16="http://schemas.microsoft.com/office/drawing/2014/main" id="{441DFD02-E8A2-4690-9CD7-1CC407F20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793" y="5753675"/>
            <a:ext cx="1385775" cy="936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AF06CEA4-1D6A-4FB2-B738-A9362ADA1CCA}"/>
              </a:ext>
            </a:extLst>
          </p:cNvPr>
          <p:cNvSpPr txBox="1"/>
          <p:nvPr/>
        </p:nvSpPr>
        <p:spPr>
          <a:xfrm>
            <a:off x="338845" y="1861542"/>
            <a:ext cx="1008852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Operadores aritméticos no MySQL podem ser usados ​​com operandos numéricos para realizar operações matemáticas em consultas SQL. </a:t>
            </a:r>
          </a:p>
          <a:p>
            <a:endParaRPr lang="pt-BR" sz="2000" dirty="0"/>
          </a:p>
          <a:p>
            <a:endParaRPr lang="pt-BR" sz="2000" dirty="0"/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F22F2640-9EE5-4170-B323-0CAD85580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4652218"/>
              </p:ext>
            </p:extLst>
          </p:nvPr>
        </p:nvGraphicFramePr>
        <p:xfrm>
          <a:off x="338845" y="2845049"/>
          <a:ext cx="8594724" cy="213720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48681">
                  <a:extLst>
                    <a:ext uri="{9D8B030D-6E8A-4147-A177-3AD203B41FA5}">
                      <a16:colId xmlns:a16="http://schemas.microsoft.com/office/drawing/2014/main" val="627124364"/>
                    </a:ext>
                  </a:extLst>
                </a:gridCol>
                <a:gridCol w="2148681">
                  <a:extLst>
                    <a:ext uri="{9D8B030D-6E8A-4147-A177-3AD203B41FA5}">
                      <a16:colId xmlns:a16="http://schemas.microsoft.com/office/drawing/2014/main" val="4268565421"/>
                    </a:ext>
                  </a:extLst>
                </a:gridCol>
                <a:gridCol w="2148681">
                  <a:extLst>
                    <a:ext uri="{9D8B030D-6E8A-4147-A177-3AD203B41FA5}">
                      <a16:colId xmlns:a16="http://schemas.microsoft.com/office/drawing/2014/main" val="1632331228"/>
                    </a:ext>
                  </a:extLst>
                </a:gridCol>
                <a:gridCol w="2148681">
                  <a:extLst>
                    <a:ext uri="{9D8B030D-6E8A-4147-A177-3AD203B41FA5}">
                      <a16:colId xmlns:a16="http://schemas.microsoft.com/office/drawing/2014/main" val="2326480020"/>
                    </a:ext>
                  </a:extLst>
                </a:gridCol>
              </a:tblGrid>
              <a:tr h="35620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600">
                          <a:solidFill>
                            <a:schemeClr val="bg1"/>
                          </a:solidFill>
                          <a:effectLst/>
                        </a:rPr>
                        <a:t>Operador</a:t>
                      </a:r>
                      <a:endParaRPr lang="pt-BR" sz="16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0075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600">
                          <a:solidFill>
                            <a:schemeClr val="bg1"/>
                          </a:solidFill>
                          <a:effectLst/>
                        </a:rPr>
                        <a:t>Significado</a:t>
                      </a:r>
                      <a:endParaRPr lang="pt-BR" sz="16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0075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600">
                          <a:solidFill>
                            <a:schemeClr val="bg1"/>
                          </a:solidFill>
                          <a:effectLst/>
                        </a:rPr>
                        <a:t>Exemplo (SQL)</a:t>
                      </a:r>
                      <a:endParaRPr lang="pt-BR" sz="16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0075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600" dirty="0">
                          <a:solidFill>
                            <a:schemeClr val="bg1"/>
                          </a:solidFill>
                          <a:effectLst/>
                        </a:rPr>
                        <a:t>Resultado</a:t>
                      </a:r>
                      <a:endParaRPr lang="pt-BR" sz="16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0075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260671"/>
                  </a:ext>
                </a:extLst>
              </a:tr>
              <a:tr h="35620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600">
                          <a:solidFill>
                            <a:schemeClr val="bg1"/>
                          </a:solidFill>
                          <a:effectLst/>
                        </a:rPr>
                        <a:t>+</a:t>
                      </a:r>
                      <a:endParaRPr lang="pt-BR" sz="16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600">
                          <a:solidFill>
                            <a:schemeClr val="bg1"/>
                          </a:solidFill>
                          <a:effectLst/>
                        </a:rPr>
                        <a:t>Soma</a:t>
                      </a:r>
                      <a:endParaRPr lang="pt-BR" sz="16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600">
                          <a:solidFill>
                            <a:schemeClr val="bg1"/>
                          </a:solidFill>
                          <a:effectLst/>
                        </a:rPr>
                        <a:t>10 + 5</a:t>
                      </a:r>
                      <a:endParaRPr lang="pt-BR" sz="16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600">
                          <a:solidFill>
                            <a:schemeClr val="bg1"/>
                          </a:solidFill>
                          <a:effectLst/>
                        </a:rPr>
                        <a:t>15</a:t>
                      </a:r>
                      <a:endParaRPr lang="pt-BR" sz="16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2381160"/>
                  </a:ext>
                </a:extLst>
              </a:tr>
              <a:tr h="35620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600">
                          <a:solidFill>
                            <a:schemeClr val="bg1"/>
                          </a:solidFill>
                          <a:effectLst/>
                        </a:rPr>
                        <a:t>-</a:t>
                      </a:r>
                      <a:endParaRPr lang="pt-BR" sz="16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600">
                          <a:solidFill>
                            <a:schemeClr val="bg1"/>
                          </a:solidFill>
                          <a:effectLst/>
                        </a:rPr>
                        <a:t>Subtração</a:t>
                      </a:r>
                      <a:endParaRPr lang="pt-BR" sz="16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600">
                          <a:solidFill>
                            <a:schemeClr val="bg1"/>
                          </a:solidFill>
                          <a:effectLst/>
                        </a:rPr>
                        <a:t>10 - 5</a:t>
                      </a:r>
                      <a:endParaRPr lang="pt-BR" sz="16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600">
                          <a:solidFill>
                            <a:schemeClr val="bg1"/>
                          </a:solidFill>
                          <a:effectLst/>
                        </a:rPr>
                        <a:t>5</a:t>
                      </a:r>
                      <a:endParaRPr lang="pt-BR" sz="16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4030560"/>
                  </a:ext>
                </a:extLst>
              </a:tr>
              <a:tr h="35620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600">
                          <a:solidFill>
                            <a:schemeClr val="bg1"/>
                          </a:solidFill>
                          <a:effectLst/>
                        </a:rPr>
                        <a:t>*</a:t>
                      </a:r>
                      <a:endParaRPr lang="pt-BR" sz="16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600">
                          <a:solidFill>
                            <a:schemeClr val="bg1"/>
                          </a:solidFill>
                          <a:effectLst/>
                        </a:rPr>
                        <a:t>Multiplicação</a:t>
                      </a:r>
                      <a:endParaRPr lang="pt-BR" sz="16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600" dirty="0">
                          <a:solidFill>
                            <a:schemeClr val="bg1"/>
                          </a:solidFill>
                          <a:effectLst/>
                        </a:rPr>
                        <a:t>10 * 5</a:t>
                      </a:r>
                      <a:endParaRPr lang="pt-BR" sz="16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600">
                          <a:solidFill>
                            <a:schemeClr val="bg1"/>
                          </a:solidFill>
                          <a:effectLst/>
                        </a:rPr>
                        <a:t>50</a:t>
                      </a:r>
                      <a:endParaRPr lang="pt-BR" sz="16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355375"/>
                  </a:ext>
                </a:extLst>
              </a:tr>
              <a:tr h="35620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600">
                          <a:solidFill>
                            <a:schemeClr val="bg1"/>
                          </a:solidFill>
                          <a:effectLst/>
                        </a:rPr>
                        <a:t>/</a:t>
                      </a:r>
                      <a:endParaRPr lang="pt-BR" sz="16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600">
                          <a:solidFill>
                            <a:schemeClr val="bg1"/>
                          </a:solidFill>
                          <a:effectLst/>
                        </a:rPr>
                        <a:t>Divisão</a:t>
                      </a:r>
                      <a:endParaRPr lang="pt-BR" sz="16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600">
                          <a:solidFill>
                            <a:schemeClr val="bg1"/>
                          </a:solidFill>
                          <a:effectLst/>
                        </a:rPr>
                        <a:t>10 / 2</a:t>
                      </a:r>
                      <a:endParaRPr lang="pt-BR" sz="16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600" dirty="0">
                          <a:solidFill>
                            <a:schemeClr val="bg1"/>
                          </a:solidFill>
                          <a:effectLst/>
                        </a:rPr>
                        <a:t>5</a:t>
                      </a:r>
                      <a:endParaRPr lang="pt-BR" sz="16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3981579"/>
                  </a:ext>
                </a:extLst>
              </a:tr>
              <a:tr h="35620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600">
                          <a:solidFill>
                            <a:schemeClr val="bg1"/>
                          </a:solidFill>
                          <a:effectLst/>
                        </a:rPr>
                        <a:t>%</a:t>
                      </a:r>
                      <a:endParaRPr lang="pt-BR" sz="16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600">
                          <a:solidFill>
                            <a:schemeClr val="bg1"/>
                          </a:solidFill>
                          <a:effectLst/>
                        </a:rPr>
                        <a:t>Módulo (resto)</a:t>
                      </a:r>
                      <a:endParaRPr lang="pt-BR" sz="16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600">
                          <a:solidFill>
                            <a:schemeClr val="bg1"/>
                          </a:solidFill>
                          <a:effectLst/>
                        </a:rPr>
                        <a:t>10 % 3</a:t>
                      </a:r>
                      <a:endParaRPr lang="pt-BR" sz="16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600" dirty="0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  <a:endParaRPr lang="pt-BR" sz="16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35591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43258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BF4364-A6CD-4460-A48D-6779B48AD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845" y="167352"/>
            <a:ext cx="9692640" cy="1533440"/>
          </a:xfrm>
        </p:spPr>
        <p:txBody>
          <a:bodyPr>
            <a:noAutofit/>
          </a:bodyPr>
          <a:lstStyle/>
          <a:p>
            <a:r>
              <a:rPr lang="pt-BR" sz="3400" b="1" dirty="0">
                <a:solidFill>
                  <a:srgbClr val="00758F"/>
                </a:solidFill>
              </a:rPr>
              <a:t>Consultas com Funções: </a:t>
            </a:r>
            <a:br>
              <a:rPr lang="pt-BR" sz="3400" b="1" dirty="0">
                <a:solidFill>
                  <a:srgbClr val="00758F"/>
                </a:solidFill>
              </a:rPr>
            </a:br>
            <a:r>
              <a:rPr lang="pt-BR" sz="3400" b="1" dirty="0">
                <a:solidFill>
                  <a:srgbClr val="F39211"/>
                </a:solidFill>
              </a:rPr>
              <a:t>1.1 Funções de Cálculo e Operadores Aritméticos no MySQL</a:t>
            </a:r>
            <a:endParaRPr lang="pt-BR" sz="3400" dirty="0">
              <a:solidFill>
                <a:srgbClr val="F39211"/>
              </a:solidFill>
            </a:endParaRPr>
          </a:p>
        </p:txBody>
      </p:sp>
      <p:pic>
        <p:nvPicPr>
          <p:cNvPr id="4" name="Picture 6" descr="https://www.mysql.com/common/logos/logo-mysql-170x115.png">
            <a:extLst>
              <a:ext uri="{FF2B5EF4-FFF2-40B4-BE49-F238E27FC236}">
                <a16:creationId xmlns:a16="http://schemas.microsoft.com/office/drawing/2014/main" id="{441DFD02-E8A2-4690-9CD7-1CC407F20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793" y="5753675"/>
            <a:ext cx="1385775" cy="936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AF06CEA4-1D6A-4FB2-B738-A9362ADA1CCA}"/>
              </a:ext>
            </a:extLst>
          </p:cNvPr>
          <p:cNvSpPr txBox="1"/>
          <p:nvPr/>
        </p:nvSpPr>
        <p:spPr>
          <a:xfrm>
            <a:off x="338845" y="1861542"/>
            <a:ext cx="10088523" cy="2970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Podemos usar esses operadores com </a:t>
            </a:r>
            <a:r>
              <a:rPr lang="pt-BR" b="1" dirty="0"/>
              <a:t>colunas numéricas</a:t>
            </a:r>
            <a:r>
              <a:rPr lang="pt-BR" dirty="0"/>
              <a:t> em consultas, como:</a:t>
            </a:r>
            <a:br>
              <a:rPr lang="pt-BR" dirty="0"/>
            </a:br>
            <a:r>
              <a:rPr lang="pt-BR" b="1" dirty="0">
                <a:solidFill>
                  <a:srgbClr val="0000FF"/>
                </a:solidFill>
              </a:rPr>
              <a:t>SELECT</a:t>
            </a:r>
            <a:r>
              <a:rPr lang="pt-BR" dirty="0"/>
              <a:t> </a:t>
            </a:r>
            <a:r>
              <a:rPr lang="pt-BR" dirty="0" err="1">
                <a:solidFill>
                  <a:schemeClr val="bg1">
                    <a:lumMod val="50000"/>
                  </a:schemeClr>
                </a:solidFill>
              </a:rPr>
              <a:t>preco_unitario</a:t>
            </a:r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pt-BR" b="1" dirty="0">
                <a:solidFill>
                  <a:schemeClr val="bg1">
                    <a:lumMod val="50000"/>
                  </a:schemeClr>
                </a:solidFill>
              </a:rPr>
              <a:t>*</a:t>
            </a:r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 estoque</a:t>
            </a:r>
            <a:r>
              <a:rPr lang="pt-BR" dirty="0"/>
              <a:t> </a:t>
            </a:r>
            <a:r>
              <a:rPr lang="pt-BR" b="1" dirty="0">
                <a:solidFill>
                  <a:srgbClr val="0000FF"/>
                </a:solidFill>
              </a:rPr>
              <a:t>AS</a:t>
            </a:r>
            <a:r>
              <a:rPr lang="pt-BR" dirty="0"/>
              <a:t> </a:t>
            </a:r>
            <a:r>
              <a:rPr lang="pt-BR" dirty="0" err="1">
                <a:solidFill>
                  <a:schemeClr val="bg1">
                    <a:lumMod val="50000"/>
                  </a:schemeClr>
                </a:solidFill>
              </a:rPr>
              <a:t>total_em_estoque</a:t>
            </a:r>
            <a:endParaRPr lang="pt-BR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pt-BR" b="1" dirty="0">
                <a:solidFill>
                  <a:srgbClr val="0000FF"/>
                </a:solidFill>
              </a:rPr>
              <a:t>FROM</a:t>
            </a:r>
            <a:r>
              <a:rPr lang="pt-BR" dirty="0"/>
              <a:t> </a:t>
            </a:r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produtos</a:t>
            </a:r>
            <a:r>
              <a:rPr lang="pt-BR" b="1" dirty="0"/>
              <a:t>;</a:t>
            </a:r>
          </a:p>
          <a:p>
            <a:endParaRPr lang="pt-BR" b="1" dirty="0"/>
          </a:p>
          <a:p>
            <a:r>
              <a:rPr lang="pt-BR" sz="2100" b="1" dirty="0"/>
              <a:t>Funções Numéricas do MySQL:</a:t>
            </a:r>
            <a:endParaRPr lang="pt-BR" sz="2100" dirty="0"/>
          </a:p>
          <a:p>
            <a:endParaRPr lang="pt-BR" b="1" dirty="0"/>
          </a:p>
          <a:p>
            <a:endParaRPr lang="pt-BR" b="1" dirty="0"/>
          </a:p>
          <a:p>
            <a:endParaRPr lang="pt-BR" dirty="0"/>
          </a:p>
          <a:p>
            <a:endParaRPr lang="pt-BR" sz="2000" dirty="0"/>
          </a:p>
          <a:p>
            <a:endParaRPr lang="pt-BR" sz="2000" dirty="0"/>
          </a:p>
        </p:txBody>
      </p:sp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B5973C3B-2A27-4B9F-9BDF-BDEB9D2806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6543631"/>
              </p:ext>
            </p:extLst>
          </p:nvPr>
        </p:nvGraphicFramePr>
        <p:xfrm>
          <a:off x="437059" y="3475008"/>
          <a:ext cx="10723509" cy="32156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574503">
                  <a:extLst>
                    <a:ext uri="{9D8B030D-6E8A-4147-A177-3AD203B41FA5}">
                      <a16:colId xmlns:a16="http://schemas.microsoft.com/office/drawing/2014/main" val="664032137"/>
                    </a:ext>
                  </a:extLst>
                </a:gridCol>
                <a:gridCol w="3574503">
                  <a:extLst>
                    <a:ext uri="{9D8B030D-6E8A-4147-A177-3AD203B41FA5}">
                      <a16:colId xmlns:a16="http://schemas.microsoft.com/office/drawing/2014/main" val="636193825"/>
                    </a:ext>
                  </a:extLst>
                </a:gridCol>
                <a:gridCol w="3574503">
                  <a:extLst>
                    <a:ext uri="{9D8B030D-6E8A-4147-A177-3AD203B41FA5}">
                      <a16:colId xmlns:a16="http://schemas.microsoft.com/office/drawing/2014/main" val="3311568042"/>
                    </a:ext>
                  </a:extLst>
                </a:gridCol>
              </a:tblGrid>
              <a:tr h="28429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</a:rPr>
                        <a:t>Função</a:t>
                      </a:r>
                      <a:endParaRPr lang="pt-BR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0075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</a:rPr>
                        <a:t>O que faz</a:t>
                      </a:r>
                      <a:endParaRPr lang="pt-BR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0075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</a:rPr>
                        <a:t>Exemplo</a:t>
                      </a:r>
                      <a:endParaRPr lang="pt-BR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0075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543728"/>
                  </a:ext>
                </a:extLst>
              </a:tr>
              <a:tr h="28429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solidFill>
                            <a:schemeClr val="bg1"/>
                          </a:solidFill>
                          <a:effectLst/>
                        </a:rPr>
                        <a:t>ROUND()</a:t>
                      </a:r>
                      <a:endParaRPr lang="pt-BR" sz="18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solidFill>
                            <a:schemeClr val="bg1"/>
                          </a:solidFill>
                          <a:effectLst/>
                        </a:rPr>
                        <a:t>Arredonda um número</a:t>
                      </a:r>
                      <a:endParaRPr lang="pt-BR" sz="18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solidFill>
                            <a:schemeClr val="bg1"/>
                          </a:solidFill>
                          <a:effectLst/>
                        </a:rPr>
                        <a:t>ROUND(10.456, 2) → 10.46</a:t>
                      </a:r>
                      <a:endParaRPr lang="pt-BR" sz="18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268218"/>
                  </a:ext>
                </a:extLst>
              </a:tr>
              <a:tr h="28429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solidFill>
                            <a:schemeClr val="bg1"/>
                          </a:solidFill>
                          <a:effectLst/>
                        </a:rPr>
                        <a:t>CEIL() ou CEILING()</a:t>
                      </a:r>
                      <a:endParaRPr lang="pt-BR" sz="18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solidFill>
                            <a:schemeClr val="bg1"/>
                          </a:solidFill>
                          <a:effectLst/>
                        </a:rPr>
                        <a:t>Arredonda para cima</a:t>
                      </a:r>
                      <a:endParaRPr lang="pt-BR" sz="18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solidFill>
                            <a:schemeClr val="bg1"/>
                          </a:solidFill>
                          <a:effectLst/>
                        </a:rPr>
                        <a:t>CEIL(10.2) → 11</a:t>
                      </a:r>
                      <a:endParaRPr lang="pt-BR" sz="18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0119148"/>
                  </a:ext>
                </a:extLst>
              </a:tr>
              <a:tr h="28429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solidFill>
                            <a:schemeClr val="bg1"/>
                          </a:solidFill>
                          <a:effectLst/>
                        </a:rPr>
                        <a:t>FLOOR()</a:t>
                      </a:r>
                      <a:endParaRPr lang="pt-BR" sz="18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solidFill>
                            <a:schemeClr val="bg1"/>
                          </a:solidFill>
                          <a:effectLst/>
                        </a:rPr>
                        <a:t>Arredonda para baixo</a:t>
                      </a:r>
                      <a:endParaRPr lang="pt-BR" sz="18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>
                          <a:solidFill>
                            <a:schemeClr val="bg1"/>
                          </a:solidFill>
                          <a:effectLst/>
                        </a:rPr>
                        <a:t>FLOOR(10.9) → 10</a:t>
                      </a:r>
                      <a:endParaRPr lang="pt-BR" sz="18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1143958"/>
                  </a:ext>
                </a:extLst>
              </a:tr>
              <a:tr h="51308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solidFill>
                            <a:schemeClr val="bg1"/>
                          </a:solidFill>
                          <a:effectLst/>
                        </a:rPr>
                        <a:t>ABS()</a:t>
                      </a:r>
                      <a:endParaRPr lang="pt-BR" sz="18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solidFill>
                            <a:schemeClr val="bg1"/>
                          </a:solidFill>
                          <a:effectLst/>
                        </a:rPr>
                        <a:t>Valor absoluto (número sem sinal)</a:t>
                      </a:r>
                      <a:endParaRPr lang="pt-BR" sz="18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>
                          <a:solidFill>
                            <a:schemeClr val="bg1"/>
                          </a:solidFill>
                          <a:effectLst/>
                        </a:rPr>
                        <a:t>ABS(-25) → 25</a:t>
                      </a:r>
                      <a:endParaRPr lang="pt-BR" sz="18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8098523"/>
                  </a:ext>
                </a:extLst>
              </a:tr>
              <a:tr h="28429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solidFill>
                            <a:schemeClr val="bg1"/>
                          </a:solidFill>
                          <a:effectLst/>
                        </a:rPr>
                        <a:t>POWER(x, y)</a:t>
                      </a:r>
                      <a:endParaRPr lang="pt-BR" sz="18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solidFill>
                            <a:schemeClr val="bg1"/>
                          </a:solidFill>
                          <a:effectLst/>
                        </a:rPr>
                        <a:t>Potência: x elevado à y</a:t>
                      </a:r>
                      <a:endParaRPr lang="pt-BR" sz="18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>
                          <a:solidFill>
                            <a:schemeClr val="bg1"/>
                          </a:solidFill>
                          <a:effectLst/>
                        </a:rPr>
                        <a:t>POWER(2, 3) → 8</a:t>
                      </a:r>
                      <a:endParaRPr lang="pt-BR" sz="18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9431258"/>
                  </a:ext>
                </a:extLst>
              </a:tr>
              <a:tr h="28429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solidFill>
                            <a:schemeClr val="bg1"/>
                          </a:solidFill>
                          <a:effectLst/>
                        </a:rPr>
                        <a:t>SQRT()</a:t>
                      </a:r>
                      <a:endParaRPr lang="pt-BR" sz="18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solidFill>
                            <a:schemeClr val="bg1"/>
                          </a:solidFill>
                          <a:effectLst/>
                        </a:rPr>
                        <a:t>Raiz quadrada</a:t>
                      </a:r>
                      <a:endParaRPr lang="pt-BR" sz="18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solidFill>
                            <a:schemeClr val="bg1"/>
                          </a:solidFill>
                          <a:effectLst/>
                        </a:rPr>
                        <a:t>SQRT(16) → 4</a:t>
                      </a:r>
                      <a:endParaRPr lang="pt-BR" sz="18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3807620"/>
                  </a:ext>
                </a:extLst>
              </a:tr>
              <a:tr h="28429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solidFill>
                            <a:schemeClr val="bg1"/>
                          </a:solidFill>
                          <a:effectLst/>
                        </a:rPr>
                        <a:t>MOD()</a:t>
                      </a:r>
                      <a:endParaRPr lang="pt-BR" sz="18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solidFill>
                            <a:schemeClr val="bg1"/>
                          </a:solidFill>
                          <a:effectLst/>
                        </a:rPr>
                        <a:t>Resto da divisão (igual a %)</a:t>
                      </a:r>
                      <a:endParaRPr lang="pt-BR" sz="18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solidFill>
                            <a:schemeClr val="bg1"/>
                          </a:solidFill>
                          <a:effectLst/>
                        </a:rPr>
                        <a:t>MOD(10, 3) → 1</a:t>
                      </a:r>
                      <a:endParaRPr lang="pt-BR" sz="18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1202338"/>
                  </a:ext>
                </a:extLst>
              </a:tr>
              <a:tr h="51308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>
                          <a:solidFill>
                            <a:schemeClr val="bg1"/>
                          </a:solidFill>
                          <a:effectLst/>
                        </a:rPr>
                        <a:t>TRUNCATE(x, d)</a:t>
                      </a:r>
                      <a:endParaRPr lang="pt-BR" sz="18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>
                          <a:solidFill>
                            <a:schemeClr val="bg1"/>
                          </a:solidFill>
                          <a:effectLst/>
                        </a:rPr>
                        <a:t>Corta o número para d casas decimais</a:t>
                      </a:r>
                      <a:endParaRPr lang="pt-BR" sz="18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>
                          <a:solidFill>
                            <a:schemeClr val="bg1"/>
                          </a:solidFill>
                          <a:effectLst/>
                        </a:rPr>
                        <a:t>TRUNCATE(10.5678, 2) → 10.56</a:t>
                      </a:r>
                      <a:endParaRPr lang="pt-BR" sz="18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392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9664281"/>
                  </a:ext>
                </a:extLst>
              </a:tr>
            </a:tbl>
          </a:graphicData>
        </a:graphic>
      </p:graphicFrame>
      <p:sp>
        <p:nvSpPr>
          <p:cNvPr id="11" name="Rectangle 3">
            <a:extLst>
              <a:ext uri="{FF2B5EF4-FFF2-40B4-BE49-F238E27FC236}">
                <a16:creationId xmlns:a16="http://schemas.microsoft.com/office/drawing/2014/main" id="{D9BCA995-0712-42F0-9296-D234A6F246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845" y="3771149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</a:br>
            <a:b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24553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BF4364-A6CD-4460-A48D-6779B48AD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845" y="158493"/>
            <a:ext cx="10954797" cy="1533440"/>
          </a:xfrm>
        </p:spPr>
        <p:txBody>
          <a:bodyPr>
            <a:noAutofit/>
          </a:bodyPr>
          <a:lstStyle/>
          <a:p>
            <a:r>
              <a:rPr lang="pt-BR" sz="3300" b="1" dirty="0">
                <a:solidFill>
                  <a:srgbClr val="00758F"/>
                </a:solidFill>
              </a:rPr>
              <a:t>Consultas com Funções: </a:t>
            </a:r>
            <a:br>
              <a:rPr lang="pt-BR" sz="3300" b="1" dirty="0">
                <a:solidFill>
                  <a:srgbClr val="00758F"/>
                </a:solidFill>
              </a:rPr>
            </a:br>
            <a:r>
              <a:rPr lang="pt-BR" sz="3300" b="1" dirty="0">
                <a:solidFill>
                  <a:srgbClr val="F39211"/>
                </a:solidFill>
              </a:rPr>
              <a:t>1.2 Funções de Cálculo e Operadores Aritméticos no MySQL (Exemplos)</a:t>
            </a:r>
            <a:endParaRPr lang="pt-BR" sz="3300" dirty="0">
              <a:solidFill>
                <a:srgbClr val="F39211"/>
              </a:solidFill>
            </a:endParaRPr>
          </a:p>
        </p:txBody>
      </p:sp>
      <p:pic>
        <p:nvPicPr>
          <p:cNvPr id="4" name="Picture 6" descr="https://www.mysql.com/common/logos/logo-mysql-170x115.png">
            <a:extLst>
              <a:ext uri="{FF2B5EF4-FFF2-40B4-BE49-F238E27FC236}">
                <a16:creationId xmlns:a16="http://schemas.microsoft.com/office/drawing/2014/main" id="{441DFD02-E8A2-4690-9CD7-1CC407F20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793" y="5753675"/>
            <a:ext cx="1385775" cy="936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AF06CEA4-1D6A-4FB2-B738-A9362ADA1CCA}"/>
              </a:ext>
            </a:extLst>
          </p:cNvPr>
          <p:cNvSpPr txBox="1"/>
          <p:nvPr/>
        </p:nvSpPr>
        <p:spPr>
          <a:xfrm>
            <a:off x="338845" y="1873858"/>
            <a:ext cx="10088523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1 - </a:t>
            </a:r>
            <a:r>
              <a:rPr lang="pt-BR" sz="2000" b="1" dirty="0"/>
              <a:t>Exemplo: </a:t>
            </a:r>
            <a:r>
              <a:rPr lang="pt-BR" sz="2000" dirty="0"/>
              <a:t>Calcular o valor total de cada item de venda (preço x quantidade):</a:t>
            </a:r>
            <a:br>
              <a:rPr lang="pt-BR" sz="2000" dirty="0"/>
            </a:br>
            <a:r>
              <a:rPr lang="pt-BR" sz="2000" dirty="0"/>
              <a:t>Multiplica a quantidade vendida pelo preço unitário para obter o total de cada item da venda.</a:t>
            </a:r>
          </a:p>
          <a:p>
            <a:br>
              <a:rPr lang="pt-BR" sz="2000" dirty="0"/>
            </a:br>
            <a:r>
              <a:rPr lang="pt-BR" sz="2000" b="1" dirty="0">
                <a:solidFill>
                  <a:srgbClr val="0000FF"/>
                </a:solidFill>
              </a:rPr>
              <a:t>SELECT</a:t>
            </a:r>
            <a:r>
              <a:rPr lang="pt-BR" sz="2000" dirty="0"/>
              <a:t> </a:t>
            </a:r>
            <a:r>
              <a:rPr lang="pt-BR" sz="2000" dirty="0" err="1">
                <a:solidFill>
                  <a:schemeClr val="bg1">
                    <a:lumMod val="50000"/>
                  </a:schemeClr>
                </a:solidFill>
              </a:rPr>
              <a:t>id_venda</a:t>
            </a:r>
            <a:r>
              <a:rPr lang="pt-BR" sz="2000" b="1" dirty="0"/>
              <a:t>,</a:t>
            </a:r>
            <a:r>
              <a:rPr lang="pt-BR" sz="2000" dirty="0"/>
              <a:t> </a:t>
            </a:r>
            <a:r>
              <a:rPr lang="pt-BR" sz="2000" dirty="0" err="1">
                <a:solidFill>
                  <a:schemeClr val="bg1">
                    <a:lumMod val="50000"/>
                  </a:schemeClr>
                </a:solidFill>
              </a:rPr>
              <a:t>id_produto</a:t>
            </a:r>
            <a:r>
              <a:rPr lang="pt-BR" sz="2000" b="1" dirty="0"/>
              <a:t>,</a:t>
            </a:r>
            <a:endParaRPr lang="pt-BR" sz="2000" dirty="0"/>
          </a:p>
          <a:p>
            <a:r>
              <a:rPr lang="pt-BR" sz="2000" dirty="0"/>
              <a:t>    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</a:rPr>
              <a:t>quantidade</a:t>
            </a:r>
            <a:r>
              <a:rPr lang="pt-BR" sz="2000" dirty="0"/>
              <a:t> </a:t>
            </a:r>
            <a:r>
              <a:rPr lang="pt-BR" sz="2000" b="1" dirty="0">
                <a:solidFill>
                  <a:schemeClr val="bg1">
                    <a:lumMod val="50000"/>
                  </a:schemeClr>
                </a:solidFill>
              </a:rPr>
              <a:t>*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pt-BR" sz="2000" dirty="0" err="1">
                <a:solidFill>
                  <a:schemeClr val="bg1">
                    <a:lumMod val="50000"/>
                  </a:schemeClr>
                </a:solidFill>
              </a:rPr>
              <a:t>preco_unitario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pt-BR" sz="2000" b="1" dirty="0">
                <a:solidFill>
                  <a:srgbClr val="0000FF"/>
                </a:solidFill>
              </a:rPr>
              <a:t>AS</a:t>
            </a:r>
            <a:r>
              <a:rPr lang="pt-BR" sz="2000" dirty="0"/>
              <a:t> </a:t>
            </a:r>
            <a:r>
              <a:rPr lang="pt-BR" sz="2000" dirty="0" err="1">
                <a:solidFill>
                  <a:schemeClr val="bg1">
                    <a:lumMod val="50000"/>
                  </a:schemeClr>
                </a:solidFill>
              </a:rPr>
              <a:t>total_item</a:t>
            </a:r>
            <a:endParaRPr lang="pt-BR" sz="20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pt-BR" sz="2000" b="1" dirty="0">
                <a:solidFill>
                  <a:srgbClr val="0000FF"/>
                </a:solidFill>
              </a:rPr>
              <a:t>FROM</a:t>
            </a:r>
            <a:r>
              <a:rPr lang="pt-BR" sz="2000" dirty="0"/>
              <a:t> </a:t>
            </a:r>
            <a:r>
              <a:rPr lang="pt-BR" sz="2000" dirty="0" err="1">
                <a:solidFill>
                  <a:schemeClr val="bg1">
                    <a:lumMod val="50000"/>
                  </a:schemeClr>
                </a:solidFill>
              </a:rPr>
              <a:t>itens_venda</a:t>
            </a:r>
            <a:r>
              <a:rPr lang="pt-BR" sz="2000" b="1" dirty="0"/>
              <a:t>;</a:t>
            </a:r>
            <a:endParaRPr lang="pt-BR" sz="2000" dirty="0"/>
          </a:p>
          <a:p>
            <a:r>
              <a:rPr lang="pt-BR" sz="2000" dirty="0"/>
              <a:t> </a:t>
            </a:r>
          </a:p>
          <a:p>
            <a:r>
              <a:rPr lang="pt-BR" sz="2000" dirty="0"/>
              <a:t>2 - </a:t>
            </a:r>
            <a:r>
              <a:rPr lang="pt-BR" sz="2000" b="1" dirty="0"/>
              <a:t>Exemplo: </a:t>
            </a:r>
            <a:r>
              <a:rPr lang="pt-BR" sz="2000" dirty="0"/>
              <a:t>Calcular o total estimado em estoque (produto):</a:t>
            </a:r>
            <a:br>
              <a:rPr lang="pt-BR" sz="2000" dirty="0"/>
            </a:br>
            <a:r>
              <a:rPr lang="pt-BR" sz="2000" dirty="0"/>
              <a:t>Multiplica o preço unitário pelo estoque disponível para saber o valor total em estoque.</a:t>
            </a:r>
          </a:p>
          <a:p>
            <a:br>
              <a:rPr lang="pt-BR" sz="2000" dirty="0"/>
            </a:br>
            <a:r>
              <a:rPr lang="pt-BR" sz="2000" b="1" dirty="0">
                <a:solidFill>
                  <a:srgbClr val="0000FF"/>
                </a:solidFill>
              </a:rPr>
              <a:t>SELECT</a:t>
            </a:r>
            <a:r>
              <a:rPr lang="pt-BR" sz="2000" dirty="0"/>
              <a:t> </a:t>
            </a:r>
            <a:r>
              <a:rPr lang="pt-BR" sz="2000" dirty="0" err="1">
                <a:solidFill>
                  <a:schemeClr val="bg1">
                    <a:lumMod val="50000"/>
                  </a:schemeClr>
                </a:solidFill>
              </a:rPr>
              <a:t>nome_produto</a:t>
            </a:r>
            <a:r>
              <a:rPr lang="pt-BR" sz="2000" b="1" dirty="0"/>
              <a:t>,</a:t>
            </a:r>
            <a:r>
              <a:rPr lang="pt-BR" sz="2000" dirty="0"/>
              <a:t> </a:t>
            </a:r>
          </a:p>
          <a:p>
            <a:r>
              <a:rPr lang="pt-BR" sz="2000" dirty="0"/>
              <a:t>       </a:t>
            </a:r>
            <a:r>
              <a:rPr lang="pt-BR" sz="2000" dirty="0" err="1">
                <a:solidFill>
                  <a:schemeClr val="bg1">
                    <a:lumMod val="50000"/>
                  </a:schemeClr>
                </a:solidFill>
              </a:rPr>
              <a:t>preco_unitario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pt-BR" sz="2000" b="1" dirty="0">
                <a:solidFill>
                  <a:schemeClr val="bg1">
                    <a:lumMod val="50000"/>
                  </a:schemeClr>
                </a:solidFill>
              </a:rPr>
              <a:t>*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</a:rPr>
              <a:t> estoque</a:t>
            </a:r>
            <a:r>
              <a:rPr lang="pt-BR" sz="2000" dirty="0"/>
              <a:t> </a:t>
            </a:r>
            <a:r>
              <a:rPr lang="pt-BR" sz="2000" b="1" dirty="0">
                <a:solidFill>
                  <a:srgbClr val="0000FF"/>
                </a:solidFill>
              </a:rPr>
              <a:t>AS</a:t>
            </a:r>
            <a:r>
              <a:rPr lang="pt-BR" sz="2000" dirty="0"/>
              <a:t> </a:t>
            </a:r>
            <a:r>
              <a:rPr lang="pt-BR" sz="2000" dirty="0" err="1">
                <a:solidFill>
                  <a:schemeClr val="bg1">
                    <a:lumMod val="50000"/>
                  </a:schemeClr>
                </a:solidFill>
              </a:rPr>
              <a:t>valor_estoque</a:t>
            </a:r>
            <a:endParaRPr lang="pt-BR" sz="20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pt-BR" sz="2000" b="1" dirty="0">
                <a:solidFill>
                  <a:srgbClr val="0000FF"/>
                </a:solidFill>
              </a:rPr>
              <a:t>FROM</a:t>
            </a:r>
            <a:r>
              <a:rPr lang="pt-BR" sz="2000" dirty="0"/>
              <a:t>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</a:rPr>
              <a:t>produtos</a:t>
            </a:r>
            <a:r>
              <a:rPr lang="pt-BR" sz="2000" b="1" dirty="0"/>
              <a:t>;</a:t>
            </a:r>
            <a:endParaRPr lang="pt-BR" sz="2000" dirty="0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D9BCA995-0712-42F0-9296-D234A6F246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845" y="3771149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</a:br>
            <a:b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46463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BF4364-A6CD-4460-A48D-6779B48AD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845" y="158493"/>
            <a:ext cx="10954797" cy="1533440"/>
          </a:xfrm>
        </p:spPr>
        <p:txBody>
          <a:bodyPr>
            <a:noAutofit/>
          </a:bodyPr>
          <a:lstStyle/>
          <a:p>
            <a:r>
              <a:rPr lang="pt-BR" sz="3300" b="1" dirty="0">
                <a:solidFill>
                  <a:srgbClr val="00758F"/>
                </a:solidFill>
              </a:rPr>
              <a:t>Consultas com Funções: </a:t>
            </a:r>
            <a:br>
              <a:rPr lang="pt-BR" sz="3300" b="1" dirty="0">
                <a:solidFill>
                  <a:srgbClr val="00758F"/>
                </a:solidFill>
              </a:rPr>
            </a:br>
            <a:r>
              <a:rPr lang="pt-BR" sz="3300" b="1" dirty="0">
                <a:solidFill>
                  <a:srgbClr val="F39211"/>
                </a:solidFill>
              </a:rPr>
              <a:t>1.3 Funções de Cálculo e Operadores Aritméticos no MySQL (Exemplos)</a:t>
            </a:r>
            <a:endParaRPr lang="pt-BR" sz="3300" dirty="0">
              <a:solidFill>
                <a:srgbClr val="F39211"/>
              </a:solidFill>
            </a:endParaRPr>
          </a:p>
        </p:txBody>
      </p:sp>
      <p:pic>
        <p:nvPicPr>
          <p:cNvPr id="4" name="Picture 6" descr="https://www.mysql.com/common/logos/logo-mysql-170x115.png">
            <a:extLst>
              <a:ext uri="{FF2B5EF4-FFF2-40B4-BE49-F238E27FC236}">
                <a16:creationId xmlns:a16="http://schemas.microsoft.com/office/drawing/2014/main" id="{441DFD02-E8A2-4690-9CD7-1CC407F20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793" y="5753675"/>
            <a:ext cx="1385775" cy="936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AF06CEA4-1D6A-4FB2-B738-A9362ADA1CCA}"/>
              </a:ext>
            </a:extLst>
          </p:cNvPr>
          <p:cNvSpPr txBox="1"/>
          <p:nvPr/>
        </p:nvSpPr>
        <p:spPr>
          <a:xfrm>
            <a:off x="338845" y="1873858"/>
            <a:ext cx="1008852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3 - </a:t>
            </a:r>
            <a:r>
              <a:rPr lang="pt-BR" sz="2000" b="1" dirty="0"/>
              <a:t>Exemplo:  </a:t>
            </a:r>
            <a:r>
              <a:rPr lang="pt-BR" sz="2000" dirty="0"/>
              <a:t>Arredondar o valor total de uma venda (simulando um valor com casas decimais):</a:t>
            </a:r>
            <a:br>
              <a:rPr lang="pt-BR" sz="2000" dirty="0"/>
            </a:br>
            <a:r>
              <a:rPr lang="pt-BR" sz="2000" dirty="0"/>
              <a:t>Arredonda o valor total da venda para duas casas decimais, útil para valores monetários.</a:t>
            </a:r>
          </a:p>
          <a:p>
            <a:br>
              <a:rPr lang="pt-BR" sz="2000" dirty="0"/>
            </a:br>
            <a:r>
              <a:rPr lang="pt-BR" sz="2000" b="1" dirty="0">
                <a:solidFill>
                  <a:srgbClr val="0000FF"/>
                </a:solidFill>
              </a:rPr>
              <a:t>SELECT</a:t>
            </a:r>
            <a:r>
              <a:rPr lang="pt-BR" sz="2000" dirty="0"/>
              <a:t> </a:t>
            </a:r>
            <a:r>
              <a:rPr lang="pt-BR" sz="2000" dirty="0" err="1">
                <a:solidFill>
                  <a:schemeClr val="bg1">
                    <a:lumMod val="50000"/>
                  </a:schemeClr>
                </a:solidFill>
              </a:rPr>
              <a:t>id_venda</a:t>
            </a:r>
            <a:r>
              <a:rPr lang="pt-BR" sz="2000" b="1" dirty="0"/>
              <a:t>,</a:t>
            </a:r>
            <a:r>
              <a:rPr lang="pt-BR" sz="2000" dirty="0"/>
              <a:t> </a:t>
            </a:r>
          </a:p>
          <a:p>
            <a:r>
              <a:rPr lang="pt-BR" sz="2000" dirty="0"/>
              <a:t>       </a:t>
            </a:r>
            <a:r>
              <a:rPr lang="pt-BR" sz="2000" b="1" dirty="0">
                <a:solidFill>
                  <a:srgbClr val="0000FF"/>
                </a:solidFill>
              </a:rPr>
              <a:t>ROUND</a:t>
            </a:r>
            <a:r>
              <a:rPr lang="pt-BR" sz="2000" b="1" dirty="0"/>
              <a:t>(</a:t>
            </a:r>
            <a:r>
              <a:rPr lang="pt-BR" sz="2000" dirty="0" err="1">
                <a:solidFill>
                  <a:schemeClr val="bg1">
                    <a:lumMod val="50000"/>
                  </a:schemeClr>
                </a:solidFill>
              </a:rPr>
              <a:t>valor_total</a:t>
            </a:r>
            <a:r>
              <a:rPr lang="pt-BR" sz="2000" b="1" dirty="0"/>
              <a:t>,</a:t>
            </a:r>
            <a:r>
              <a:rPr lang="pt-BR" sz="2000" dirty="0"/>
              <a:t> </a:t>
            </a:r>
            <a:r>
              <a:rPr lang="pt-BR" sz="2000" dirty="0">
                <a:solidFill>
                  <a:srgbClr val="F39211"/>
                </a:solidFill>
              </a:rPr>
              <a:t>2</a:t>
            </a:r>
            <a:r>
              <a:rPr lang="pt-BR" sz="2000" b="1" dirty="0"/>
              <a:t>)</a:t>
            </a:r>
            <a:r>
              <a:rPr lang="pt-BR" sz="2000" dirty="0"/>
              <a:t> </a:t>
            </a:r>
            <a:r>
              <a:rPr lang="pt-BR" sz="2000" b="1" dirty="0">
                <a:solidFill>
                  <a:srgbClr val="0000FF"/>
                </a:solidFill>
              </a:rPr>
              <a:t>AS</a:t>
            </a:r>
            <a:r>
              <a:rPr lang="pt-BR" sz="2000" dirty="0"/>
              <a:t> </a:t>
            </a:r>
            <a:r>
              <a:rPr lang="pt-BR" sz="2000" dirty="0" err="1">
                <a:solidFill>
                  <a:schemeClr val="bg1">
                    <a:lumMod val="50000"/>
                  </a:schemeClr>
                </a:solidFill>
              </a:rPr>
              <a:t>valor_arredondado</a:t>
            </a:r>
            <a:endParaRPr lang="pt-BR" sz="20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pt-BR" sz="2000" b="1" dirty="0">
                <a:solidFill>
                  <a:srgbClr val="0000FF"/>
                </a:solidFill>
              </a:rPr>
              <a:t>FROM</a:t>
            </a:r>
            <a:r>
              <a:rPr lang="pt-BR" sz="2000" dirty="0"/>
              <a:t>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</a:rPr>
              <a:t>vendas</a:t>
            </a:r>
            <a:r>
              <a:rPr lang="pt-BR" sz="2000" b="1" dirty="0"/>
              <a:t>;</a:t>
            </a:r>
            <a:br>
              <a:rPr lang="pt-BR" sz="2000" b="1" dirty="0"/>
            </a:br>
            <a:br>
              <a:rPr lang="pt-BR" sz="2000" b="1" dirty="0"/>
            </a:br>
            <a:r>
              <a:rPr lang="pt-BR" dirty="0"/>
              <a:t>4 - </a:t>
            </a:r>
            <a:r>
              <a:rPr lang="pt-BR" b="1" dirty="0"/>
              <a:t>Exemplo: </a:t>
            </a:r>
            <a:r>
              <a:rPr lang="pt-BR" dirty="0"/>
              <a:t> Mostrar produtos com mais de R$ 1000 em estoque:</a:t>
            </a:r>
            <a:br>
              <a:rPr lang="pt-BR" dirty="0"/>
            </a:br>
            <a:r>
              <a:rPr lang="pt-BR" dirty="0"/>
              <a:t>Filtra os produtos cujo valor total em estoque (preço × quantidade) é maior que 1000.</a:t>
            </a:r>
          </a:p>
          <a:p>
            <a:br>
              <a:rPr lang="pt-BR" dirty="0"/>
            </a:br>
            <a:r>
              <a:rPr lang="pt-BR" b="1" dirty="0">
                <a:solidFill>
                  <a:srgbClr val="0000FF"/>
                </a:solidFill>
              </a:rPr>
              <a:t>SELECT</a:t>
            </a:r>
            <a:r>
              <a:rPr lang="pt-BR" dirty="0"/>
              <a:t> </a:t>
            </a:r>
            <a:r>
              <a:rPr lang="pt-BR" dirty="0" err="1">
                <a:solidFill>
                  <a:schemeClr val="bg1">
                    <a:lumMod val="50000"/>
                  </a:schemeClr>
                </a:solidFill>
              </a:rPr>
              <a:t>nome_produto</a:t>
            </a:r>
            <a:r>
              <a:rPr lang="pt-BR" b="1" dirty="0"/>
              <a:t>,</a:t>
            </a:r>
            <a:r>
              <a:rPr lang="pt-BR" dirty="0"/>
              <a:t> </a:t>
            </a:r>
            <a:r>
              <a:rPr lang="pt-BR" dirty="0" err="1">
                <a:solidFill>
                  <a:schemeClr val="bg1">
                    <a:lumMod val="50000"/>
                  </a:schemeClr>
                </a:solidFill>
              </a:rPr>
              <a:t>preco_unitario</a:t>
            </a:r>
            <a:r>
              <a:rPr lang="pt-BR" b="1" dirty="0"/>
              <a:t>,</a:t>
            </a:r>
            <a:r>
              <a:rPr lang="pt-BR" dirty="0"/>
              <a:t> </a:t>
            </a:r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estoque</a:t>
            </a:r>
            <a:r>
              <a:rPr lang="pt-BR" b="1" dirty="0"/>
              <a:t>,</a:t>
            </a:r>
            <a:endParaRPr lang="pt-BR" dirty="0"/>
          </a:p>
          <a:p>
            <a:r>
              <a:rPr lang="pt-BR" dirty="0"/>
              <a:t>       </a:t>
            </a:r>
            <a:r>
              <a:rPr lang="pt-BR" dirty="0" err="1">
                <a:solidFill>
                  <a:schemeClr val="bg1">
                    <a:lumMod val="50000"/>
                  </a:schemeClr>
                </a:solidFill>
              </a:rPr>
              <a:t>preco_unitario</a:t>
            </a:r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pt-BR" b="1" dirty="0">
                <a:solidFill>
                  <a:schemeClr val="bg1">
                    <a:lumMod val="50000"/>
                  </a:schemeClr>
                </a:solidFill>
              </a:rPr>
              <a:t>*</a:t>
            </a:r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 estoque </a:t>
            </a:r>
            <a:r>
              <a:rPr lang="pt-BR" b="1" dirty="0">
                <a:solidFill>
                  <a:srgbClr val="0000FF"/>
                </a:solidFill>
              </a:rPr>
              <a:t>AS</a:t>
            </a:r>
            <a:r>
              <a:rPr lang="pt-BR" dirty="0"/>
              <a:t> </a:t>
            </a:r>
            <a:r>
              <a:rPr lang="pt-BR" dirty="0" err="1">
                <a:solidFill>
                  <a:schemeClr val="bg1">
                    <a:lumMod val="50000"/>
                  </a:schemeClr>
                </a:solidFill>
              </a:rPr>
              <a:t>valor_estoque</a:t>
            </a:r>
            <a:endParaRPr lang="pt-BR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pt-BR" b="1" dirty="0">
                <a:solidFill>
                  <a:srgbClr val="0000FF"/>
                </a:solidFill>
              </a:rPr>
              <a:t>FROM</a:t>
            </a:r>
            <a:r>
              <a:rPr lang="pt-BR" dirty="0"/>
              <a:t> </a:t>
            </a:r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produtos</a:t>
            </a:r>
          </a:p>
          <a:p>
            <a:r>
              <a:rPr lang="pt-BR" b="1" dirty="0">
                <a:solidFill>
                  <a:srgbClr val="0000FF"/>
                </a:solidFill>
              </a:rPr>
              <a:t>WHERE</a:t>
            </a:r>
            <a:r>
              <a:rPr lang="pt-BR" dirty="0"/>
              <a:t> </a:t>
            </a:r>
            <a:r>
              <a:rPr lang="pt-BR" dirty="0" err="1">
                <a:solidFill>
                  <a:schemeClr val="bg1">
                    <a:lumMod val="50000"/>
                  </a:schemeClr>
                </a:solidFill>
              </a:rPr>
              <a:t>preco_unitario</a:t>
            </a:r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pt-BR" b="1" dirty="0">
                <a:solidFill>
                  <a:schemeClr val="bg1">
                    <a:lumMod val="50000"/>
                  </a:schemeClr>
                </a:solidFill>
              </a:rPr>
              <a:t>*</a:t>
            </a:r>
            <a:r>
              <a:rPr lang="pt-BR" dirty="0"/>
              <a:t> </a:t>
            </a:r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estoque</a:t>
            </a:r>
            <a:r>
              <a:rPr lang="pt-BR" dirty="0"/>
              <a:t> </a:t>
            </a:r>
            <a:r>
              <a:rPr lang="pt-BR" b="1" dirty="0"/>
              <a:t>&gt;</a:t>
            </a:r>
            <a:r>
              <a:rPr lang="pt-BR" dirty="0"/>
              <a:t> </a:t>
            </a:r>
            <a:r>
              <a:rPr lang="pt-BR" dirty="0">
                <a:solidFill>
                  <a:srgbClr val="F39211"/>
                </a:solidFill>
              </a:rPr>
              <a:t>1000</a:t>
            </a:r>
            <a:r>
              <a:rPr lang="pt-BR" b="1" dirty="0"/>
              <a:t>;</a:t>
            </a:r>
            <a:endParaRPr lang="pt-BR" dirty="0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D9BCA995-0712-42F0-9296-D234A6F246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845" y="3771149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</a:br>
            <a:b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43086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BF4364-A6CD-4460-A48D-6779B48AD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845" y="158493"/>
            <a:ext cx="10954797" cy="1533440"/>
          </a:xfrm>
        </p:spPr>
        <p:txBody>
          <a:bodyPr>
            <a:noAutofit/>
          </a:bodyPr>
          <a:lstStyle/>
          <a:p>
            <a:r>
              <a:rPr lang="pt-BR" sz="3300" b="1" dirty="0">
                <a:solidFill>
                  <a:srgbClr val="00758F"/>
                </a:solidFill>
              </a:rPr>
              <a:t>Consultas com Funções: </a:t>
            </a:r>
            <a:br>
              <a:rPr lang="pt-BR" sz="3300" b="1" dirty="0">
                <a:solidFill>
                  <a:srgbClr val="00758F"/>
                </a:solidFill>
              </a:rPr>
            </a:br>
            <a:r>
              <a:rPr lang="pt-BR" sz="3300" b="1" dirty="0">
                <a:solidFill>
                  <a:srgbClr val="F39211"/>
                </a:solidFill>
              </a:rPr>
              <a:t>1.4 Funções de Cálculo e Operadores Aritméticos no MySQL (Exemplos)</a:t>
            </a:r>
            <a:endParaRPr lang="pt-BR" sz="3300" dirty="0">
              <a:solidFill>
                <a:srgbClr val="F39211"/>
              </a:solidFill>
            </a:endParaRPr>
          </a:p>
        </p:txBody>
      </p:sp>
      <p:pic>
        <p:nvPicPr>
          <p:cNvPr id="4" name="Picture 6" descr="https://www.mysql.com/common/logos/logo-mysql-170x115.png">
            <a:extLst>
              <a:ext uri="{FF2B5EF4-FFF2-40B4-BE49-F238E27FC236}">
                <a16:creationId xmlns:a16="http://schemas.microsoft.com/office/drawing/2014/main" id="{441DFD02-E8A2-4690-9CD7-1CC407F20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793" y="5753675"/>
            <a:ext cx="1385775" cy="936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AF06CEA4-1D6A-4FB2-B738-A9362ADA1CCA}"/>
              </a:ext>
            </a:extLst>
          </p:cNvPr>
          <p:cNvSpPr txBox="1"/>
          <p:nvPr/>
        </p:nvSpPr>
        <p:spPr>
          <a:xfrm>
            <a:off x="338845" y="1873858"/>
            <a:ext cx="1008852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5 - </a:t>
            </a:r>
            <a:r>
              <a:rPr lang="pt-BR" sz="2000" b="1" dirty="0"/>
              <a:t>Exemplo: </a:t>
            </a:r>
            <a:r>
              <a:rPr lang="pt-BR" sz="2000" dirty="0"/>
              <a:t>Mostrar valor absoluto de variação (simulado):</a:t>
            </a:r>
            <a:br>
              <a:rPr lang="pt-BR" sz="2000" dirty="0"/>
            </a:br>
            <a:r>
              <a:rPr lang="pt-BR" sz="2000" dirty="0"/>
              <a:t>Retorna o valor positivo de uma variação negativa, útil para cálculos de diferença.</a:t>
            </a:r>
          </a:p>
          <a:p>
            <a:br>
              <a:rPr lang="pt-BR" sz="2000" dirty="0"/>
            </a:br>
            <a:r>
              <a:rPr lang="pt-BR" sz="2000" b="1" dirty="0">
                <a:solidFill>
                  <a:srgbClr val="0000FF"/>
                </a:solidFill>
              </a:rPr>
              <a:t>SELECT</a:t>
            </a:r>
            <a:r>
              <a:rPr lang="pt-BR" sz="2000" dirty="0"/>
              <a:t> </a:t>
            </a:r>
            <a:r>
              <a:rPr lang="pt-BR" sz="2000" b="1" dirty="0">
                <a:solidFill>
                  <a:srgbClr val="0000FF"/>
                </a:solidFill>
              </a:rPr>
              <a:t>ABS</a:t>
            </a:r>
            <a:r>
              <a:rPr lang="pt-BR" sz="2000" b="1" dirty="0"/>
              <a:t>(</a:t>
            </a:r>
            <a:r>
              <a:rPr lang="pt-BR" sz="2000" dirty="0"/>
              <a:t>-</a:t>
            </a:r>
            <a:r>
              <a:rPr lang="pt-BR" sz="2000" dirty="0">
                <a:solidFill>
                  <a:srgbClr val="F39211"/>
                </a:solidFill>
              </a:rPr>
              <a:t>150.75</a:t>
            </a:r>
            <a:r>
              <a:rPr lang="pt-BR" sz="2000" b="1" dirty="0"/>
              <a:t>)</a:t>
            </a:r>
            <a:r>
              <a:rPr lang="pt-BR" sz="2000" dirty="0"/>
              <a:t> </a:t>
            </a:r>
            <a:r>
              <a:rPr lang="pt-BR" sz="2000" b="1" dirty="0">
                <a:solidFill>
                  <a:srgbClr val="0000FF"/>
                </a:solidFill>
              </a:rPr>
              <a:t>AS</a:t>
            </a:r>
            <a:r>
              <a:rPr lang="pt-BR" sz="2000" dirty="0"/>
              <a:t> </a:t>
            </a:r>
            <a:r>
              <a:rPr lang="pt-BR" sz="2000" dirty="0" err="1">
                <a:solidFill>
                  <a:schemeClr val="bg1">
                    <a:lumMod val="50000"/>
                  </a:schemeClr>
                </a:solidFill>
              </a:rPr>
              <a:t>variacao_positiva</a:t>
            </a:r>
            <a:r>
              <a:rPr lang="pt-BR" sz="2000" b="1" dirty="0"/>
              <a:t>;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24431417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BF4364-A6CD-4460-A48D-6779B48AD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845" y="158493"/>
            <a:ext cx="10954797" cy="1533440"/>
          </a:xfrm>
        </p:spPr>
        <p:txBody>
          <a:bodyPr>
            <a:noAutofit/>
          </a:bodyPr>
          <a:lstStyle/>
          <a:p>
            <a:r>
              <a:rPr lang="pt-BR" sz="3300" b="1" dirty="0">
                <a:solidFill>
                  <a:srgbClr val="00758F"/>
                </a:solidFill>
              </a:rPr>
              <a:t>Consultas com Funções: </a:t>
            </a:r>
            <a:br>
              <a:rPr lang="pt-BR" sz="3300" b="1" dirty="0">
                <a:solidFill>
                  <a:srgbClr val="00758F"/>
                </a:solidFill>
              </a:rPr>
            </a:br>
            <a:r>
              <a:rPr lang="pt-BR" sz="3300" b="1" dirty="0">
                <a:solidFill>
                  <a:srgbClr val="F39211"/>
                </a:solidFill>
              </a:rPr>
              <a:t>1.5 Funções de Cálculo e Operadores Aritméticos no MySQL (Exercícios)</a:t>
            </a:r>
            <a:endParaRPr lang="pt-BR" sz="3300" dirty="0">
              <a:solidFill>
                <a:srgbClr val="F39211"/>
              </a:solidFill>
            </a:endParaRPr>
          </a:p>
        </p:txBody>
      </p:sp>
      <p:pic>
        <p:nvPicPr>
          <p:cNvPr id="4" name="Picture 6" descr="https://www.mysql.com/common/logos/logo-mysql-170x115.png">
            <a:extLst>
              <a:ext uri="{FF2B5EF4-FFF2-40B4-BE49-F238E27FC236}">
                <a16:creationId xmlns:a16="http://schemas.microsoft.com/office/drawing/2014/main" id="{441DFD02-E8A2-4690-9CD7-1CC407F20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793" y="5753675"/>
            <a:ext cx="1385775" cy="936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AF06CEA4-1D6A-4FB2-B738-A9362ADA1CCA}"/>
              </a:ext>
            </a:extLst>
          </p:cNvPr>
          <p:cNvSpPr txBox="1"/>
          <p:nvPr/>
        </p:nvSpPr>
        <p:spPr>
          <a:xfrm>
            <a:off x="338845" y="1873858"/>
            <a:ext cx="10088523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b="1" dirty="0"/>
              <a:t>Exercício 1 (básico):</a:t>
            </a:r>
            <a:r>
              <a:rPr lang="pt-BR" sz="2200" dirty="0"/>
              <a:t> Mostre o total de valor por item vendido (preço x quantidade), da tabela </a:t>
            </a:r>
            <a:r>
              <a:rPr lang="pt-BR" sz="2200" dirty="0" err="1"/>
              <a:t>itens_venda</a:t>
            </a:r>
            <a:r>
              <a:rPr lang="pt-BR" sz="2200" dirty="0"/>
              <a:t>.</a:t>
            </a:r>
            <a:br>
              <a:rPr lang="pt-BR" sz="2200" dirty="0"/>
            </a:br>
            <a:r>
              <a:rPr lang="pt-BR" sz="2200" dirty="0"/>
              <a:t> </a:t>
            </a:r>
          </a:p>
          <a:p>
            <a:r>
              <a:rPr lang="pt-BR" sz="2200" b="1" dirty="0"/>
              <a:t>Exercício 2 (intermediário):</a:t>
            </a:r>
            <a:r>
              <a:rPr lang="pt-BR" sz="2200" dirty="0"/>
              <a:t> Liste o nome e o valor estimado em estoque dos produtos, arredondado com 2 casas decimais.</a:t>
            </a:r>
          </a:p>
          <a:p>
            <a:br>
              <a:rPr lang="pt-BR" sz="2200" dirty="0"/>
            </a:br>
            <a:r>
              <a:rPr lang="pt-BR" sz="2200" b="1" dirty="0"/>
              <a:t>Exercício 3 (desafio):</a:t>
            </a:r>
            <a:r>
              <a:rPr lang="pt-BR" sz="2200" dirty="0"/>
              <a:t> Calcule o valor médio de vendas </a:t>
            </a:r>
            <a:r>
              <a:rPr lang="pt-BR" sz="2200" b="1" dirty="0"/>
              <a:t>com 2 casas decimais</a:t>
            </a:r>
            <a:r>
              <a:rPr lang="pt-BR" sz="2200" dirty="0"/>
              <a:t>, e também mostre o valor </a:t>
            </a:r>
            <a:r>
              <a:rPr lang="pt-BR" sz="2200" b="1" dirty="0"/>
              <a:t>arredondado para cima</a:t>
            </a:r>
            <a:r>
              <a:rPr lang="pt-BR" sz="2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668184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BF4364-A6CD-4460-A48D-6779B48AD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845" y="158493"/>
            <a:ext cx="10954797" cy="1533440"/>
          </a:xfrm>
        </p:spPr>
        <p:txBody>
          <a:bodyPr>
            <a:noAutofit/>
          </a:bodyPr>
          <a:lstStyle/>
          <a:p>
            <a:r>
              <a:rPr lang="pt-BR" sz="3300" b="1" dirty="0">
                <a:solidFill>
                  <a:srgbClr val="00758F"/>
                </a:solidFill>
              </a:rPr>
              <a:t>Consultas com Funções: </a:t>
            </a:r>
            <a:br>
              <a:rPr lang="pt-BR" sz="3300" b="1" dirty="0">
                <a:solidFill>
                  <a:srgbClr val="00758F"/>
                </a:solidFill>
              </a:rPr>
            </a:br>
            <a:r>
              <a:rPr lang="pt-BR" sz="3300" b="1" dirty="0">
                <a:solidFill>
                  <a:srgbClr val="F39211"/>
                </a:solidFill>
              </a:rPr>
              <a:t>1.6 Funções de Cálculo e Operadores Aritméticos no MySQL (Exercícios)</a:t>
            </a:r>
            <a:endParaRPr lang="pt-BR" sz="3300" dirty="0">
              <a:solidFill>
                <a:srgbClr val="F39211"/>
              </a:solidFill>
            </a:endParaRPr>
          </a:p>
        </p:txBody>
      </p:sp>
      <p:pic>
        <p:nvPicPr>
          <p:cNvPr id="4" name="Picture 6" descr="https://www.mysql.com/common/logos/logo-mysql-170x115.png">
            <a:extLst>
              <a:ext uri="{FF2B5EF4-FFF2-40B4-BE49-F238E27FC236}">
                <a16:creationId xmlns:a16="http://schemas.microsoft.com/office/drawing/2014/main" id="{441DFD02-E8A2-4690-9CD7-1CC407F20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793" y="5753675"/>
            <a:ext cx="1385775" cy="936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AF06CEA4-1D6A-4FB2-B738-A9362ADA1CCA}"/>
              </a:ext>
            </a:extLst>
          </p:cNvPr>
          <p:cNvSpPr txBox="1"/>
          <p:nvPr/>
        </p:nvSpPr>
        <p:spPr>
          <a:xfrm>
            <a:off x="338845" y="1873858"/>
            <a:ext cx="1008852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Exercício 1 (básico):</a:t>
            </a:r>
            <a:r>
              <a:rPr lang="pt-BR" dirty="0"/>
              <a:t> Mostre o total de valor por item vendido (preço x quantidade), da tabela </a:t>
            </a:r>
            <a:r>
              <a:rPr lang="pt-BR" dirty="0" err="1"/>
              <a:t>itens_venda</a:t>
            </a:r>
            <a:r>
              <a:rPr lang="pt-BR" dirty="0"/>
              <a:t>.</a:t>
            </a:r>
            <a:br>
              <a:rPr lang="pt-BR" dirty="0"/>
            </a:br>
            <a:r>
              <a:rPr lang="pt-BR" b="1" dirty="0">
                <a:solidFill>
                  <a:srgbClr val="0000FF"/>
                </a:solidFill>
              </a:rPr>
              <a:t>SELECT</a:t>
            </a:r>
            <a:r>
              <a:rPr lang="pt-BR" dirty="0"/>
              <a:t> </a:t>
            </a:r>
            <a:r>
              <a:rPr lang="pt-BR" dirty="0" err="1">
                <a:solidFill>
                  <a:schemeClr val="bg1">
                    <a:lumMod val="50000"/>
                  </a:schemeClr>
                </a:solidFill>
              </a:rPr>
              <a:t>id_item</a:t>
            </a:r>
            <a:r>
              <a:rPr lang="pt-BR" b="1" dirty="0">
                <a:solidFill>
                  <a:schemeClr val="bg1">
                    <a:lumMod val="50000"/>
                  </a:schemeClr>
                </a:solidFill>
              </a:rPr>
              <a:t>,</a:t>
            </a:r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pt-BR" dirty="0" err="1">
                <a:solidFill>
                  <a:schemeClr val="bg1">
                    <a:lumMod val="50000"/>
                  </a:schemeClr>
                </a:solidFill>
              </a:rPr>
              <a:t>preco_unitario</a:t>
            </a:r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pt-BR" b="1" dirty="0">
                <a:solidFill>
                  <a:schemeClr val="bg1">
                    <a:lumMod val="50000"/>
                  </a:schemeClr>
                </a:solidFill>
              </a:rPr>
              <a:t>*</a:t>
            </a:r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 quantidade</a:t>
            </a:r>
            <a:r>
              <a:rPr lang="pt-BR" dirty="0"/>
              <a:t> </a:t>
            </a:r>
            <a:r>
              <a:rPr lang="pt-BR" b="1" dirty="0">
                <a:solidFill>
                  <a:srgbClr val="0000FF"/>
                </a:solidFill>
              </a:rPr>
              <a:t>AS</a:t>
            </a:r>
            <a:r>
              <a:rPr lang="pt-BR" dirty="0"/>
              <a:t> </a:t>
            </a:r>
            <a:r>
              <a:rPr lang="pt-BR" dirty="0" err="1">
                <a:solidFill>
                  <a:schemeClr val="bg1">
                    <a:lumMod val="50000"/>
                  </a:schemeClr>
                </a:solidFill>
              </a:rPr>
              <a:t>total_item</a:t>
            </a:r>
            <a:endParaRPr lang="pt-BR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pt-BR" b="1" dirty="0">
                <a:solidFill>
                  <a:srgbClr val="0000FF"/>
                </a:solidFill>
              </a:rPr>
              <a:t>FROM</a:t>
            </a:r>
            <a:r>
              <a:rPr lang="pt-BR" dirty="0"/>
              <a:t> </a:t>
            </a:r>
            <a:r>
              <a:rPr lang="pt-BR" dirty="0" err="1">
                <a:solidFill>
                  <a:schemeClr val="bg1">
                    <a:lumMod val="50000"/>
                  </a:schemeClr>
                </a:solidFill>
              </a:rPr>
              <a:t>itens_venda</a:t>
            </a:r>
            <a:r>
              <a:rPr lang="pt-BR" b="1" dirty="0"/>
              <a:t>;</a:t>
            </a:r>
            <a:endParaRPr lang="pt-BR" dirty="0"/>
          </a:p>
          <a:p>
            <a:r>
              <a:rPr lang="pt-BR" dirty="0"/>
              <a:t> </a:t>
            </a:r>
          </a:p>
          <a:p>
            <a:r>
              <a:rPr lang="pt-BR" b="1" dirty="0"/>
              <a:t>Exercício 2 (intermediário):</a:t>
            </a:r>
            <a:r>
              <a:rPr lang="pt-BR" dirty="0"/>
              <a:t> Liste o nome e o valor estimado em estoque dos produtos, arredondado com 2 casas decimais.</a:t>
            </a:r>
            <a:br>
              <a:rPr lang="pt-BR" dirty="0"/>
            </a:br>
            <a:r>
              <a:rPr lang="pt-BR" b="1" dirty="0">
                <a:solidFill>
                  <a:srgbClr val="0000FF"/>
                </a:solidFill>
              </a:rPr>
              <a:t>SELECT</a:t>
            </a:r>
            <a:r>
              <a:rPr lang="pt-BR" dirty="0"/>
              <a:t> </a:t>
            </a:r>
            <a:r>
              <a:rPr lang="pt-BR" dirty="0" err="1">
                <a:solidFill>
                  <a:schemeClr val="bg1">
                    <a:lumMod val="50000"/>
                  </a:schemeClr>
                </a:solidFill>
              </a:rPr>
              <a:t>nome_produto</a:t>
            </a:r>
            <a:r>
              <a:rPr lang="pt-BR" b="1" dirty="0"/>
              <a:t>,</a:t>
            </a:r>
            <a:r>
              <a:rPr lang="pt-BR" dirty="0"/>
              <a:t> </a:t>
            </a:r>
          </a:p>
          <a:p>
            <a:r>
              <a:rPr lang="pt-BR" dirty="0"/>
              <a:t>       </a:t>
            </a:r>
            <a:r>
              <a:rPr lang="pt-BR" b="1" dirty="0">
                <a:solidFill>
                  <a:srgbClr val="0000FF"/>
                </a:solidFill>
              </a:rPr>
              <a:t>ROUND</a:t>
            </a:r>
            <a:r>
              <a:rPr lang="pt-BR" b="1" dirty="0"/>
              <a:t>(</a:t>
            </a:r>
            <a:r>
              <a:rPr lang="pt-BR" dirty="0" err="1">
                <a:solidFill>
                  <a:schemeClr val="bg1">
                    <a:lumMod val="50000"/>
                  </a:schemeClr>
                </a:solidFill>
              </a:rPr>
              <a:t>preco_unitario</a:t>
            </a:r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pt-BR" b="1" dirty="0">
                <a:solidFill>
                  <a:schemeClr val="bg1">
                    <a:lumMod val="50000"/>
                  </a:schemeClr>
                </a:solidFill>
              </a:rPr>
              <a:t>*</a:t>
            </a:r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 estoque</a:t>
            </a:r>
            <a:r>
              <a:rPr lang="pt-BR" b="1" dirty="0"/>
              <a:t>,</a:t>
            </a:r>
            <a:r>
              <a:rPr lang="pt-BR" dirty="0"/>
              <a:t> </a:t>
            </a:r>
            <a:r>
              <a:rPr lang="pt-BR" dirty="0">
                <a:solidFill>
                  <a:srgbClr val="F39211"/>
                </a:solidFill>
              </a:rPr>
              <a:t>2</a:t>
            </a:r>
            <a:r>
              <a:rPr lang="pt-BR" b="1" dirty="0"/>
              <a:t>)</a:t>
            </a:r>
            <a:r>
              <a:rPr lang="pt-BR" dirty="0"/>
              <a:t> </a:t>
            </a:r>
            <a:r>
              <a:rPr lang="pt-BR" b="1" dirty="0">
                <a:solidFill>
                  <a:srgbClr val="0000FF"/>
                </a:solidFill>
              </a:rPr>
              <a:t>AS</a:t>
            </a:r>
            <a:r>
              <a:rPr lang="pt-BR" dirty="0"/>
              <a:t> </a:t>
            </a:r>
            <a:r>
              <a:rPr lang="pt-BR" dirty="0" err="1">
                <a:solidFill>
                  <a:schemeClr val="bg1">
                    <a:lumMod val="50000"/>
                  </a:schemeClr>
                </a:solidFill>
              </a:rPr>
              <a:t>estoque_valor</a:t>
            </a:r>
            <a:endParaRPr lang="pt-BR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pt-BR" b="1" dirty="0">
                <a:solidFill>
                  <a:srgbClr val="0000FF"/>
                </a:solidFill>
              </a:rPr>
              <a:t>FROM</a:t>
            </a:r>
            <a:r>
              <a:rPr lang="pt-BR" dirty="0"/>
              <a:t> </a:t>
            </a:r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produtos</a:t>
            </a:r>
            <a:r>
              <a:rPr lang="pt-BR" b="1" dirty="0"/>
              <a:t>;</a:t>
            </a:r>
            <a:endParaRPr lang="pt-BR" dirty="0"/>
          </a:p>
          <a:p>
            <a:r>
              <a:rPr lang="pt-BR" dirty="0"/>
              <a:t> </a:t>
            </a:r>
          </a:p>
          <a:p>
            <a:r>
              <a:rPr lang="pt-BR" b="1" dirty="0"/>
              <a:t>Exercício 3 (desafio):</a:t>
            </a:r>
            <a:r>
              <a:rPr lang="pt-BR" dirty="0"/>
              <a:t> Calcule o valor médio de vendas </a:t>
            </a:r>
            <a:r>
              <a:rPr lang="pt-BR" b="1" dirty="0"/>
              <a:t>com 2 casas decimais</a:t>
            </a:r>
            <a:r>
              <a:rPr lang="pt-BR" dirty="0"/>
              <a:t>, e também mostre o valor </a:t>
            </a:r>
            <a:r>
              <a:rPr lang="pt-BR" b="1" dirty="0"/>
              <a:t>arredondado para cima</a:t>
            </a:r>
            <a:r>
              <a:rPr lang="pt-BR" dirty="0"/>
              <a:t>.</a:t>
            </a:r>
            <a:br>
              <a:rPr lang="pt-BR" dirty="0"/>
            </a:br>
            <a:r>
              <a:rPr lang="pt-BR" b="1" dirty="0">
                <a:solidFill>
                  <a:srgbClr val="0000FF"/>
                </a:solidFill>
              </a:rPr>
              <a:t>SELECT</a:t>
            </a:r>
            <a:r>
              <a:rPr lang="pt-BR" dirty="0"/>
              <a:t> </a:t>
            </a:r>
          </a:p>
          <a:p>
            <a:r>
              <a:rPr lang="pt-BR" dirty="0"/>
              <a:t>  </a:t>
            </a:r>
            <a:r>
              <a:rPr lang="pt-BR" b="1" dirty="0">
                <a:solidFill>
                  <a:srgbClr val="0000FF"/>
                </a:solidFill>
              </a:rPr>
              <a:t>ROUND</a:t>
            </a:r>
            <a:r>
              <a:rPr lang="pt-BR" b="1" dirty="0"/>
              <a:t>(</a:t>
            </a:r>
            <a:r>
              <a:rPr lang="pt-BR" b="1" dirty="0">
                <a:solidFill>
                  <a:srgbClr val="0000FF"/>
                </a:solidFill>
              </a:rPr>
              <a:t>AVG</a:t>
            </a:r>
            <a:r>
              <a:rPr lang="pt-BR" b="1" dirty="0"/>
              <a:t>(</a:t>
            </a:r>
            <a:r>
              <a:rPr lang="pt-BR" dirty="0" err="1">
                <a:solidFill>
                  <a:schemeClr val="bg1">
                    <a:lumMod val="50000"/>
                  </a:schemeClr>
                </a:solidFill>
              </a:rPr>
              <a:t>valor_total</a:t>
            </a:r>
            <a:r>
              <a:rPr lang="pt-BR" b="1" dirty="0"/>
              <a:t>),</a:t>
            </a:r>
            <a:r>
              <a:rPr lang="pt-BR" dirty="0"/>
              <a:t> </a:t>
            </a:r>
            <a:r>
              <a:rPr lang="pt-BR" dirty="0">
                <a:solidFill>
                  <a:srgbClr val="F39211"/>
                </a:solidFill>
              </a:rPr>
              <a:t>2</a:t>
            </a:r>
            <a:r>
              <a:rPr lang="pt-BR" b="1" dirty="0"/>
              <a:t>)</a:t>
            </a:r>
            <a:r>
              <a:rPr lang="pt-BR" dirty="0"/>
              <a:t> </a:t>
            </a:r>
            <a:r>
              <a:rPr lang="pt-BR" b="1" dirty="0">
                <a:solidFill>
                  <a:srgbClr val="0000FF"/>
                </a:solidFill>
              </a:rPr>
              <a:t>AS</a:t>
            </a:r>
            <a:r>
              <a:rPr lang="pt-BR" dirty="0"/>
              <a:t> </a:t>
            </a:r>
            <a:r>
              <a:rPr lang="pt-BR" dirty="0" err="1">
                <a:solidFill>
                  <a:schemeClr val="bg1">
                    <a:lumMod val="50000"/>
                  </a:schemeClr>
                </a:solidFill>
              </a:rPr>
              <a:t>media_arredondada</a:t>
            </a:r>
            <a:r>
              <a:rPr lang="pt-BR" b="1" dirty="0"/>
              <a:t>,</a:t>
            </a:r>
            <a:endParaRPr lang="pt-BR" dirty="0"/>
          </a:p>
          <a:p>
            <a:r>
              <a:rPr lang="pt-BR" dirty="0"/>
              <a:t>  </a:t>
            </a:r>
            <a:r>
              <a:rPr lang="pt-BR" b="1" dirty="0">
                <a:solidFill>
                  <a:srgbClr val="0000FF"/>
                </a:solidFill>
              </a:rPr>
              <a:t>CEIL</a:t>
            </a:r>
            <a:r>
              <a:rPr lang="pt-BR" b="1" dirty="0"/>
              <a:t>(</a:t>
            </a:r>
            <a:r>
              <a:rPr lang="pt-BR" b="1" dirty="0">
                <a:solidFill>
                  <a:srgbClr val="0000FF"/>
                </a:solidFill>
              </a:rPr>
              <a:t>AVG</a:t>
            </a:r>
            <a:r>
              <a:rPr lang="pt-BR" b="1" dirty="0"/>
              <a:t>(</a:t>
            </a:r>
            <a:r>
              <a:rPr lang="pt-BR" dirty="0" err="1">
                <a:solidFill>
                  <a:schemeClr val="bg1">
                    <a:lumMod val="50000"/>
                  </a:schemeClr>
                </a:solidFill>
              </a:rPr>
              <a:t>valor_total</a:t>
            </a:r>
            <a:r>
              <a:rPr lang="pt-BR" b="1" dirty="0"/>
              <a:t>))</a:t>
            </a:r>
            <a:r>
              <a:rPr lang="pt-BR" dirty="0"/>
              <a:t> </a:t>
            </a:r>
            <a:r>
              <a:rPr lang="pt-BR" b="1" dirty="0">
                <a:solidFill>
                  <a:srgbClr val="0000FF"/>
                </a:solidFill>
              </a:rPr>
              <a:t>AS</a:t>
            </a:r>
            <a:r>
              <a:rPr lang="pt-BR" dirty="0"/>
              <a:t> </a:t>
            </a:r>
            <a:r>
              <a:rPr lang="pt-BR" dirty="0" err="1">
                <a:solidFill>
                  <a:schemeClr val="bg1">
                    <a:lumMod val="50000"/>
                  </a:schemeClr>
                </a:solidFill>
              </a:rPr>
              <a:t>media_ceil</a:t>
            </a:r>
            <a:endParaRPr lang="pt-BR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pt-BR" b="1" dirty="0">
                <a:solidFill>
                  <a:srgbClr val="0000FF"/>
                </a:solidFill>
              </a:rPr>
              <a:t>FROM</a:t>
            </a:r>
            <a:r>
              <a:rPr lang="pt-BR" dirty="0"/>
              <a:t> </a:t>
            </a:r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vendas</a:t>
            </a:r>
            <a:r>
              <a:rPr lang="pt-BR" b="1" dirty="0"/>
              <a:t>;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138669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BF4364-A6CD-4460-A48D-6779B48AD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845" y="158493"/>
            <a:ext cx="10954797" cy="1533440"/>
          </a:xfrm>
        </p:spPr>
        <p:txBody>
          <a:bodyPr>
            <a:noAutofit/>
          </a:bodyPr>
          <a:lstStyle/>
          <a:p>
            <a:r>
              <a:rPr lang="pt-BR" sz="3300" b="1" dirty="0">
                <a:solidFill>
                  <a:srgbClr val="00758F"/>
                </a:solidFill>
              </a:rPr>
              <a:t>Consultas com Funções: </a:t>
            </a:r>
            <a:br>
              <a:rPr lang="pt-BR" sz="3300" b="1" dirty="0">
                <a:solidFill>
                  <a:srgbClr val="00758F"/>
                </a:solidFill>
              </a:rPr>
            </a:br>
            <a:r>
              <a:rPr lang="pt-BR" sz="3300" b="1" dirty="0">
                <a:solidFill>
                  <a:srgbClr val="F39211"/>
                </a:solidFill>
              </a:rPr>
              <a:t>1.5 Funções de Cálculo e Operadores Aritméticos no MySQL (Exercícios)</a:t>
            </a:r>
            <a:endParaRPr lang="pt-BR" sz="3300" dirty="0">
              <a:solidFill>
                <a:srgbClr val="F39211"/>
              </a:solidFill>
            </a:endParaRPr>
          </a:p>
        </p:txBody>
      </p:sp>
      <p:pic>
        <p:nvPicPr>
          <p:cNvPr id="4" name="Picture 6" descr="https://www.mysql.com/common/logos/logo-mysql-170x115.png">
            <a:extLst>
              <a:ext uri="{FF2B5EF4-FFF2-40B4-BE49-F238E27FC236}">
                <a16:creationId xmlns:a16="http://schemas.microsoft.com/office/drawing/2014/main" id="{441DFD02-E8A2-4690-9CD7-1CC407F20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793" y="5753675"/>
            <a:ext cx="1385775" cy="936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AF06CEA4-1D6A-4FB2-B738-A9362ADA1CCA}"/>
              </a:ext>
            </a:extLst>
          </p:cNvPr>
          <p:cNvSpPr txBox="1"/>
          <p:nvPr/>
        </p:nvSpPr>
        <p:spPr>
          <a:xfrm>
            <a:off x="338845" y="1873858"/>
            <a:ext cx="10088523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b="1" dirty="0"/>
              <a:t>Exercício 1 (básico):</a:t>
            </a:r>
            <a:r>
              <a:rPr lang="pt-BR" sz="2200" dirty="0"/>
              <a:t> Mostre o total de valor por item vendido (preço x quantidade), da tabela </a:t>
            </a:r>
            <a:r>
              <a:rPr lang="pt-BR" sz="2200" dirty="0" err="1"/>
              <a:t>itens_venda</a:t>
            </a:r>
            <a:r>
              <a:rPr lang="pt-BR" sz="2200" dirty="0"/>
              <a:t>.</a:t>
            </a:r>
            <a:br>
              <a:rPr lang="pt-BR" sz="2200" dirty="0"/>
            </a:br>
            <a:r>
              <a:rPr lang="pt-BR" sz="2200" dirty="0"/>
              <a:t> </a:t>
            </a:r>
          </a:p>
          <a:p>
            <a:r>
              <a:rPr lang="pt-BR" sz="2200" b="1" dirty="0"/>
              <a:t>Exercício 2 (intermediário):</a:t>
            </a:r>
            <a:r>
              <a:rPr lang="pt-BR" sz="2200" dirty="0"/>
              <a:t> Liste o nome e o valor estimado em estoque dos produtos, arredondado com 2 casas decimais.</a:t>
            </a:r>
          </a:p>
          <a:p>
            <a:br>
              <a:rPr lang="pt-BR" sz="2200" dirty="0"/>
            </a:br>
            <a:r>
              <a:rPr lang="pt-BR" sz="2200" b="1" dirty="0"/>
              <a:t>Exercício 3 (desafio):</a:t>
            </a:r>
            <a:r>
              <a:rPr lang="pt-BR" sz="2200" dirty="0"/>
              <a:t> Calcule o valor médio de vendas </a:t>
            </a:r>
            <a:r>
              <a:rPr lang="pt-BR" sz="2200" b="1" dirty="0"/>
              <a:t>com 2 casas decimais</a:t>
            </a:r>
            <a:r>
              <a:rPr lang="pt-BR" sz="2200" dirty="0"/>
              <a:t>, e também mostre o valor </a:t>
            </a:r>
            <a:r>
              <a:rPr lang="pt-BR" sz="2200" b="1" dirty="0"/>
              <a:t>arredondado para cima</a:t>
            </a:r>
            <a:r>
              <a:rPr lang="pt-BR" sz="2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12936589"/>
      </p:ext>
    </p:extLst>
  </p:cSld>
  <p:clrMapOvr>
    <a:masterClrMapping/>
  </p:clrMapOvr>
</p:sld>
</file>

<file path=ppt/theme/theme1.xml><?xml version="1.0" encoding="utf-8"?>
<a:theme xmlns:a="http://schemas.openxmlformats.org/drawingml/2006/main" name="Exibir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TM03457515[[fn=Exibir]]</Template>
  <TotalTime>1247</TotalTime>
  <Words>946</Words>
  <Application>Microsoft Office PowerPoint</Application>
  <PresentationFormat>Widescreen</PresentationFormat>
  <Paragraphs>271</Paragraphs>
  <Slides>21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Century Schoolbook</vt:lpstr>
      <vt:lpstr>Times New Roman</vt:lpstr>
      <vt:lpstr>Wingdings 2</vt:lpstr>
      <vt:lpstr>Exibir</vt:lpstr>
      <vt:lpstr> Bem-Vindos novamente!    MySQL: Aula 03</vt:lpstr>
      <vt:lpstr>O que vamos aprender hoje? Serão os seguintes tópicos:</vt:lpstr>
      <vt:lpstr>Consultas com Funções:  1.0 Funções de agregação</vt:lpstr>
      <vt:lpstr>Consultas com Funções:  1.1 Funções de agregação</vt:lpstr>
      <vt:lpstr>Consultas com Funções:  1.2 Funções de agregação</vt:lpstr>
      <vt:lpstr>Consultas com Funções:  1.3 Funções de agregação</vt:lpstr>
      <vt:lpstr>Consultas com Funções:  1.4 Funções de agregação</vt:lpstr>
      <vt:lpstr>Consultas com Funções:  1.5 Funções de agregação</vt:lpstr>
      <vt:lpstr>Consultas com Funções:  1.0 Funções de String</vt:lpstr>
      <vt:lpstr>Consultas com Funções:  1.1 Funções de String</vt:lpstr>
      <vt:lpstr>Consultas com Funções:  1.2 Funções de String</vt:lpstr>
      <vt:lpstr>Consultas com Funções:  1.3 Funções de String (Exercícios)</vt:lpstr>
      <vt:lpstr>Consultas com Funções:  1.4 Funções de String (Exercícios - Respostas)</vt:lpstr>
      <vt:lpstr>Consultas com Funções:  1.0 Funções de Cálculo e Operadores Aritméticos no MySQL</vt:lpstr>
      <vt:lpstr>Consultas com Funções:  1.1 Funções de Cálculo e Operadores Aritméticos no MySQL</vt:lpstr>
      <vt:lpstr>Consultas com Funções:  1.2 Funções de Cálculo e Operadores Aritméticos no MySQL (Exemplos)</vt:lpstr>
      <vt:lpstr>Consultas com Funções:  1.3 Funções de Cálculo e Operadores Aritméticos no MySQL (Exemplos)</vt:lpstr>
      <vt:lpstr>Consultas com Funções:  1.4 Funções de Cálculo e Operadores Aritméticos no MySQL (Exemplos)</vt:lpstr>
      <vt:lpstr>Consultas com Funções:  1.5 Funções de Cálculo e Operadores Aritméticos no MySQL (Exercícios)</vt:lpstr>
      <vt:lpstr>Consultas com Funções:  1.6 Funções de Cálculo e Operadores Aritméticos no MySQL (Exercícios)</vt:lpstr>
      <vt:lpstr>Consultas com Funções:  1.5 Funções de Cálculo e Operadores Aritméticos no MySQL (Exercícios)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Bem-Vindos!    MySQL: Aula 01</dc:title>
  <dc:creator>Ruan Machado</dc:creator>
  <cp:lastModifiedBy>Ruan Machado</cp:lastModifiedBy>
  <cp:revision>55</cp:revision>
  <dcterms:created xsi:type="dcterms:W3CDTF">2025-06-14T16:47:44Z</dcterms:created>
  <dcterms:modified xsi:type="dcterms:W3CDTF">2025-07-05T18:41:59Z</dcterms:modified>
</cp:coreProperties>
</file>